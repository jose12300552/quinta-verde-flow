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media/image10.tmp" ContentType="image/png"/>
  <Override PartName="/ppt/media/image12.tmp" ContentType="image/png"/>
  <Override PartName="/ppt/media/image14.tmp" ContentType="image/png"/>
  <Override PartName="/ppt/media/image17.tmp" ContentType="image/png"/>
  <Override PartName="/ppt/media/image5.tmp" ContentType="image/png"/>
  <Override PartName="/ppt/media/image6.tmp" ContentType="image/png"/>
  <Override PartName="/ppt/media/image7.tmp" ContentType="image/png"/>
  <Override PartName="/ppt/media/image8.tmp" ContentType="image/png"/>
  <Override PartName="/ppt/media/image9.tmp" ContentType="image/png"/>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63" r:id="rId3"/>
    <p:sldId id="258" r:id="rId4"/>
    <p:sldId id="260" r:id="rId5"/>
    <p:sldId id="261" r:id="rId6"/>
    <p:sldId id="281" r:id="rId7"/>
    <p:sldId id="282" r:id="rId8"/>
    <p:sldId id="262" r:id="rId9"/>
    <p:sldId id="274" r:id="rId10"/>
    <p:sldId id="277" r:id="rId11"/>
    <p:sldId id="283" r:id="rId12"/>
    <p:sldId id="279" r:id="rId13"/>
    <p:sldId id="280" r:id="rId14"/>
    <p:sldId id="284" r:id="rId15"/>
    <p:sldId id="266" r:id="rId16"/>
    <p:sldId id="271" r:id="rId17"/>
    <p:sldId id="272" r:id="rId18"/>
    <p:sldId id="275" r:id="rId19"/>
    <p:sldId id="276" r:id="rId20"/>
    <p:sldId id="267" r:id="rId21"/>
    <p:sldId id="268" r:id="rId22"/>
    <p:sldId id="270" r:id="rId23"/>
  </p:sldIdLst>
  <p:sldSz cx="12192000" cy="6858000"/>
  <p:notesSz cx="6858000" cy="9144000"/>
  <p:defaultTextStyle>
    <a:defPPr>
      <a:defRPr lang="es-BO"/>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3296810-A885-4BE3-A3E7-6D5BEEA58F35}" styleName="Estilo medio 2 - Énfasis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08FB837D-C827-4EFA-A057-4D05807E0F7C}" styleName="Estilo temático 1 - Énfasis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 styleId="{10A1B5D5-9B99-4C35-A422-299274C87663}" styleName="Estilo medio 1 - Énfasis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a:noFill/>
            </a:ln>
          </a:insideV>
        </a:tcBdr>
        <a:fill>
          <a:solidFill>
            <a:schemeClr val="lt1"/>
          </a:solidFill>
        </a:fill>
      </a:tcStyle>
    </a:wholeTbl>
    <a:band1H>
      <a:tcStyle>
        <a:tcBdr/>
        <a:fill>
          <a:solidFill>
            <a:schemeClr val="accent6">
              <a:tint val="20000"/>
            </a:schemeClr>
          </a:solidFill>
        </a:fill>
      </a:tcStyle>
    </a:band1H>
    <a:band1V>
      <a:tcStyle>
        <a:tcBdr/>
        <a:fill>
          <a:solidFill>
            <a:schemeClr val="accent6">
              <a:tint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solidFill>
            <a:schemeClr val="lt1"/>
          </a:solidFill>
        </a:fill>
      </a:tcStyle>
    </a:lastRow>
    <a:firstRow>
      <a:tcTxStyle b="on">
        <a:fontRef idx="minor">
          <a:scrgbClr r="0" g="0" b="0"/>
        </a:fontRef>
        <a:schemeClr val="lt1"/>
      </a:tcTxStyle>
      <a:tcStyle>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p:cViewPr varScale="1">
        <p:scale>
          <a:sx n="52" d="100"/>
          <a:sy n="52" d="100"/>
        </p:scale>
        <p:origin x="108" y="49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presProps" Target="presProps.xml"/><Relationship Id="rId25" Type="http://schemas.openxmlformats.org/officeDocument/2006/relationships/viewProps" Target="viewProps.xml"/><Relationship Id="rId26" Type="http://schemas.openxmlformats.org/officeDocument/2006/relationships/theme" Target="theme/theme1.xml"/><Relationship Id="rId27"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p:cNvSpPr>
            <a:spLocks noGrp="1"/>
          </p:cNvSpPr>
          <p:nvPr>
            <p:ph type="ctrTitle"/>
          </p:nvPr>
        </p:nvSpPr>
        <p:spPr>
          <a:xfrm>
            <a:off x="1524000" y="1122363"/>
            <a:ext cx="9144000" cy="2387600"/>
          </a:xfrm>
        </p:spPr>
        <p:txBody>
          <a:bodyPr anchor="b"/>
          <a:lstStyle>
            <a:lvl1pPr algn="ctr">
              <a:defRPr sz="6000"/>
            </a:lvl1pPr>
          </a:lstStyle>
          <a:p>
            <a:r>
              <a:rPr lang="es-ES"/>
              <a:t>Haga clic para modificar el estilo de título del patrón</a:t>
            </a:r>
            <a:endParaRPr lang="es-BO"/>
          </a:p>
        </p:txBody>
      </p:sp>
      <p:sp>
        <p:nvSpPr>
          <p:cNvPr id="3" name="Subtítulo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endParaRPr lang="es-BO"/>
          </a:p>
        </p:txBody>
      </p:sp>
      <p:sp>
        <p:nvSpPr>
          <p:cNvPr id="4" name="Marcador de fecha 3"/>
          <p:cNvSpPr>
            <a:spLocks noGrp="1"/>
          </p:cNvSpPr>
          <p:nvPr>
            <p:ph type="dt" sz="half" idx="10"/>
          </p:nvPr>
        </p:nvSpPr>
        <p:spPr/>
        <p:txBody>
          <a:bodyPr/>
          <a:lstStyle/>
          <a:p>
            <a:fld id="{6291A825-A15C-480D-BFFC-E412A7A98F7B}" type="datetimeFigureOut">
              <a:rPr lang="es-BO" smtClean="0"/>
              <a:t>27/5/2026</a:t>
            </a:fld>
            <a:endParaRPr lang="es-BO"/>
          </a:p>
        </p:txBody>
      </p:sp>
      <p:sp>
        <p:nvSpPr>
          <p:cNvPr id="5" name="Marcador de pie de página 4"/>
          <p:cNvSpPr>
            <a:spLocks noGrp="1"/>
          </p:cNvSpPr>
          <p:nvPr>
            <p:ph type="ftr" sz="quarter" idx="11"/>
          </p:nvPr>
        </p:nvSpPr>
        <p:spPr/>
        <p:txBody>
          <a:bodyPr/>
          <a:lstStyle/>
          <a:p>
            <a:endParaRPr lang="es-BO"/>
          </a:p>
        </p:txBody>
      </p:sp>
      <p:sp>
        <p:nvSpPr>
          <p:cNvPr id="6" name="Marcador de número de diapositiva 5"/>
          <p:cNvSpPr>
            <a:spLocks noGrp="1"/>
          </p:cNvSpPr>
          <p:nvPr>
            <p:ph type="sldNum" sz="quarter" idx="12"/>
          </p:nvPr>
        </p:nvSpPr>
        <p:spPr/>
        <p:txBody>
          <a:bodyPr/>
          <a:lstStyle/>
          <a:p>
            <a:fld id="{287B3789-D181-473C-B9EE-CEDDAB1877C4}" type="slidenum">
              <a:rPr lang="es-BO" smtClean="0"/>
              <a:t>‹Nº›</a:t>
            </a:fld>
            <a:endParaRPr lang="es-BO"/>
          </a:p>
        </p:txBody>
      </p:sp>
    </p:spTree>
    <p:extLst>
      <p:ext uri="{BB962C8B-B14F-4D97-AF65-F5344CB8AC3E}">
        <p14:creationId xmlns:p14="http://schemas.microsoft.com/office/powerpoint/2010/main" val="153501360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a:t>Haga clic para modificar el estilo de título del patrón</a:t>
            </a:r>
            <a:endParaRPr lang="es-BO"/>
          </a:p>
        </p:txBody>
      </p:sp>
      <p:sp>
        <p:nvSpPr>
          <p:cNvPr id="3" name="Marcador de contenido 2"/>
          <p:cNvSpPr>
            <a:spLocks noGrp="1"/>
          </p:cNvSpPr>
          <p:nvPr>
            <p:ph idx="1"/>
          </p:nvPr>
        </p:nvSpPr>
        <p:spPr/>
        <p:txBody>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BO"/>
          </a:p>
        </p:txBody>
      </p:sp>
      <p:sp>
        <p:nvSpPr>
          <p:cNvPr id="4" name="Marcador de fecha 3"/>
          <p:cNvSpPr>
            <a:spLocks noGrp="1"/>
          </p:cNvSpPr>
          <p:nvPr>
            <p:ph type="dt" sz="half" idx="10"/>
          </p:nvPr>
        </p:nvSpPr>
        <p:spPr/>
        <p:txBody>
          <a:bodyPr/>
          <a:lstStyle/>
          <a:p>
            <a:fld id="{6291A825-A15C-480D-BFFC-E412A7A98F7B}" type="datetimeFigureOut">
              <a:rPr lang="es-BO" smtClean="0"/>
              <a:t>27/5/2026</a:t>
            </a:fld>
            <a:endParaRPr lang="es-BO"/>
          </a:p>
        </p:txBody>
      </p:sp>
      <p:sp>
        <p:nvSpPr>
          <p:cNvPr id="5" name="Marcador de pie de página 4"/>
          <p:cNvSpPr>
            <a:spLocks noGrp="1"/>
          </p:cNvSpPr>
          <p:nvPr>
            <p:ph type="ftr" sz="quarter" idx="11"/>
          </p:nvPr>
        </p:nvSpPr>
        <p:spPr/>
        <p:txBody>
          <a:bodyPr/>
          <a:lstStyle/>
          <a:p>
            <a:endParaRPr lang="es-BO"/>
          </a:p>
        </p:txBody>
      </p:sp>
      <p:sp>
        <p:nvSpPr>
          <p:cNvPr id="6" name="Marcador de número de diapositiva 5"/>
          <p:cNvSpPr>
            <a:spLocks noGrp="1"/>
          </p:cNvSpPr>
          <p:nvPr>
            <p:ph type="sldNum" sz="quarter" idx="12"/>
          </p:nvPr>
        </p:nvSpPr>
        <p:spPr/>
        <p:txBody>
          <a:bodyPr/>
          <a:lstStyle/>
          <a:p>
            <a:fld id="{287B3789-D181-473C-B9EE-CEDDAB1877C4}" type="slidenum">
              <a:rPr lang="es-BO" smtClean="0"/>
              <a:t>‹Nº›</a:t>
            </a:fld>
            <a:endParaRPr lang="es-BO"/>
          </a:p>
        </p:txBody>
      </p:sp>
    </p:spTree>
    <p:extLst>
      <p:ext uri="{BB962C8B-B14F-4D97-AF65-F5344CB8AC3E}">
        <p14:creationId xmlns:p14="http://schemas.microsoft.com/office/powerpoint/2010/main" val="267109081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p:cNvSpPr>
            <a:spLocks noGrp="1"/>
          </p:cNvSpPr>
          <p:nvPr>
            <p:ph type="title"/>
          </p:nvPr>
        </p:nvSpPr>
        <p:spPr>
          <a:xfrm>
            <a:off x="831850" y="1709738"/>
            <a:ext cx="10515600" cy="2852737"/>
          </a:xfrm>
        </p:spPr>
        <p:txBody>
          <a:bodyPr anchor="b"/>
          <a:lstStyle>
            <a:lvl1pPr>
              <a:defRPr sz="6000"/>
            </a:lvl1pPr>
          </a:lstStyle>
          <a:p>
            <a:r>
              <a:rPr lang="es-ES"/>
              <a:t>Haga clic para modificar el estilo de título del patrón</a:t>
            </a:r>
            <a:endParaRPr lang="es-BO"/>
          </a:p>
        </p:txBody>
      </p:sp>
      <p:sp>
        <p:nvSpPr>
          <p:cNvPr id="3" name="Marcador de texto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s-ES"/>
              <a:t>Haga clic para modificar el estilo de texto del patrón</a:t>
            </a:r>
          </a:p>
        </p:txBody>
      </p:sp>
      <p:sp>
        <p:nvSpPr>
          <p:cNvPr id="4" name="Marcador de fecha 3"/>
          <p:cNvSpPr>
            <a:spLocks noGrp="1"/>
          </p:cNvSpPr>
          <p:nvPr>
            <p:ph type="dt" sz="half" idx="10"/>
          </p:nvPr>
        </p:nvSpPr>
        <p:spPr/>
        <p:txBody>
          <a:bodyPr/>
          <a:lstStyle/>
          <a:p>
            <a:fld id="{6291A825-A15C-480D-BFFC-E412A7A98F7B}" type="datetimeFigureOut">
              <a:rPr lang="es-BO" smtClean="0"/>
              <a:t>27/5/2026</a:t>
            </a:fld>
            <a:endParaRPr lang="es-BO"/>
          </a:p>
        </p:txBody>
      </p:sp>
      <p:sp>
        <p:nvSpPr>
          <p:cNvPr id="5" name="Marcador de pie de página 4"/>
          <p:cNvSpPr>
            <a:spLocks noGrp="1"/>
          </p:cNvSpPr>
          <p:nvPr>
            <p:ph type="ftr" sz="quarter" idx="11"/>
          </p:nvPr>
        </p:nvSpPr>
        <p:spPr/>
        <p:txBody>
          <a:bodyPr/>
          <a:lstStyle/>
          <a:p>
            <a:endParaRPr lang="es-BO"/>
          </a:p>
        </p:txBody>
      </p:sp>
      <p:sp>
        <p:nvSpPr>
          <p:cNvPr id="6" name="Marcador de número de diapositiva 5"/>
          <p:cNvSpPr>
            <a:spLocks noGrp="1"/>
          </p:cNvSpPr>
          <p:nvPr>
            <p:ph type="sldNum" sz="quarter" idx="12"/>
          </p:nvPr>
        </p:nvSpPr>
        <p:spPr/>
        <p:txBody>
          <a:bodyPr/>
          <a:lstStyle/>
          <a:p>
            <a:fld id="{287B3789-D181-473C-B9EE-CEDDAB1877C4}" type="slidenum">
              <a:rPr lang="es-BO" smtClean="0"/>
              <a:t>‹Nº›</a:t>
            </a:fld>
            <a:endParaRPr lang="es-BO"/>
          </a:p>
        </p:txBody>
      </p:sp>
    </p:spTree>
    <p:extLst>
      <p:ext uri="{BB962C8B-B14F-4D97-AF65-F5344CB8AC3E}">
        <p14:creationId xmlns:p14="http://schemas.microsoft.com/office/powerpoint/2010/main" val="279946206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a:t>Haga clic para modificar el estilo de título del patrón</a:t>
            </a:r>
            <a:endParaRPr lang="es-BO"/>
          </a:p>
        </p:txBody>
      </p:sp>
      <p:sp>
        <p:nvSpPr>
          <p:cNvPr id="3" name="Marcador de contenido 2"/>
          <p:cNvSpPr>
            <a:spLocks noGrp="1"/>
          </p:cNvSpPr>
          <p:nvPr>
            <p:ph sz="half" idx="1"/>
          </p:nvPr>
        </p:nvSpPr>
        <p:spPr>
          <a:xfrm>
            <a:off x="838200" y="1825625"/>
            <a:ext cx="5181600" cy="4351338"/>
          </a:xfrm>
        </p:spPr>
        <p:txBody>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BO"/>
          </a:p>
        </p:txBody>
      </p:sp>
      <p:sp>
        <p:nvSpPr>
          <p:cNvPr id="4" name="Marcador de contenido 3"/>
          <p:cNvSpPr>
            <a:spLocks noGrp="1"/>
          </p:cNvSpPr>
          <p:nvPr>
            <p:ph sz="half" idx="2"/>
          </p:nvPr>
        </p:nvSpPr>
        <p:spPr>
          <a:xfrm>
            <a:off x="6172200" y="1825625"/>
            <a:ext cx="5181600" cy="4351338"/>
          </a:xfrm>
        </p:spPr>
        <p:txBody>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BO"/>
          </a:p>
        </p:txBody>
      </p:sp>
      <p:sp>
        <p:nvSpPr>
          <p:cNvPr id="5" name="Marcador de fecha 4"/>
          <p:cNvSpPr>
            <a:spLocks noGrp="1"/>
          </p:cNvSpPr>
          <p:nvPr>
            <p:ph type="dt" sz="half" idx="10"/>
          </p:nvPr>
        </p:nvSpPr>
        <p:spPr/>
        <p:txBody>
          <a:bodyPr/>
          <a:lstStyle/>
          <a:p>
            <a:fld id="{6291A825-A15C-480D-BFFC-E412A7A98F7B}" type="datetimeFigureOut">
              <a:rPr lang="es-BO" smtClean="0"/>
              <a:t>27/5/2026</a:t>
            </a:fld>
            <a:endParaRPr lang="es-BO"/>
          </a:p>
        </p:txBody>
      </p:sp>
      <p:sp>
        <p:nvSpPr>
          <p:cNvPr id="6" name="Marcador de pie de página 5"/>
          <p:cNvSpPr>
            <a:spLocks noGrp="1"/>
          </p:cNvSpPr>
          <p:nvPr>
            <p:ph type="ftr" sz="quarter" idx="11"/>
          </p:nvPr>
        </p:nvSpPr>
        <p:spPr/>
        <p:txBody>
          <a:bodyPr/>
          <a:lstStyle/>
          <a:p>
            <a:endParaRPr lang="es-BO"/>
          </a:p>
        </p:txBody>
      </p:sp>
      <p:sp>
        <p:nvSpPr>
          <p:cNvPr id="7" name="Marcador de número de diapositiva 6"/>
          <p:cNvSpPr>
            <a:spLocks noGrp="1"/>
          </p:cNvSpPr>
          <p:nvPr>
            <p:ph type="sldNum" sz="quarter" idx="12"/>
          </p:nvPr>
        </p:nvSpPr>
        <p:spPr/>
        <p:txBody>
          <a:bodyPr/>
          <a:lstStyle/>
          <a:p>
            <a:fld id="{287B3789-D181-473C-B9EE-CEDDAB1877C4}" type="slidenum">
              <a:rPr lang="es-BO" smtClean="0"/>
              <a:t>‹Nº›</a:t>
            </a:fld>
            <a:endParaRPr lang="es-BO"/>
          </a:p>
        </p:txBody>
      </p:sp>
    </p:spTree>
    <p:extLst>
      <p:ext uri="{BB962C8B-B14F-4D97-AF65-F5344CB8AC3E}">
        <p14:creationId xmlns:p14="http://schemas.microsoft.com/office/powerpoint/2010/main" val="212459274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p:cNvSpPr>
            <a:spLocks noGrp="1"/>
          </p:cNvSpPr>
          <p:nvPr>
            <p:ph type="title"/>
          </p:nvPr>
        </p:nvSpPr>
        <p:spPr>
          <a:xfrm>
            <a:off x="839788" y="365125"/>
            <a:ext cx="10515600" cy="1325563"/>
          </a:xfrm>
        </p:spPr>
        <p:txBody>
          <a:bodyPr/>
          <a:lstStyle/>
          <a:p>
            <a:r>
              <a:rPr lang="es-ES"/>
              <a:t>Haga clic para modificar el estilo de título del patrón</a:t>
            </a:r>
            <a:endParaRPr lang="es-BO"/>
          </a:p>
        </p:txBody>
      </p:sp>
      <p:sp>
        <p:nvSpPr>
          <p:cNvPr id="3" name="Marcador de texto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el estilo de texto del patrón</a:t>
            </a:r>
          </a:p>
        </p:txBody>
      </p:sp>
      <p:sp>
        <p:nvSpPr>
          <p:cNvPr id="4" name="Marcador de contenido 3"/>
          <p:cNvSpPr>
            <a:spLocks noGrp="1"/>
          </p:cNvSpPr>
          <p:nvPr>
            <p:ph sz="half" idx="2"/>
          </p:nvPr>
        </p:nvSpPr>
        <p:spPr>
          <a:xfrm>
            <a:off x="839788" y="2505075"/>
            <a:ext cx="5157787" cy="3684588"/>
          </a:xfrm>
        </p:spPr>
        <p:txBody>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BO"/>
          </a:p>
        </p:txBody>
      </p:sp>
      <p:sp>
        <p:nvSpPr>
          <p:cNvPr id="5" name="Marcador de texto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el estilo de texto del patrón</a:t>
            </a:r>
          </a:p>
        </p:txBody>
      </p:sp>
      <p:sp>
        <p:nvSpPr>
          <p:cNvPr id="6" name="Marcador de contenido 5"/>
          <p:cNvSpPr>
            <a:spLocks noGrp="1"/>
          </p:cNvSpPr>
          <p:nvPr>
            <p:ph sz="quarter" idx="4"/>
          </p:nvPr>
        </p:nvSpPr>
        <p:spPr>
          <a:xfrm>
            <a:off x="6172200" y="2505075"/>
            <a:ext cx="5183188" cy="3684588"/>
          </a:xfrm>
        </p:spPr>
        <p:txBody>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BO"/>
          </a:p>
        </p:txBody>
      </p:sp>
      <p:sp>
        <p:nvSpPr>
          <p:cNvPr id="7" name="Marcador de fecha 6"/>
          <p:cNvSpPr>
            <a:spLocks noGrp="1"/>
          </p:cNvSpPr>
          <p:nvPr>
            <p:ph type="dt" sz="half" idx="10"/>
          </p:nvPr>
        </p:nvSpPr>
        <p:spPr/>
        <p:txBody>
          <a:bodyPr/>
          <a:lstStyle/>
          <a:p>
            <a:fld id="{6291A825-A15C-480D-BFFC-E412A7A98F7B}" type="datetimeFigureOut">
              <a:rPr lang="es-BO" smtClean="0"/>
              <a:t>27/5/2026</a:t>
            </a:fld>
            <a:endParaRPr lang="es-BO"/>
          </a:p>
        </p:txBody>
      </p:sp>
      <p:sp>
        <p:nvSpPr>
          <p:cNvPr id="8" name="Marcador de pie de página 7"/>
          <p:cNvSpPr>
            <a:spLocks noGrp="1"/>
          </p:cNvSpPr>
          <p:nvPr>
            <p:ph type="ftr" sz="quarter" idx="11"/>
          </p:nvPr>
        </p:nvSpPr>
        <p:spPr/>
        <p:txBody>
          <a:bodyPr/>
          <a:lstStyle/>
          <a:p>
            <a:endParaRPr lang="es-BO"/>
          </a:p>
        </p:txBody>
      </p:sp>
      <p:sp>
        <p:nvSpPr>
          <p:cNvPr id="9" name="Marcador de número de diapositiva 8"/>
          <p:cNvSpPr>
            <a:spLocks noGrp="1"/>
          </p:cNvSpPr>
          <p:nvPr>
            <p:ph type="sldNum" sz="quarter" idx="12"/>
          </p:nvPr>
        </p:nvSpPr>
        <p:spPr/>
        <p:txBody>
          <a:bodyPr/>
          <a:lstStyle/>
          <a:p>
            <a:fld id="{287B3789-D181-473C-B9EE-CEDDAB1877C4}" type="slidenum">
              <a:rPr lang="es-BO" smtClean="0"/>
              <a:t>‹Nº›</a:t>
            </a:fld>
            <a:endParaRPr lang="es-BO"/>
          </a:p>
        </p:txBody>
      </p:sp>
    </p:spTree>
    <p:extLst>
      <p:ext uri="{BB962C8B-B14F-4D97-AF65-F5344CB8AC3E}">
        <p14:creationId xmlns:p14="http://schemas.microsoft.com/office/powerpoint/2010/main" val="278815613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a:t>Haga clic para modificar el estilo de título del patrón</a:t>
            </a:r>
            <a:endParaRPr lang="es-BO"/>
          </a:p>
        </p:txBody>
      </p:sp>
      <p:sp>
        <p:nvSpPr>
          <p:cNvPr id="3" name="Marcador de fecha 2"/>
          <p:cNvSpPr>
            <a:spLocks noGrp="1"/>
          </p:cNvSpPr>
          <p:nvPr>
            <p:ph type="dt" sz="half" idx="10"/>
          </p:nvPr>
        </p:nvSpPr>
        <p:spPr/>
        <p:txBody>
          <a:bodyPr/>
          <a:lstStyle/>
          <a:p>
            <a:fld id="{6291A825-A15C-480D-BFFC-E412A7A98F7B}" type="datetimeFigureOut">
              <a:rPr lang="es-BO" smtClean="0"/>
              <a:t>27/5/2026</a:t>
            </a:fld>
            <a:endParaRPr lang="es-BO"/>
          </a:p>
        </p:txBody>
      </p:sp>
      <p:sp>
        <p:nvSpPr>
          <p:cNvPr id="4" name="Marcador de pie de página 3"/>
          <p:cNvSpPr>
            <a:spLocks noGrp="1"/>
          </p:cNvSpPr>
          <p:nvPr>
            <p:ph type="ftr" sz="quarter" idx="11"/>
          </p:nvPr>
        </p:nvSpPr>
        <p:spPr/>
        <p:txBody>
          <a:bodyPr/>
          <a:lstStyle/>
          <a:p>
            <a:endParaRPr lang="es-BO"/>
          </a:p>
        </p:txBody>
      </p:sp>
      <p:sp>
        <p:nvSpPr>
          <p:cNvPr id="5" name="Marcador de número de diapositiva 4"/>
          <p:cNvSpPr>
            <a:spLocks noGrp="1"/>
          </p:cNvSpPr>
          <p:nvPr>
            <p:ph type="sldNum" sz="quarter" idx="12"/>
          </p:nvPr>
        </p:nvSpPr>
        <p:spPr/>
        <p:txBody>
          <a:bodyPr/>
          <a:lstStyle/>
          <a:p>
            <a:fld id="{287B3789-D181-473C-B9EE-CEDDAB1877C4}" type="slidenum">
              <a:rPr lang="es-BO" smtClean="0"/>
              <a:t>‹Nº›</a:t>
            </a:fld>
            <a:endParaRPr lang="es-BO"/>
          </a:p>
        </p:txBody>
      </p:sp>
    </p:spTree>
    <p:extLst>
      <p:ext uri="{BB962C8B-B14F-4D97-AF65-F5344CB8AC3E}">
        <p14:creationId xmlns:p14="http://schemas.microsoft.com/office/powerpoint/2010/main" val="197281167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p:cNvSpPr>
            <a:spLocks noGrp="1"/>
          </p:cNvSpPr>
          <p:nvPr>
            <p:ph type="dt" sz="half" idx="10"/>
          </p:nvPr>
        </p:nvSpPr>
        <p:spPr/>
        <p:txBody>
          <a:bodyPr/>
          <a:lstStyle/>
          <a:p>
            <a:fld id="{6291A825-A15C-480D-BFFC-E412A7A98F7B}" type="datetimeFigureOut">
              <a:rPr lang="es-BO" smtClean="0"/>
              <a:t>27/5/2026</a:t>
            </a:fld>
            <a:endParaRPr lang="es-BO"/>
          </a:p>
        </p:txBody>
      </p:sp>
      <p:sp>
        <p:nvSpPr>
          <p:cNvPr id="3" name="Marcador de pie de página 2"/>
          <p:cNvSpPr>
            <a:spLocks noGrp="1"/>
          </p:cNvSpPr>
          <p:nvPr>
            <p:ph type="ftr" sz="quarter" idx="11"/>
          </p:nvPr>
        </p:nvSpPr>
        <p:spPr/>
        <p:txBody>
          <a:bodyPr/>
          <a:lstStyle/>
          <a:p>
            <a:endParaRPr lang="es-BO"/>
          </a:p>
        </p:txBody>
      </p:sp>
      <p:sp>
        <p:nvSpPr>
          <p:cNvPr id="4" name="Marcador de número de diapositiva 3"/>
          <p:cNvSpPr>
            <a:spLocks noGrp="1"/>
          </p:cNvSpPr>
          <p:nvPr>
            <p:ph type="sldNum" sz="quarter" idx="12"/>
          </p:nvPr>
        </p:nvSpPr>
        <p:spPr/>
        <p:txBody>
          <a:bodyPr/>
          <a:lstStyle/>
          <a:p>
            <a:fld id="{287B3789-D181-473C-B9EE-CEDDAB1877C4}" type="slidenum">
              <a:rPr lang="es-BO" smtClean="0"/>
              <a:t>‹Nº›</a:t>
            </a:fld>
            <a:endParaRPr lang="es-BO"/>
          </a:p>
        </p:txBody>
      </p:sp>
    </p:spTree>
    <p:extLst>
      <p:ext uri="{BB962C8B-B14F-4D97-AF65-F5344CB8AC3E}">
        <p14:creationId xmlns:p14="http://schemas.microsoft.com/office/powerpoint/2010/main" val="338782476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BO"/>
          </a:p>
        </p:txBody>
      </p:sp>
      <p:sp>
        <p:nvSpPr>
          <p:cNvPr id="3" name="Marcador de contenido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BO"/>
          </a:p>
        </p:txBody>
      </p:sp>
      <p:sp>
        <p:nvSpPr>
          <p:cNvPr id="4" name="Marcador de texto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el estilo de texto del patrón</a:t>
            </a:r>
          </a:p>
        </p:txBody>
      </p:sp>
      <p:sp>
        <p:nvSpPr>
          <p:cNvPr id="5" name="Marcador de fecha 4"/>
          <p:cNvSpPr>
            <a:spLocks noGrp="1"/>
          </p:cNvSpPr>
          <p:nvPr>
            <p:ph type="dt" sz="half" idx="10"/>
          </p:nvPr>
        </p:nvSpPr>
        <p:spPr/>
        <p:txBody>
          <a:bodyPr/>
          <a:lstStyle/>
          <a:p>
            <a:fld id="{6291A825-A15C-480D-BFFC-E412A7A98F7B}" type="datetimeFigureOut">
              <a:rPr lang="es-BO" smtClean="0"/>
              <a:t>27/5/2026</a:t>
            </a:fld>
            <a:endParaRPr lang="es-BO"/>
          </a:p>
        </p:txBody>
      </p:sp>
      <p:sp>
        <p:nvSpPr>
          <p:cNvPr id="6" name="Marcador de pie de página 5"/>
          <p:cNvSpPr>
            <a:spLocks noGrp="1"/>
          </p:cNvSpPr>
          <p:nvPr>
            <p:ph type="ftr" sz="quarter" idx="11"/>
          </p:nvPr>
        </p:nvSpPr>
        <p:spPr/>
        <p:txBody>
          <a:bodyPr/>
          <a:lstStyle/>
          <a:p>
            <a:endParaRPr lang="es-BO"/>
          </a:p>
        </p:txBody>
      </p:sp>
      <p:sp>
        <p:nvSpPr>
          <p:cNvPr id="7" name="Marcador de número de diapositiva 6"/>
          <p:cNvSpPr>
            <a:spLocks noGrp="1"/>
          </p:cNvSpPr>
          <p:nvPr>
            <p:ph type="sldNum" sz="quarter" idx="12"/>
          </p:nvPr>
        </p:nvSpPr>
        <p:spPr/>
        <p:txBody>
          <a:bodyPr/>
          <a:lstStyle/>
          <a:p>
            <a:fld id="{287B3789-D181-473C-B9EE-CEDDAB1877C4}" type="slidenum">
              <a:rPr lang="es-BO" smtClean="0"/>
              <a:t>‹Nº›</a:t>
            </a:fld>
            <a:endParaRPr lang="es-BO"/>
          </a:p>
        </p:txBody>
      </p:sp>
    </p:spTree>
    <p:extLst>
      <p:ext uri="{BB962C8B-B14F-4D97-AF65-F5344CB8AC3E}">
        <p14:creationId xmlns:p14="http://schemas.microsoft.com/office/powerpoint/2010/main" val="197251601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BO"/>
          </a:p>
        </p:txBody>
      </p:sp>
      <p:sp>
        <p:nvSpPr>
          <p:cNvPr id="3" name="Marcador de posición de imagen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BO"/>
          </a:p>
        </p:txBody>
      </p:sp>
      <p:sp>
        <p:nvSpPr>
          <p:cNvPr id="4" name="Marcador de texto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el estilo de texto del patrón</a:t>
            </a:r>
          </a:p>
        </p:txBody>
      </p:sp>
      <p:sp>
        <p:nvSpPr>
          <p:cNvPr id="5" name="Marcador de fecha 4"/>
          <p:cNvSpPr>
            <a:spLocks noGrp="1"/>
          </p:cNvSpPr>
          <p:nvPr>
            <p:ph type="dt" sz="half" idx="10"/>
          </p:nvPr>
        </p:nvSpPr>
        <p:spPr/>
        <p:txBody>
          <a:bodyPr/>
          <a:lstStyle/>
          <a:p>
            <a:fld id="{6291A825-A15C-480D-BFFC-E412A7A98F7B}" type="datetimeFigureOut">
              <a:rPr lang="es-BO" smtClean="0"/>
              <a:t>27/5/2026</a:t>
            </a:fld>
            <a:endParaRPr lang="es-BO"/>
          </a:p>
        </p:txBody>
      </p:sp>
      <p:sp>
        <p:nvSpPr>
          <p:cNvPr id="6" name="Marcador de pie de página 5"/>
          <p:cNvSpPr>
            <a:spLocks noGrp="1"/>
          </p:cNvSpPr>
          <p:nvPr>
            <p:ph type="ftr" sz="quarter" idx="11"/>
          </p:nvPr>
        </p:nvSpPr>
        <p:spPr/>
        <p:txBody>
          <a:bodyPr/>
          <a:lstStyle/>
          <a:p>
            <a:endParaRPr lang="es-BO"/>
          </a:p>
        </p:txBody>
      </p:sp>
      <p:sp>
        <p:nvSpPr>
          <p:cNvPr id="7" name="Marcador de número de diapositiva 6"/>
          <p:cNvSpPr>
            <a:spLocks noGrp="1"/>
          </p:cNvSpPr>
          <p:nvPr>
            <p:ph type="sldNum" sz="quarter" idx="12"/>
          </p:nvPr>
        </p:nvSpPr>
        <p:spPr/>
        <p:txBody>
          <a:bodyPr/>
          <a:lstStyle/>
          <a:p>
            <a:fld id="{287B3789-D181-473C-B9EE-CEDDAB1877C4}" type="slidenum">
              <a:rPr lang="es-BO" smtClean="0"/>
              <a:t>‹Nº›</a:t>
            </a:fld>
            <a:endParaRPr lang="es-BO"/>
          </a:p>
        </p:txBody>
      </p:sp>
    </p:spTree>
    <p:extLst>
      <p:ext uri="{BB962C8B-B14F-4D97-AF65-F5344CB8AC3E}">
        <p14:creationId xmlns:p14="http://schemas.microsoft.com/office/powerpoint/2010/main" val="173997342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a:t>Haga clic para modificar el estilo de título del patrón</a:t>
            </a:r>
            <a:endParaRPr lang="es-BO"/>
          </a:p>
        </p:txBody>
      </p:sp>
      <p:sp>
        <p:nvSpPr>
          <p:cNvPr id="3" name="Marcador de texto vertical 2"/>
          <p:cNvSpPr>
            <a:spLocks noGrp="1"/>
          </p:cNvSpPr>
          <p:nvPr>
            <p:ph type="body" orient="vert" idx="1"/>
          </p:nvPr>
        </p:nvSpPr>
        <p:spPr/>
        <p:txBody>
          <a:bodyPr vert="eaVert"/>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BO"/>
          </a:p>
        </p:txBody>
      </p:sp>
      <p:sp>
        <p:nvSpPr>
          <p:cNvPr id="4" name="Marcador de fecha 3"/>
          <p:cNvSpPr>
            <a:spLocks noGrp="1"/>
          </p:cNvSpPr>
          <p:nvPr>
            <p:ph type="dt" sz="half" idx="10"/>
          </p:nvPr>
        </p:nvSpPr>
        <p:spPr/>
        <p:txBody>
          <a:bodyPr/>
          <a:lstStyle/>
          <a:p>
            <a:fld id="{6291A825-A15C-480D-BFFC-E412A7A98F7B}" type="datetimeFigureOut">
              <a:rPr lang="es-BO" smtClean="0"/>
              <a:t>27/5/2026</a:t>
            </a:fld>
            <a:endParaRPr lang="es-BO"/>
          </a:p>
        </p:txBody>
      </p:sp>
      <p:sp>
        <p:nvSpPr>
          <p:cNvPr id="5" name="Marcador de pie de página 4"/>
          <p:cNvSpPr>
            <a:spLocks noGrp="1"/>
          </p:cNvSpPr>
          <p:nvPr>
            <p:ph type="ftr" sz="quarter" idx="11"/>
          </p:nvPr>
        </p:nvSpPr>
        <p:spPr/>
        <p:txBody>
          <a:bodyPr/>
          <a:lstStyle/>
          <a:p>
            <a:endParaRPr lang="es-BO"/>
          </a:p>
        </p:txBody>
      </p:sp>
      <p:sp>
        <p:nvSpPr>
          <p:cNvPr id="6" name="Marcador de número de diapositiva 5"/>
          <p:cNvSpPr>
            <a:spLocks noGrp="1"/>
          </p:cNvSpPr>
          <p:nvPr>
            <p:ph type="sldNum" sz="quarter" idx="12"/>
          </p:nvPr>
        </p:nvSpPr>
        <p:spPr/>
        <p:txBody>
          <a:bodyPr/>
          <a:lstStyle/>
          <a:p>
            <a:fld id="{287B3789-D181-473C-B9EE-CEDDAB1877C4}" type="slidenum">
              <a:rPr lang="es-BO" smtClean="0"/>
              <a:t>‹Nº›</a:t>
            </a:fld>
            <a:endParaRPr lang="es-BO"/>
          </a:p>
        </p:txBody>
      </p:sp>
    </p:spTree>
    <p:extLst>
      <p:ext uri="{BB962C8B-B14F-4D97-AF65-F5344CB8AC3E}">
        <p14:creationId xmlns:p14="http://schemas.microsoft.com/office/powerpoint/2010/main" val="138103764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p:cNvSpPr>
            <a:spLocks noGrp="1"/>
          </p:cNvSpPr>
          <p:nvPr>
            <p:ph type="title" orient="vert"/>
          </p:nvPr>
        </p:nvSpPr>
        <p:spPr>
          <a:xfrm>
            <a:off x="8724900" y="365125"/>
            <a:ext cx="2628900" cy="5811838"/>
          </a:xfrm>
        </p:spPr>
        <p:txBody>
          <a:bodyPr vert="eaVert"/>
          <a:lstStyle/>
          <a:p>
            <a:r>
              <a:rPr lang="es-ES"/>
              <a:t>Haga clic para modificar el estilo de título del patrón</a:t>
            </a:r>
            <a:endParaRPr lang="es-BO"/>
          </a:p>
        </p:txBody>
      </p:sp>
      <p:sp>
        <p:nvSpPr>
          <p:cNvPr id="3" name="Marcador de texto vertical 2"/>
          <p:cNvSpPr>
            <a:spLocks noGrp="1"/>
          </p:cNvSpPr>
          <p:nvPr>
            <p:ph type="body" orient="vert" idx="1"/>
          </p:nvPr>
        </p:nvSpPr>
        <p:spPr>
          <a:xfrm>
            <a:off x="838200" y="365125"/>
            <a:ext cx="7734300" cy="5811838"/>
          </a:xfrm>
        </p:spPr>
        <p:txBody>
          <a:bodyPr vert="eaVert"/>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BO"/>
          </a:p>
        </p:txBody>
      </p:sp>
      <p:sp>
        <p:nvSpPr>
          <p:cNvPr id="4" name="Marcador de fecha 3"/>
          <p:cNvSpPr>
            <a:spLocks noGrp="1"/>
          </p:cNvSpPr>
          <p:nvPr>
            <p:ph type="dt" sz="half" idx="10"/>
          </p:nvPr>
        </p:nvSpPr>
        <p:spPr/>
        <p:txBody>
          <a:bodyPr/>
          <a:lstStyle/>
          <a:p>
            <a:fld id="{6291A825-A15C-480D-BFFC-E412A7A98F7B}" type="datetimeFigureOut">
              <a:rPr lang="es-BO" smtClean="0"/>
              <a:t>27/5/2026</a:t>
            </a:fld>
            <a:endParaRPr lang="es-BO"/>
          </a:p>
        </p:txBody>
      </p:sp>
      <p:sp>
        <p:nvSpPr>
          <p:cNvPr id="5" name="Marcador de pie de página 4"/>
          <p:cNvSpPr>
            <a:spLocks noGrp="1"/>
          </p:cNvSpPr>
          <p:nvPr>
            <p:ph type="ftr" sz="quarter" idx="11"/>
          </p:nvPr>
        </p:nvSpPr>
        <p:spPr/>
        <p:txBody>
          <a:bodyPr/>
          <a:lstStyle/>
          <a:p>
            <a:endParaRPr lang="es-BO"/>
          </a:p>
        </p:txBody>
      </p:sp>
      <p:sp>
        <p:nvSpPr>
          <p:cNvPr id="6" name="Marcador de número de diapositiva 5"/>
          <p:cNvSpPr>
            <a:spLocks noGrp="1"/>
          </p:cNvSpPr>
          <p:nvPr>
            <p:ph type="sldNum" sz="quarter" idx="12"/>
          </p:nvPr>
        </p:nvSpPr>
        <p:spPr/>
        <p:txBody>
          <a:bodyPr/>
          <a:lstStyle/>
          <a:p>
            <a:fld id="{287B3789-D181-473C-B9EE-CEDDAB1877C4}" type="slidenum">
              <a:rPr lang="es-BO" smtClean="0"/>
              <a:t>‹Nº›</a:t>
            </a:fld>
            <a:endParaRPr lang="es-BO"/>
          </a:p>
        </p:txBody>
      </p:sp>
    </p:spTree>
    <p:extLst>
      <p:ext uri="{BB962C8B-B14F-4D97-AF65-F5344CB8AC3E}">
        <p14:creationId xmlns:p14="http://schemas.microsoft.com/office/powerpoint/2010/main" val="1769763854"/>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título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ES"/>
              <a:t>Haga clic para modificar el estilo de título del patrón</a:t>
            </a:r>
            <a:endParaRPr lang="es-BO"/>
          </a:p>
        </p:txBody>
      </p:sp>
      <p:sp>
        <p:nvSpPr>
          <p:cNvPr id="3" name="Marcador de texto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BO"/>
          </a:p>
        </p:txBody>
      </p:sp>
      <p:sp>
        <p:nvSpPr>
          <p:cNvPr id="4" name="Marcador de fecha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291A825-A15C-480D-BFFC-E412A7A98F7B}" type="datetimeFigureOut">
              <a:rPr lang="es-BO" smtClean="0"/>
              <a:t>27/5/2026</a:t>
            </a:fld>
            <a:endParaRPr lang="es-BO"/>
          </a:p>
        </p:txBody>
      </p:sp>
      <p:sp>
        <p:nvSpPr>
          <p:cNvPr id="5" name="Marcador de pie de página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s-BO"/>
          </a:p>
        </p:txBody>
      </p:sp>
      <p:sp>
        <p:nvSpPr>
          <p:cNvPr id="6" name="Marcador de número de diapositiva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87B3789-D181-473C-B9EE-CEDDAB1877C4}" type="slidenum">
              <a:rPr lang="es-BO" smtClean="0"/>
              <a:t>‹Nº›</a:t>
            </a:fld>
            <a:endParaRPr lang="es-BO"/>
          </a:p>
        </p:txBody>
      </p:sp>
    </p:spTree>
    <p:extLst>
      <p:ext uri="{BB962C8B-B14F-4D97-AF65-F5344CB8AC3E}">
        <p14:creationId xmlns:p14="http://schemas.microsoft.com/office/powerpoint/2010/main" val="419860470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BO"/>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jpe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5.tmp"/></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6.tmp"/></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7.tmp"/></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8.tmp"/></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9.tmp"/></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10.tmp"/></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1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2.tmp"/><Relationship Id="rId4" Type="http://schemas.openxmlformats.org/officeDocument/2006/relationships/image" Target="../media/image2.png"/><Relationship Id="rId5" Type="http://schemas.openxmlformats.org/officeDocument/2006/relationships/image" Target="../media/image3.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2.png"/><Relationship Id="rId4" Type="http://schemas.openxmlformats.org/officeDocument/2006/relationships/image" Target="../media/image13.jpe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2.png"/><Relationship Id="rId4" Type="http://schemas.openxmlformats.org/officeDocument/2006/relationships/image" Target="../media/image14.tmp"/><Relationship Id="rId5" Type="http://schemas.openxmlformats.org/officeDocument/2006/relationships/image" Target="../media/image15.jp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2.png"/><Relationship Id="rId4" Type="http://schemas.openxmlformats.org/officeDocument/2006/relationships/image" Target="../media/image16.jpg"/><Relationship Id="rId5" Type="http://schemas.openxmlformats.org/officeDocument/2006/relationships/image" Target="../media/image17.tmp"/></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2.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18.png"/><Relationship Id="rId5" Type="http://schemas.openxmlformats.org/officeDocument/2006/relationships/image" Target="../media/image3.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Imagen 9"/>
          <p:cNvPicPr>
            <a:picLocks noChangeAspect="1"/>
          </p:cNvPicPr>
          <p:nvPr/>
        </p:nvPicPr>
        <p:blipFill>
          <a:blip r:embed="rId2">
            <a:lum bright="70000" contrast="-70000"/>
            <a:extLst>
              <a:ext uri="{28A0092B-C50C-407E-A947-70E740481C1C}">
                <a14:useLocalDpi xmlns:a14="http://schemas.microsoft.com/office/drawing/2010/main" val="0"/>
              </a:ext>
            </a:extLst>
          </a:blip>
          <a:stretch>
            <a:fillRect/>
          </a:stretch>
        </p:blipFill>
        <p:spPr>
          <a:xfrm>
            <a:off x="3626272" y="1888268"/>
            <a:ext cx="3786310" cy="4006096"/>
          </a:xfrm>
          <a:prstGeom prst="rect">
            <a:avLst/>
          </a:prstGeom>
        </p:spPr>
      </p:pic>
      <p:sp>
        <p:nvSpPr>
          <p:cNvPr id="6" name="Rectángulo 5"/>
          <p:cNvSpPr/>
          <p:nvPr/>
        </p:nvSpPr>
        <p:spPr>
          <a:xfrm>
            <a:off x="0" y="0"/>
            <a:ext cx="10740980" cy="1200329"/>
          </a:xfrm>
          <a:prstGeom prst="rect">
            <a:avLst/>
          </a:prstGeom>
        </p:spPr>
        <p:style>
          <a:lnRef idx="0">
            <a:schemeClr val="accent6"/>
          </a:lnRef>
          <a:fillRef idx="3">
            <a:schemeClr val="accent6"/>
          </a:fillRef>
          <a:effectRef idx="3">
            <a:schemeClr val="accent6"/>
          </a:effectRef>
          <a:fontRef idx="minor">
            <a:schemeClr val="lt1"/>
          </a:fontRef>
        </p:style>
        <p:txBody>
          <a:bodyPr wrap="square" lIns="91440" tIns="45720" rIns="91440" bIns="45720">
            <a:spAutoFit/>
          </a:bodyPr>
          <a:lstStyle/>
          <a:p>
            <a:pPr algn="ctr"/>
            <a:r>
              <a:rPr lang="es-ES" sz="4400" b="1" cap="none" spc="0" dirty="0">
                <a:ln w="0"/>
                <a:solidFill>
                  <a:schemeClr val="bg1"/>
                </a:solidFill>
                <a:effectLst>
                  <a:outerShdw blurRad="50800" dist="38100" dir="2700000" algn="tl" rotWithShape="0">
                    <a:prstClr val="black">
                      <a:alpha val="40000"/>
                    </a:prstClr>
                  </a:outerShdw>
                </a:effectLst>
              </a:rPr>
              <a:t>INSTITUTO TECNOLOGICO SACABA (ITSa)</a:t>
            </a:r>
          </a:p>
          <a:p>
            <a:pPr algn="ctr"/>
            <a:r>
              <a:rPr lang="es-ES" sz="2800" b="1" dirty="0">
                <a:ln w="0"/>
                <a:solidFill>
                  <a:schemeClr val="bg1"/>
                </a:solidFill>
                <a:effectLst>
                  <a:outerShdw blurRad="50800" dist="38100" dir="2700000" algn="tl" rotWithShape="0">
                    <a:prstClr val="black">
                      <a:alpha val="40000"/>
                    </a:prstClr>
                  </a:outerShdw>
                </a:effectLst>
              </a:rPr>
              <a:t>CARRERA: INFORMATICA INDUSTRIAL I/2026</a:t>
            </a:r>
            <a:endParaRPr lang="es-ES" sz="2400" b="1" cap="none" spc="0" dirty="0">
              <a:ln w="0"/>
              <a:solidFill>
                <a:schemeClr val="bg1"/>
              </a:solidFill>
              <a:effectLst>
                <a:outerShdw blurRad="50800" dist="38100" dir="2700000" algn="tl" rotWithShape="0">
                  <a:prstClr val="black">
                    <a:alpha val="40000"/>
                  </a:prstClr>
                </a:outerShdw>
              </a:effectLst>
            </a:endParaRPr>
          </a:p>
        </p:txBody>
      </p:sp>
      <p:sp>
        <p:nvSpPr>
          <p:cNvPr id="7" name="Rectángulo 6"/>
          <p:cNvSpPr/>
          <p:nvPr/>
        </p:nvSpPr>
        <p:spPr>
          <a:xfrm>
            <a:off x="213063" y="1533504"/>
            <a:ext cx="3223959" cy="646331"/>
          </a:xfrm>
          <a:prstGeom prst="rect">
            <a:avLst/>
          </a:prstGeom>
          <a:noFill/>
        </p:spPr>
        <p:txBody>
          <a:bodyPr wrap="none" lIns="91440" tIns="45720" rIns="91440" bIns="45720">
            <a:spAutoFit/>
          </a:bodyPr>
          <a:lstStyle/>
          <a:p>
            <a:pPr algn="ctr"/>
            <a:r>
              <a:rPr lang="es-ES" sz="3600" b="1" u="sng" cap="none" spc="0" dirty="0">
                <a:ln w="0"/>
                <a:solidFill>
                  <a:srgbClr val="002060"/>
                </a:solidFill>
              </a:rPr>
              <a:t>INTRODUCCIÓN</a:t>
            </a:r>
          </a:p>
        </p:txBody>
      </p:sp>
      <p:sp>
        <p:nvSpPr>
          <p:cNvPr id="11" name="CuadroTexto 10"/>
          <p:cNvSpPr txBox="1"/>
          <p:nvPr/>
        </p:nvSpPr>
        <p:spPr>
          <a:xfrm>
            <a:off x="579548" y="2389900"/>
            <a:ext cx="11011437" cy="646331"/>
          </a:xfrm>
          <a:prstGeom prst="rect">
            <a:avLst/>
          </a:prstGeom>
          <a:noFill/>
        </p:spPr>
        <p:txBody>
          <a:bodyPr wrap="square" rtlCol="0">
            <a:spAutoFit/>
          </a:bodyPr>
          <a:lstStyle/>
          <a:p>
            <a:pPr algn="just"/>
            <a:r>
              <a:rPr lang="es-MX" dirty="0">
                <a:latin typeface="Arial" panose="020B0604020202020204" pitchFamily="34" charset="0"/>
                <a:cs typeface="Arial" panose="020B0604020202020204" pitchFamily="34" charset="0"/>
              </a:rPr>
              <a:t>La propuesta de este proyecto consiste en la implementación de un sistema automatizado de riego con electroválvulas K-Rain BSPT de 9V DC y 6 controladores Bluetooth K-Rain BL-KR (2 BL-KR2 + 3 BL-KR4 + 1 BL-KR6, totalizando 22 estaciones) para el Parque Ecoturístico Quinta Estación de 5 hectáreas en Cochabamba, complementado con una plataforma web SARQUE desarrollada en React + Supabase para la visualización del cronograma de riego y reportes simulados.</a:t>
            </a:r>
            <a:endParaRPr lang="es-BO" dirty="0">
              <a:latin typeface="Arial" panose="020B0604020202020204" pitchFamily="34" charset="0"/>
              <a:cs typeface="Arial" panose="020B0604020202020204" pitchFamily="34" charset="0"/>
            </a:endParaRPr>
          </a:p>
        </p:txBody>
      </p:sp>
      <p:pic>
        <p:nvPicPr>
          <p:cNvPr id="2" name="Imagen 1"/>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740979" y="5553635"/>
            <a:ext cx="1334479" cy="1210235"/>
          </a:xfrm>
          <a:prstGeom prst="rect">
            <a:avLst/>
          </a:prstGeom>
        </p:spPr>
      </p:pic>
      <p:pic>
        <p:nvPicPr>
          <p:cNvPr id="9" name="Imagen 8"/>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0802583" y="-5379"/>
            <a:ext cx="1321802" cy="1200329"/>
          </a:xfrm>
          <a:prstGeom prst="rect">
            <a:avLst/>
          </a:prstGeom>
        </p:spPr>
      </p:pic>
      <p:pic>
        <p:nvPicPr>
          <p:cNvPr id="4" name="Imagen 3"/>
          <p:cNvPicPr>
            <a:picLocks noChangeAspect="1"/>
          </p:cNvPicPr>
          <p:nvPr/>
        </p:nvPicPr>
        <p:blipFill rotWithShape="1">
          <a:blip r:embed="rId5" cstate="print">
            <a:extLst>
              <a:ext uri="{28A0092B-C50C-407E-A947-70E740481C1C}">
                <a14:useLocalDpi xmlns:a14="http://schemas.microsoft.com/office/drawing/2010/main" val="0"/>
              </a:ext>
            </a:extLst>
          </a:blip>
          <a:srcRect l="29480" t="8497" r="31861" b="24248"/>
          <a:stretch/>
        </p:blipFill>
        <p:spPr>
          <a:xfrm rot="5400000">
            <a:off x="4442503" y="2564351"/>
            <a:ext cx="3168135" cy="4800599"/>
          </a:xfrm>
          <a:prstGeom prst="rect">
            <a:avLst/>
          </a:prstGeom>
        </p:spPr>
      </p:pic>
    </p:spTree>
    <p:extLst>
      <p:ext uri="{BB962C8B-B14F-4D97-AF65-F5344CB8AC3E}">
        <p14:creationId xmlns:p14="http://schemas.microsoft.com/office/powerpoint/2010/main" val="366855268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Imagen 8"/>
          <p:cNvPicPr>
            <a:picLocks noChangeAspect="1"/>
          </p:cNvPicPr>
          <p:nvPr/>
        </p:nvPicPr>
        <p:blipFill>
          <a:blip r:embed="rId2">
            <a:lum bright="70000" contrast="-70000"/>
            <a:extLst>
              <a:ext uri="{28A0092B-C50C-407E-A947-70E740481C1C}">
                <a14:useLocalDpi xmlns:a14="http://schemas.microsoft.com/office/drawing/2010/main" val="0"/>
              </a:ext>
            </a:extLst>
          </a:blip>
          <a:stretch>
            <a:fillRect/>
          </a:stretch>
        </p:blipFill>
        <p:spPr>
          <a:xfrm>
            <a:off x="3626272" y="1888268"/>
            <a:ext cx="3786310" cy="4006096"/>
          </a:xfrm>
          <a:prstGeom prst="rect">
            <a:avLst/>
          </a:prstGeom>
        </p:spPr>
      </p:pic>
      <p:sp>
        <p:nvSpPr>
          <p:cNvPr id="2" name="Rectángulo 1"/>
          <p:cNvSpPr/>
          <p:nvPr/>
        </p:nvSpPr>
        <p:spPr>
          <a:xfrm>
            <a:off x="0" y="0"/>
            <a:ext cx="10740980" cy="1200329"/>
          </a:xfrm>
          <a:prstGeom prst="rect">
            <a:avLst/>
          </a:prstGeom>
          <a:solidFill>
            <a:schemeClr val="accent6"/>
          </a:solidFill>
        </p:spPr>
        <p:txBody>
          <a:bodyPr wrap="square" lIns="91440" tIns="45720" rIns="91440" bIns="45720">
            <a:spAutoFit/>
          </a:bodyPr>
          <a:lstStyle/>
          <a:p>
            <a:pPr algn="ctr"/>
            <a:r>
              <a:rPr lang="es-ES" sz="4400" b="1" cap="none" spc="0" dirty="0">
                <a:ln w="0"/>
                <a:solidFill>
                  <a:schemeClr val="bg1"/>
                </a:solidFill>
                <a:effectLst>
                  <a:outerShdw blurRad="50800" dist="38100" dir="2700000" algn="tl" rotWithShape="0">
                    <a:prstClr val="black">
                      <a:alpha val="40000"/>
                    </a:prstClr>
                  </a:outerShdw>
                </a:effectLst>
              </a:rPr>
              <a:t>INSTITUTO TECNOLOGICO SACABA (ITSa)</a:t>
            </a:r>
          </a:p>
          <a:p>
            <a:pPr algn="ctr"/>
            <a:r>
              <a:rPr lang="es-ES" sz="2800" b="1" dirty="0">
                <a:ln w="0"/>
                <a:solidFill>
                  <a:schemeClr val="bg1"/>
                </a:solidFill>
                <a:effectLst>
                  <a:outerShdw blurRad="50800" dist="38100" dir="2700000" algn="tl" rotWithShape="0">
                    <a:prstClr val="black">
                      <a:alpha val="40000"/>
                    </a:prstClr>
                  </a:outerShdw>
                </a:effectLst>
              </a:rPr>
              <a:t>CARRERA: INFORMATICA INDUSTRIAL I/2026</a:t>
            </a:r>
            <a:endParaRPr lang="es-ES" sz="2400" b="1" cap="none" spc="0" dirty="0">
              <a:ln w="0"/>
              <a:solidFill>
                <a:schemeClr val="bg1"/>
              </a:solidFill>
              <a:effectLst>
                <a:outerShdw blurRad="50800" dist="38100" dir="2700000" algn="tl" rotWithShape="0">
                  <a:prstClr val="black">
                    <a:alpha val="40000"/>
                  </a:prstClr>
                </a:outerShdw>
              </a:effectLst>
            </a:endParaRPr>
          </a:p>
        </p:txBody>
      </p:sp>
      <p:sp>
        <p:nvSpPr>
          <p:cNvPr id="4" name="Título 1">
            <a:extLst>
              <a:ext uri="{FF2B5EF4-FFF2-40B4-BE49-F238E27FC236}">
                <a16:creationId xmlns:a16="http://schemas.microsoft.com/office/drawing/2014/main" id="{6D3B085D-D1AD-4597-80AF-57AD660C8506}"/>
              </a:ext>
            </a:extLst>
          </p:cNvPr>
          <p:cNvSpPr txBox="1">
            <a:spLocks/>
          </p:cNvSpPr>
          <p:nvPr/>
        </p:nvSpPr>
        <p:spPr>
          <a:xfrm>
            <a:off x="0" y="1340839"/>
            <a:ext cx="6720395" cy="588236"/>
          </a:xfrm>
          <a:prstGeom prst="rect">
            <a:avLst/>
          </a:prstGeom>
        </p:spPr>
        <p:txBody>
          <a:bodyPr anchor="b"/>
          <a:lstStyle>
            <a:lvl1pPr algn="ctr" defTabSz="914400" rtl="0" eaLnBrk="1" latinLnBrk="0" hangingPunct="1">
              <a:lnSpc>
                <a:spcPct val="90000"/>
              </a:lnSpc>
              <a:spcBef>
                <a:spcPct val="0"/>
              </a:spcBef>
              <a:buNone/>
              <a:defRPr sz="6000" b="1" kern="1200">
                <a:solidFill>
                  <a:schemeClr val="bg1"/>
                </a:solidFill>
                <a:effectLst>
                  <a:outerShdw blurRad="38100" dist="38100" dir="2700000" algn="tl">
                    <a:srgbClr val="000000">
                      <a:alpha val="43137"/>
                    </a:srgbClr>
                  </a:outerShdw>
                </a:effectLst>
                <a:latin typeface="+mn-lt"/>
                <a:ea typeface="+mj-ea"/>
                <a:cs typeface="+mj-cs"/>
              </a:defRPr>
            </a:lvl1pPr>
          </a:lstStyle>
          <a:p>
            <a:pPr algn="l"/>
            <a:r>
              <a:rPr lang="es-BO" sz="3600" u="sng" dirty="0">
                <a:solidFill>
                  <a:srgbClr val="002060"/>
                </a:solidFill>
                <a:effectLst/>
              </a:rPr>
              <a:t>PLANTEAMIENTO DEL PROBLEMA</a:t>
            </a:r>
          </a:p>
        </p:txBody>
      </p:sp>
      <p:pic>
        <p:nvPicPr>
          <p:cNvPr id="6" name="Imagen 5"/>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740980" y="5520681"/>
            <a:ext cx="1369383" cy="1210235"/>
          </a:xfrm>
          <a:prstGeom prst="rect">
            <a:avLst/>
          </a:prstGeom>
        </p:spPr>
      </p:pic>
      <p:pic>
        <p:nvPicPr>
          <p:cNvPr id="8" name="Imagen 7"/>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0802583" y="-5379"/>
            <a:ext cx="1321802" cy="1200329"/>
          </a:xfrm>
          <a:prstGeom prst="rect">
            <a:avLst/>
          </a:prstGeom>
        </p:spPr>
      </p:pic>
      <p:pic>
        <p:nvPicPr>
          <p:cNvPr id="3" name="Imagen 2" descr="Recorte de pantalla"/>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0" y="1929075"/>
            <a:ext cx="10559182" cy="4512718"/>
          </a:xfrm>
          <a:prstGeom prst="rect">
            <a:avLst/>
          </a:prstGeom>
        </p:spPr>
      </p:pic>
    </p:spTree>
    <p:extLst>
      <p:ext uri="{BB962C8B-B14F-4D97-AF65-F5344CB8AC3E}">
        <p14:creationId xmlns:p14="http://schemas.microsoft.com/office/powerpoint/2010/main" val="339045699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Imagen 7"/>
          <p:cNvPicPr>
            <a:picLocks noChangeAspect="1"/>
          </p:cNvPicPr>
          <p:nvPr/>
        </p:nvPicPr>
        <p:blipFill>
          <a:blip r:embed="rId2">
            <a:lum bright="70000" contrast="-70000"/>
            <a:extLst>
              <a:ext uri="{28A0092B-C50C-407E-A947-70E740481C1C}">
                <a14:useLocalDpi xmlns:a14="http://schemas.microsoft.com/office/drawing/2010/main" val="0"/>
              </a:ext>
            </a:extLst>
          </a:blip>
          <a:stretch>
            <a:fillRect/>
          </a:stretch>
        </p:blipFill>
        <p:spPr>
          <a:xfrm>
            <a:off x="3626272" y="1888268"/>
            <a:ext cx="3786310" cy="4006096"/>
          </a:xfrm>
          <a:prstGeom prst="rect">
            <a:avLst/>
          </a:prstGeom>
        </p:spPr>
      </p:pic>
      <p:sp>
        <p:nvSpPr>
          <p:cNvPr id="2" name="Rectángulo 1"/>
          <p:cNvSpPr/>
          <p:nvPr/>
        </p:nvSpPr>
        <p:spPr>
          <a:xfrm>
            <a:off x="0" y="0"/>
            <a:ext cx="10779617" cy="1200329"/>
          </a:xfrm>
          <a:prstGeom prst="rect">
            <a:avLst/>
          </a:prstGeom>
          <a:solidFill>
            <a:schemeClr val="accent6"/>
          </a:solidFill>
        </p:spPr>
        <p:txBody>
          <a:bodyPr wrap="square" lIns="91440" tIns="45720" rIns="91440" bIns="45720">
            <a:spAutoFit/>
          </a:bodyPr>
          <a:lstStyle/>
          <a:p>
            <a:pPr algn="ctr"/>
            <a:r>
              <a:rPr lang="es-ES" sz="4400" b="1" cap="none" spc="0" dirty="0">
                <a:ln w="0"/>
                <a:solidFill>
                  <a:schemeClr val="bg1"/>
                </a:solidFill>
                <a:effectLst>
                  <a:outerShdw blurRad="50800" dist="38100" dir="2700000" algn="tl" rotWithShape="0">
                    <a:prstClr val="black">
                      <a:alpha val="40000"/>
                    </a:prstClr>
                  </a:outerShdw>
                </a:effectLst>
              </a:rPr>
              <a:t>INSTITUTO TECNOLOGICO SACABA (ITSa)</a:t>
            </a:r>
          </a:p>
          <a:p>
            <a:pPr algn="ctr"/>
            <a:r>
              <a:rPr lang="es-ES" sz="2800" b="1" dirty="0">
                <a:ln w="0"/>
                <a:solidFill>
                  <a:schemeClr val="bg1"/>
                </a:solidFill>
                <a:effectLst>
                  <a:outerShdw blurRad="50800" dist="38100" dir="2700000" algn="tl" rotWithShape="0">
                    <a:prstClr val="black">
                      <a:alpha val="40000"/>
                    </a:prstClr>
                  </a:outerShdw>
                </a:effectLst>
              </a:rPr>
              <a:t>CARRERA: INFORMATICA INDUSTRIAL I/2026</a:t>
            </a:r>
            <a:endParaRPr lang="es-ES" sz="2400" b="1" cap="none" spc="0" dirty="0">
              <a:ln w="0"/>
              <a:solidFill>
                <a:schemeClr val="bg1"/>
              </a:solidFill>
              <a:effectLst>
                <a:outerShdw blurRad="50800" dist="38100" dir="2700000" algn="tl" rotWithShape="0">
                  <a:prstClr val="black">
                    <a:alpha val="40000"/>
                  </a:prstClr>
                </a:outerShdw>
              </a:effectLst>
            </a:endParaRPr>
          </a:p>
        </p:txBody>
      </p:sp>
      <p:sp>
        <p:nvSpPr>
          <p:cNvPr id="4" name="Título 1">
            <a:extLst>
              <a:ext uri="{FF2B5EF4-FFF2-40B4-BE49-F238E27FC236}">
                <a16:creationId xmlns:a16="http://schemas.microsoft.com/office/drawing/2014/main" id="{6D3B085D-D1AD-4597-80AF-57AD660C8506}"/>
              </a:ext>
            </a:extLst>
          </p:cNvPr>
          <p:cNvSpPr txBox="1">
            <a:spLocks/>
          </p:cNvSpPr>
          <p:nvPr/>
        </p:nvSpPr>
        <p:spPr>
          <a:xfrm>
            <a:off x="0" y="1443870"/>
            <a:ext cx="4003828" cy="588236"/>
          </a:xfrm>
          <a:prstGeom prst="rect">
            <a:avLst/>
          </a:prstGeom>
        </p:spPr>
        <p:txBody>
          <a:bodyPr anchor="b"/>
          <a:lstStyle>
            <a:lvl1pPr algn="ctr" defTabSz="914400" rtl="0" eaLnBrk="1" latinLnBrk="0" hangingPunct="1">
              <a:lnSpc>
                <a:spcPct val="90000"/>
              </a:lnSpc>
              <a:spcBef>
                <a:spcPct val="0"/>
              </a:spcBef>
              <a:buNone/>
              <a:defRPr sz="6000" b="1" kern="1200">
                <a:solidFill>
                  <a:schemeClr val="bg1"/>
                </a:solidFill>
                <a:effectLst>
                  <a:outerShdw blurRad="38100" dist="38100" dir="2700000" algn="tl">
                    <a:srgbClr val="000000">
                      <a:alpha val="43137"/>
                    </a:srgbClr>
                  </a:outerShdw>
                </a:effectLst>
                <a:latin typeface="+mn-lt"/>
                <a:ea typeface="+mj-ea"/>
                <a:cs typeface="+mj-cs"/>
              </a:defRPr>
            </a:lvl1pPr>
          </a:lstStyle>
          <a:p>
            <a:pPr algn="l"/>
            <a:r>
              <a:rPr lang="es-BO" sz="3600" u="sng" dirty="0">
                <a:solidFill>
                  <a:srgbClr val="002060"/>
                </a:solidFill>
                <a:effectLst/>
              </a:rPr>
              <a:t>OBJETIVO GENERAL</a:t>
            </a:r>
          </a:p>
        </p:txBody>
      </p:sp>
      <p:sp>
        <p:nvSpPr>
          <p:cNvPr id="5" name="CuadroTexto 4"/>
          <p:cNvSpPr txBox="1"/>
          <p:nvPr/>
        </p:nvSpPr>
        <p:spPr>
          <a:xfrm>
            <a:off x="2001914" y="2690987"/>
            <a:ext cx="6496901" cy="1200329"/>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wrap="square" rtlCol="0">
            <a:spAutoFit/>
          </a:bodyPr>
          <a:lstStyle/>
          <a:p>
            <a:pPr algn="just"/>
            <a:r>
              <a:rPr lang="es-MX" sz="2400" dirty="0">
                <a:latin typeface="Arial" panose="020B0604020202020204" pitchFamily="34" charset="0"/>
                <a:cs typeface="Arial" panose="020B0604020202020204" pitchFamily="34" charset="0"/>
              </a:rPr>
              <a:t>Diseñar, implementar y poner en marcha un sistema automatizado de riego con electroválvulas y controladores Bluetooth K-Rain BL-KR programables mediante la app móvil K-RainBL, complementado con una plataforma web de visualización y reportes simulados, para la gestión eficiente del recurso hídrico en el Parque Ecoturístico Quinta Estación de Cochabamba.</a:t>
            </a:r>
            <a:endParaRPr lang="es-BO" sz="2400" dirty="0">
              <a:latin typeface="Arial" panose="020B0604020202020204" pitchFamily="34" charset="0"/>
              <a:cs typeface="Arial" panose="020B0604020202020204" pitchFamily="34" charset="0"/>
            </a:endParaRPr>
          </a:p>
        </p:txBody>
      </p:sp>
      <p:pic>
        <p:nvPicPr>
          <p:cNvPr id="6" name="Imagen 5"/>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740979" y="5553635"/>
            <a:ext cx="1334479" cy="1210235"/>
          </a:xfrm>
          <a:prstGeom prst="rect">
            <a:avLst/>
          </a:prstGeom>
        </p:spPr>
      </p:pic>
      <p:pic>
        <p:nvPicPr>
          <p:cNvPr id="7" name="Imagen 6"/>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0802583" y="-5379"/>
            <a:ext cx="1321802" cy="1200329"/>
          </a:xfrm>
          <a:prstGeom prst="rect">
            <a:avLst/>
          </a:prstGeom>
        </p:spPr>
      </p:pic>
    </p:spTree>
    <p:extLst>
      <p:ext uri="{BB962C8B-B14F-4D97-AF65-F5344CB8AC3E}">
        <p14:creationId xmlns:p14="http://schemas.microsoft.com/office/powerpoint/2010/main" val="118564178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Imagen 8"/>
          <p:cNvPicPr>
            <a:picLocks noChangeAspect="1"/>
          </p:cNvPicPr>
          <p:nvPr/>
        </p:nvPicPr>
        <p:blipFill>
          <a:blip r:embed="rId2">
            <a:lum bright="70000" contrast="-70000"/>
            <a:extLst>
              <a:ext uri="{28A0092B-C50C-407E-A947-70E740481C1C}">
                <a14:useLocalDpi xmlns:a14="http://schemas.microsoft.com/office/drawing/2010/main" val="0"/>
              </a:ext>
            </a:extLst>
          </a:blip>
          <a:stretch>
            <a:fillRect/>
          </a:stretch>
        </p:blipFill>
        <p:spPr>
          <a:xfrm>
            <a:off x="3626272" y="1888268"/>
            <a:ext cx="3786310" cy="4006096"/>
          </a:xfrm>
          <a:prstGeom prst="rect">
            <a:avLst/>
          </a:prstGeom>
        </p:spPr>
      </p:pic>
      <p:sp>
        <p:nvSpPr>
          <p:cNvPr id="2" name="Rectángulo 1"/>
          <p:cNvSpPr/>
          <p:nvPr/>
        </p:nvSpPr>
        <p:spPr>
          <a:xfrm>
            <a:off x="-1" y="0"/>
            <a:ext cx="10753859" cy="1200329"/>
          </a:xfrm>
          <a:prstGeom prst="rect">
            <a:avLst/>
          </a:prstGeom>
          <a:solidFill>
            <a:schemeClr val="accent6"/>
          </a:solidFill>
        </p:spPr>
        <p:txBody>
          <a:bodyPr wrap="square" lIns="91440" tIns="45720" rIns="91440" bIns="45720">
            <a:spAutoFit/>
          </a:bodyPr>
          <a:lstStyle/>
          <a:p>
            <a:pPr algn="ctr"/>
            <a:r>
              <a:rPr lang="es-ES" sz="4400" b="1" cap="none" spc="0" dirty="0">
                <a:ln w="0"/>
                <a:solidFill>
                  <a:schemeClr val="bg1"/>
                </a:solidFill>
                <a:effectLst>
                  <a:outerShdw blurRad="50800" dist="38100" dir="2700000" algn="tl" rotWithShape="0">
                    <a:prstClr val="black">
                      <a:alpha val="40000"/>
                    </a:prstClr>
                  </a:outerShdw>
                </a:effectLst>
              </a:rPr>
              <a:t>INSTITUTO TECNOLOGICO SACABA (ITSa)</a:t>
            </a:r>
          </a:p>
          <a:p>
            <a:pPr algn="ctr"/>
            <a:r>
              <a:rPr lang="es-ES" sz="2800" b="1" dirty="0">
                <a:ln w="0"/>
                <a:solidFill>
                  <a:schemeClr val="bg1"/>
                </a:solidFill>
                <a:effectLst>
                  <a:outerShdw blurRad="50800" dist="38100" dir="2700000" algn="tl" rotWithShape="0">
                    <a:prstClr val="black">
                      <a:alpha val="40000"/>
                    </a:prstClr>
                  </a:outerShdw>
                </a:effectLst>
              </a:rPr>
              <a:t>CARRERA: INFORMATICA INDUSTRIAL I/2026</a:t>
            </a:r>
            <a:endParaRPr lang="es-ES" sz="2400" b="1" cap="none" spc="0" dirty="0">
              <a:ln w="0"/>
              <a:solidFill>
                <a:schemeClr val="bg1"/>
              </a:solidFill>
              <a:effectLst>
                <a:outerShdw blurRad="50800" dist="38100" dir="2700000" algn="tl" rotWithShape="0">
                  <a:prstClr val="black">
                    <a:alpha val="40000"/>
                  </a:prstClr>
                </a:outerShdw>
              </a:effectLst>
            </a:endParaRPr>
          </a:p>
        </p:txBody>
      </p:sp>
      <p:sp>
        <p:nvSpPr>
          <p:cNvPr id="4" name="Título 1">
            <a:extLst>
              <a:ext uri="{FF2B5EF4-FFF2-40B4-BE49-F238E27FC236}">
                <a16:creationId xmlns:a16="http://schemas.microsoft.com/office/drawing/2014/main" id="{6D3B085D-D1AD-4597-80AF-57AD660C8506}"/>
              </a:ext>
            </a:extLst>
          </p:cNvPr>
          <p:cNvSpPr txBox="1">
            <a:spLocks/>
          </p:cNvSpPr>
          <p:nvPr/>
        </p:nvSpPr>
        <p:spPr>
          <a:xfrm>
            <a:off x="0" y="1430992"/>
            <a:ext cx="4829451" cy="588236"/>
          </a:xfrm>
          <a:prstGeom prst="rect">
            <a:avLst/>
          </a:prstGeom>
        </p:spPr>
        <p:txBody>
          <a:bodyPr anchor="b"/>
          <a:lstStyle>
            <a:lvl1pPr algn="ctr" defTabSz="914400" rtl="0" eaLnBrk="1" latinLnBrk="0" hangingPunct="1">
              <a:lnSpc>
                <a:spcPct val="90000"/>
              </a:lnSpc>
              <a:spcBef>
                <a:spcPct val="0"/>
              </a:spcBef>
              <a:buNone/>
              <a:defRPr sz="6000" b="1" kern="1200">
                <a:solidFill>
                  <a:schemeClr val="bg1"/>
                </a:solidFill>
                <a:effectLst>
                  <a:outerShdw blurRad="38100" dist="38100" dir="2700000" algn="tl">
                    <a:srgbClr val="000000">
                      <a:alpha val="43137"/>
                    </a:srgbClr>
                  </a:outerShdw>
                </a:effectLst>
                <a:latin typeface="+mn-lt"/>
                <a:ea typeface="+mj-ea"/>
                <a:cs typeface="+mj-cs"/>
              </a:defRPr>
            </a:lvl1pPr>
          </a:lstStyle>
          <a:p>
            <a:pPr algn="l"/>
            <a:r>
              <a:rPr lang="es-BO" sz="3600" u="sng" dirty="0">
                <a:solidFill>
                  <a:srgbClr val="002060"/>
                </a:solidFill>
                <a:effectLst/>
              </a:rPr>
              <a:t>OBJETIVOS ESPECÍFICOS</a:t>
            </a:r>
          </a:p>
        </p:txBody>
      </p:sp>
      <p:sp>
        <p:nvSpPr>
          <p:cNvPr id="5" name="CuadroTexto 4"/>
          <p:cNvSpPr txBox="1"/>
          <p:nvPr/>
        </p:nvSpPr>
        <p:spPr>
          <a:xfrm>
            <a:off x="330874" y="2347344"/>
            <a:ext cx="10947042" cy="4062651"/>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wrap="square" rtlCol="0">
            <a:spAutoFit/>
          </a:bodyPr>
          <a:lstStyle/>
          <a:p>
            <a:pPr marL="285750" indent="-285750" algn="just">
              <a:buFont typeface="Wingdings" panose="05000000000000000000" pitchFamily="2" charset="2"/>
              <a:buChar char="ü"/>
            </a:pPr>
            <a:r>
              <a:rPr lang="es-MX" sz="2400" dirty="0">
                <a:latin typeface="Arial" panose="020B0604020202020204" pitchFamily="34" charset="0"/>
                <a:cs typeface="Arial" panose="020B0604020202020204" pitchFamily="34" charset="0"/>
              </a:rPr>
              <a:t>Diagnosticar la situación actual del sistema de riego manual del parque, identificando sectores, cronograma y problemas operativos.</a:t>
            </a:r>
          </a:p>
          <a:p>
            <a:pPr marL="285750" indent="-285750" algn="just">
              <a:buFont typeface="Wingdings" panose="05000000000000000000" pitchFamily="2" charset="2"/>
              <a:buChar char="ü"/>
            </a:pPr>
            <a:endParaRPr lang="es-MX" sz="2400" dirty="0">
              <a:latin typeface="Arial" panose="020B0604020202020204" pitchFamily="34" charset="0"/>
              <a:cs typeface="Arial" panose="020B0604020202020204" pitchFamily="34" charset="0"/>
            </a:endParaRPr>
          </a:p>
          <a:p>
            <a:pPr marL="285750" indent="-285750" algn="just">
              <a:buFont typeface="Wingdings" panose="05000000000000000000" pitchFamily="2" charset="2"/>
              <a:buChar char="ü"/>
            </a:pPr>
            <a:r>
              <a:rPr lang="es-MX" sz="2400" dirty="0">
                <a:latin typeface="Arial" panose="020B0604020202020204" pitchFamily="34" charset="0"/>
                <a:cs typeface="Arial" panose="020B0604020202020204" pitchFamily="34" charset="0"/>
              </a:rPr>
              <a:t>Diseñar la arquitectura del sistema consolidando 41 puntos en 22 estaciones controladas por 6 controladores BL-KR optimizados para cable ≤30 m por solenoide.</a:t>
            </a:r>
          </a:p>
          <a:p>
            <a:pPr marL="285750" indent="-285750" algn="just">
              <a:buFont typeface="Wingdings" panose="05000000000000000000" pitchFamily="2" charset="2"/>
              <a:buChar char="ü"/>
            </a:pPr>
            <a:endParaRPr lang="es-MX" sz="2400" dirty="0">
              <a:latin typeface="Arial" panose="020B0604020202020204" pitchFamily="34" charset="0"/>
              <a:cs typeface="Arial" panose="020B0604020202020204" pitchFamily="34" charset="0"/>
            </a:endParaRPr>
          </a:p>
          <a:p>
            <a:pPr marL="285750" lvl="0" indent="-285750">
              <a:buFont typeface="Wingdings" panose="05000000000000000000" pitchFamily="2" charset="2"/>
              <a:buChar char="ü"/>
            </a:pPr>
            <a:r>
              <a:rPr lang="es-ES" sz="2400" dirty="0">
                <a:latin typeface="Arial" panose="020B0604020202020204" pitchFamily="34" charset="0"/>
                <a:cs typeface="Arial" panose="020B0604020202020204" pitchFamily="34" charset="0"/>
              </a:rPr>
              <a:t>Instalar la red hidráulica (PVC 2" matriz, 1½" cuelleras) y eléctrica (cable 20 AWG monofilar en politubo 3/4"), incluyendo cajas de hormigón 40×40×30 cm para las electroválvulas.</a:t>
            </a:r>
          </a:p>
          <a:p>
            <a:pPr lvl="0"/>
            <a:endParaRPr lang="es-BO" sz="2400" dirty="0">
              <a:latin typeface="Arial" panose="020B0604020202020204" pitchFamily="34" charset="0"/>
              <a:cs typeface="Arial" panose="020B0604020202020204" pitchFamily="34" charset="0"/>
            </a:endParaRPr>
          </a:p>
          <a:p>
            <a:pPr marL="285750" lvl="0" indent="-285750">
              <a:buFont typeface="Wingdings" panose="05000000000000000000" pitchFamily="2" charset="2"/>
              <a:buChar char="ü"/>
            </a:pPr>
            <a:r>
              <a:rPr lang="es-ES" sz="2400" dirty="0">
                <a:latin typeface="Arial" panose="020B0604020202020204" pitchFamily="34" charset="0"/>
                <a:cs typeface="Arial" panose="020B0604020202020204" pitchFamily="34" charset="0"/>
              </a:rPr>
              <a:t>Desarrollar la plataforma web SARQUE en React + TypeScript + Supabase con catálogo de sectores, cronograma editable y reportes simulados de consumo hídrico.</a:t>
            </a:r>
            <a:endParaRPr lang="es-BO" sz="2400" dirty="0">
              <a:latin typeface="Arial" panose="020B0604020202020204" pitchFamily="34" charset="0"/>
              <a:cs typeface="Arial" panose="020B0604020202020204" pitchFamily="34" charset="0"/>
            </a:endParaRPr>
          </a:p>
          <a:p>
            <a:endParaRPr lang="es-BO" dirty="0"/>
          </a:p>
        </p:txBody>
      </p:sp>
      <p:pic>
        <p:nvPicPr>
          <p:cNvPr id="6" name="Imagen 5"/>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740979" y="5553635"/>
            <a:ext cx="1334479" cy="1210235"/>
          </a:xfrm>
          <a:prstGeom prst="rect">
            <a:avLst/>
          </a:prstGeom>
        </p:spPr>
      </p:pic>
      <p:pic>
        <p:nvPicPr>
          <p:cNvPr id="8" name="Imagen 7"/>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0802583" y="-5379"/>
            <a:ext cx="1321802" cy="1200329"/>
          </a:xfrm>
          <a:prstGeom prst="rect">
            <a:avLst/>
          </a:prstGeom>
        </p:spPr>
      </p:pic>
    </p:spTree>
    <p:extLst>
      <p:ext uri="{BB962C8B-B14F-4D97-AF65-F5344CB8AC3E}">
        <p14:creationId xmlns:p14="http://schemas.microsoft.com/office/powerpoint/2010/main" val="114199038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Imagen 9"/>
          <p:cNvPicPr>
            <a:picLocks noChangeAspect="1"/>
          </p:cNvPicPr>
          <p:nvPr/>
        </p:nvPicPr>
        <p:blipFill>
          <a:blip r:embed="rId2">
            <a:lum bright="70000" contrast="-70000"/>
            <a:extLst>
              <a:ext uri="{28A0092B-C50C-407E-A947-70E740481C1C}">
                <a14:useLocalDpi xmlns:a14="http://schemas.microsoft.com/office/drawing/2010/main" val="0"/>
              </a:ext>
            </a:extLst>
          </a:blip>
          <a:stretch>
            <a:fillRect/>
          </a:stretch>
        </p:blipFill>
        <p:spPr>
          <a:xfrm>
            <a:off x="3626272" y="1888268"/>
            <a:ext cx="3786310" cy="4006096"/>
          </a:xfrm>
          <a:prstGeom prst="rect">
            <a:avLst/>
          </a:prstGeom>
        </p:spPr>
      </p:pic>
      <p:sp>
        <p:nvSpPr>
          <p:cNvPr id="2" name="Rectángulo 1"/>
          <p:cNvSpPr/>
          <p:nvPr/>
        </p:nvSpPr>
        <p:spPr>
          <a:xfrm>
            <a:off x="0" y="0"/>
            <a:ext cx="10740980" cy="1200329"/>
          </a:xfrm>
          <a:prstGeom prst="rect">
            <a:avLst/>
          </a:prstGeom>
          <a:solidFill>
            <a:schemeClr val="accent6"/>
          </a:solidFill>
        </p:spPr>
        <p:txBody>
          <a:bodyPr wrap="square" lIns="91440" tIns="45720" rIns="91440" bIns="45720">
            <a:spAutoFit/>
          </a:bodyPr>
          <a:lstStyle/>
          <a:p>
            <a:pPr algn="ctr"/>
            <a:r>
              <a:rPr lang="es-ES" sz="4400" b="1" cap="none" spc="0" dirty="0">
                <a:ln w="0"/>
                <a:solidFill>
                  <a:schemeClr val="bg1"/>
                </a:solidFill>
                <a:effectLst>
                  <a:outerShdw blurRad="50800" dist="38100" dir="2700000" algn="tl" rotWithShape="0">
                    <a:prstClr val="black">
                      <a:alpha val="40000"/>
                    </a:prstClr>
                  </a:outerShdw>
                </a:effectLst>
              </a:rPr>
              <a:t>INSTITUTO TECNOLOGICO SACABA (ITSa)</a:t>
            </a:r>
          </a:p>
          <a:p>
            <a:pPr algn="ctr"/>
            <a:r>
              <a:rPr lang="es-ES" sz="2800" b="1" dirty="0">
                <a:ln w="0"/>
                <a:solidFill>
                  <a:schemeClr val="bg1"/>
                </a:solidFill>
                <a:effectLst>
                  <a:outerShdw blurRad="50800" dist="38100" dir="2700000" algn="tl" rotWithShape="0">
                    <a:prstClr val="black">
                      <a:alpha val="40000"/>
                    </a:prstClr>
                  </a:outerShdw>
                </a:effectLst>
              </a:rPr>
              <a:t>CARRERA: INFORMATICA INDUSTRIAL I/2026</a:t>
            </a:r>
            <a:endParaRPr lang="es-ES" sz="2400" b="1" cap="none" spc="0" dirty="0">
              <a:ln w="0"/>
              <a:solidFill>
                <a:schemeClr val="bg1"/>
              </a:solidFill>
              <a:effectLst>
                <a:outerShdw blurRad="50800" dist="38100" dir="2700000" algn="tl" rotWithShape="0">
                  <a:prstClr val="black">
                    <a:alpha val="40000"/>
                  </a:prstClr>
                </a:outerShdw>
              </a:effectLst>
            </a:endParaRPr>
          </a:p>
        </p:txBody>
      </p:sp>
      <p:sp>
        <p:nvSpPr>
          <p:cNvPr id="4" name="Título 1">
            <a:extLst>
              <a:ext uri="{FF2B5EF4-FFF2-40B4-BE49-F238E27FC236}">
                <a16:creationId xmlns:a16="http://schemas.microsoft.com/office/drawing/2014/main" id="{6D3B085D-D1AD-4597-80AF-57AD660C8506}"/>
              </a:ext>
            </a:extLst>
          </p:cNvPr>
          <p:cNvSpPr txBox="1">
            <a:spLocks/>
          </p:cNvSpPr>
          <p:nvPr/>
        </p:nvSpPr>
        <p:spPr>
          <a:xfrm>
            <a:off x="0" y="1347857"/>
            <a:ext cx="6640497" cy="588236"/>
          </a:xfrm>
          <a:prstGeom prst="rect">
            <a:avLst/>
          </a:prstGeom>
        </p:spPr>
        <p:txBody>
          <a:bodyPr anchor="b"/>
          <a:lstStyle>
            <a:lvl1pPr algn="ctr" defTabSz="914400" rtl="0" eaLnBrk="1" latinLnBrk="0" hangingPunct="1">
              <a:lnSpc>
                <a:spcPct val="90000"/>
              </a:lnSpc>
              <a:spcBef>
                <a:spcPct val="0"/>
              </a:spcBef>
              <a:buNone/>
              <a:defRPr sz="6000" b="1" kern="1200">
                <a:solidFill>
                  <a:schemeClr val="bg1"/>
                </a:solidFill>
                <a:effectLst>
                  <a:outerShdw blurRad="38100" dist="38100" dir="2700000" algn="tl">
                    <a:srgbClr val="000000">
                      <a:alpha val="43137"/>
                    </a:srgbClr>
                  </a:outerShdw>
                </a:effectLst>
                <a:latin typeface="+mn-lt"/>
                <a:ea typeface="+mj-ea"/>
                <a:cs typeface="+mj-cs"/>
              </a:defRPr>
            </a:lvl1pPr>
          </a:lstStyle>
          <a:p>
            <a:pPr algn="l"/>
            <a:r>
              <a:rPr lang="es-BO" sz="3600" u="sng" dirty="0">
                <a:solidFill>
                  <a:srgbClr val="002060"/>
                </a:solidFill>
                <a:effectLst/>
              </a:rPr>
              <a:t>ANÁLISIS DE REQUERIMIENTOS</a:t>
            </a:r>
          </a:p>
        </p:txBody>
      </p:sp>
      <p:graphicFrame>
        <p:nvGraphicFramePr>
          <p:cNvPr id="5" name="Tabla 4"/>
          <p:cNvGraphicFramePr>
            <a:graphicFrameLocks noGrp="1"/>
          </p:cNvGraphicFramePr>
          <p:nvPr>
            <p:extLst>
              <p:ext uri="{D42A27DB-BD31-4B8C-83A1-F6EECF244321}">
                <p14:modId xmlns:p14="http://schemas.microsoft.com/office/powerpoint/2010/main" val="3759829937"/>
              </p:ext>
            </p:extLst>
          </p:nvPr>
        </p:nvGraphicFramePr>
        <p:xfrm>
          <a:off x="1205753" y="1936093"/>
          <a:ext cx="9212600" cy="4668370"/>
        </p:xfrm>
        <a:graphic>
          <a:graphicData uri="http://schemas.openxmlformats.org/drawingml/2006/table">
            <a:tbl>
              <a:tblPr firstRow="1" firstCol="1" bandRow="1">
                <a:tableStyleId>{93296810-A885-4BE3-A3E7-6D5BEEA58F35}</a:tableStyleId>
              </a:tblPr>
              <a:tblGrid>
                <a:gridCol w="4606300">
                  <a:extLst>
                    <a:ext uri="{9D8B030D-6E8A-4147-A177-3AD203B41FA5}">
                      <a16:colId xmlns:a16="http://schemas.microsoft.com/office/drawing/2014/main" val="20000"/>
                    </a:ext>
                  </a:extLst>
                </a:gridCol>
                <a:gridCol w="4606300">
                  <a:extLst>
                    <a:ext uri="{9D8B030D-6E8A-4147-A177-3AD203B41FA5}">
                      <a16:colId xmlns:a16="http://schemas.microsoft.com/office/drawing/2014/main" val="20001"/>
                    </a:ext>
                  </a:extLst>
                </a:gridCol>
              </a:tblGrid>
              <a:tr h="750999">
                <a:tc>
                  <a:txBody>
                    <a:bodyPr/>
                    <a:lstStyle/>
                    <a:p>
                      <a:pPr algn="ctr">
                        <a:lnSpc>
                          <a:spcPct val="150000"/>
                        </a:lnSpc>
                        <a:spcBef>
                          <a:spcPts val="1200"/>
                        </a:spcBef>
                        <a:spcAft>
                          <a:spcPts val="0"/>
                        </a:spcAft>
                      </a:pPr>
                      <a:r>
                        <a:rPr lang="es-ES" sz="1800" b="1" spc="25" dirty="0">
                          <a:solidFill>
                            <a:schemeClr val="tx1"/>
                          </a:solidFill>
                          <a:effectLst/>
                          <a:latin typeface="Arial" panose="020B0604020202020204" pitchFamily="34" charset="0"/>
                          <a:cs typeface="Arial" panose="020B0604020202020204" pitchFamily="34" charset="0"/>
                        </a:rPr>
                        <a:t> FUNCIONALES </a:t>
                      </a:r>
                      <a:endParaRPr lang="es-BO" sz="1800" b="1" dirty="0">
                        <a:solidFill>
                          <a:schemeClr val="tx1"/>
                        </a:solidFill>
                        <a:effectLst/>
                        <a:latin typeface="Arial" panose="020B0604020202020204" pitchFamily="34" charset="0"/>
                        <a:ea typeface="Arial" panose="020B0604020202020204" pitchFamily="34" charset="0"/>
                        <a:cs typeface="Arial" panose="020B0604020202020204" pitchFamily="34" charset="0"/>
                      </a:endParaRPr>
                    </a:p>
                  </a:txBody>
                  <a:tcPr marL="42567" marR="42567" marT="0" marB="0" anchor="ctr"/>
                </a:tc>
                <a:tc>
                  <a:txBody>
                    <a:bodyPr/>
                    <a:lstStyle/>
                    <a:p>
                      <a:pPr algn="ctr">
                        <a:lnSpc>
                          <a:spcPct val="150000"/>
                        </a:lnSpc>
                        <a:spcBef>
                          <a:spcPts val="1200"/>
                        </a:spcBef>
                        <a:spcAft>
                          <a:spcPts val="0"/>
                        </a:spcAft>
                      </a:pPr>
                      <a:r>
                        <a:rPr lang="es-ES" sz="1800" b="1" spc="25" dirty="0">
                          <a:solidFill>
                            <a:schemeClr val="tx1"/>
                          </a:solidFill>
                          <a:effectLst/>
                          <a:latin typeface="Arial" panose="020B0604020202020204" pitchFamily="34" charset="0"/>
                          <a:cs typeface="Arial" panose="020B0604020202020204" pitchFamily="34" charset="0"/>
                        </a:rPr>
                        <a:t> NO FUNCIONALES</a:t>
                      </a:r>
                      <a:endParaRPr lang="es-BO" sz="1800" b="1" dirty="0">
                        <a:solidFill>
                          <a:schemeClr val="tx1"/>
                        </a:solidFill>
                        <a:effectLst/>
                        <a:latin typeface="Arial" panose="020B0604020202020204" pitchFamily="34" charset="0"/>
                        <a:ea typeface="Arial" panose="020B0604020202020204" pitchFamily="34" charset="0"/>
                        <a:cs typeface="Arial" panose="020B0604020202020204" pitchFamily="34" charset="0"/>
                      </a:endParaRPr>
                    </a:p>
                  </a:txBody>
                  <a:tcPr marL="42567" marR="42567" marT="0" marB="0" anchor="ctr"/>
                </a:tc>
                <a:extLst>
                  <a:ext uri="{0D108BD9-81ED-4DB2-BD59-A6C34878D82A}">
                    <a16:rowId xmlns:a16="http://schemas.microsoft.com/office/drawing/2014/main" val="10000"/>
                  </a:ext>
                </a:extLst>
              </a:tr>
              <a:tr h="3917371">
                <a:tc>
                  <a:txBody>
                    <a:bodyPr/>
                    <a:lstStyle/>
                    <a:p>
                      <a:pPr marL="342900" lvl="0" indent="-342900" algn="just">
                        <a:lnSpc>
                          <a:spcPct val="150000"/>
                        </a:lnSpc>
                        <a:spcBef>
                          <a:spcPts val="1200"/>
                        </a:spcBef>
                        <a:spcAft>
                          <a:spcPts val="0"/>
                        </a:spcAft>
                        <a:buFont typeface="Wingdings" panose="05000000000000000000" pitchFamily="2" charset="2"/>
                        <a:buChar char=""/>
                      </a:pPr>
                      <a:r>
                        <a:rPr lang="es-ES" sz="1800" b="0" dirty="0">
                          <a:solidFill>
                            <a:schemeClr val="tx1"/>
                          </a:solidFill>
                          <a:effectLst/>
                          <a:latin typeface="Arial" panose="020B0604020202020204" pitchFamily="34" charset="0"/>
                          <a:cs typeface="Arial" panose="020B0604020202020204" pitchFamily="34" charset="0"/>
                        </a:rPr>
                        <a:t>Gestionar ingreso al software.</a:t>
                      </a:r>
                      <a:endParaRPr lang="es-BO" sz="1800" b="0" dirty="0">
                        <a:solidFill>
                          <a:schemeClr val="tx1"/>
                        </a:solidFill>
                        <a:effectLst/>
                        <a:latin typeface="Arial" panose="020B0604020202020204" pitchFamily="34" charset="0"/>
                        <a:cs typeface="Arial" panose="020B0604020202020204" pitchFamily="34" charset="0"/>
                      </a:endParaRPr>
                    </a:p>
                    <a:p>
                      <a:pPr marL="342900" lvl="0" indent="-342900" algn="just">
                        <a:lnSpc>
                          <a:spcPct val="150000"/>
                        </a:lnSpc>
                        <a:spcAft>
                          <a:spcPts val="0"/>
                        </a:spcAft>
                        <a:buFont typeface="Wingdings" panose="05000000000000000000" pitchFamily="2" charset="2"/>
                        <a:buChar char=""/>
                      </a:pPr>
                      <a:r>
                        <a:rPr lang="es-ES" sz="1800" b="0" dirty="0">
                          <a:solidFill>
                            <a:schemeClr val="tx1"/>
                          </a:solidFill>
                          <a:effectLst/>
                          <a:latin typeface="Arial" panose="020B0604020202020204" pitchFamily="34" charset="0"/>
                          <a:cs typeface="Arial" panose="020B0604020202020204" pitchFamily="34" charset="0"/>
                        </a:rPr>
                        <a:t>Gestionar el usuario. </a:t>
                      </a:r>
                      <a:endParaRPr lang="es-BO" sz="1800" b="0" dirty="0">
                        <a:solidFill>
                          <a:schemeClr val="tx1"/>
                        </a:solidFill>
                        <a:effectLst/>
                        <a:latin typeface="Arial" panose="020B0604020202020204" pitchFamily="34" charset="0"/>
                        <a:cs typeface="Arial" panose="020B0604020202020204" pitchFamily="34" charset="0"/>
                      </a:endParaRPr>
                    </a:p>
                    <a:p>
                      <a:pPr marL="342900" lvl="0" indent="-342900" algn="just">
                        <a:lnSpc>
                          <a:spcPct val="150000"/>
                        </a:lnSpc>
                        <a:spcAft>
                          <a:spcPts val="0"/>
                        </a:spcAft>
                        <a:buFont typeface="Wingdings" panose="05000000000000000000" pitchFamily="2" charset="2"/>
                        <a:buChar char=""/>
                      </a:pPr>
                      <a:r>
                        <a:rPr lang="es-ES" sz="1800" b="0" dirty="0">
                          <a:solidFill>
                            <a:schemeClr val="tx1"/>
                          </a:solidFill>
                          <a:effectLst/>
                          <a:latin typeface="Arial" panose="020B0604020202020204" pitchFamily="34" charset="0"/>
                          <a:cs typeface="Arial" panose="020B0604020202020204" pitchFamily="34" charset="0"/>
                        </a:rPr>
                        <a:t>Gestionar espacios e importe.</a:t>
                      </a:r>
                      <a:endParaRPr lang="es-BO" sz="1800" b="0" dirty="0">
                        <a:solidFill>
                          <a:schemeClr val="tx1"/>
                        </a:solidFill>
                        <a:effectLst/>
                        <a:latin typeface="Arial" panose="020B0604020202020204" pitchFamily="34" charset="0"/>
                        <a:cs typeface="Arial" panose="020B0604020202020204" pitchFamily="34" charset="0"/>
                      </a:endParaRPr>
                    </a:p>
                    <a:p>
                      <a:pPr marL="342900" lvl="0" indent="-342900" algn="just">
                        <a:lnSpc>
                          <a:spcPct val="150000"/>
                        </a:lnSpc>
                        <a:spcBef>
                          <a:spcPts val="1200"/>
                        </a:spcBef>
                        <a:spcAft>
                          <a:spcPts val="0"/>
                        </a:spcAft>
                        <a:buFont typeface="Wingdings" panose="05000000000000000000" pitchFamily="2" charset="2"/>
                        <a:buChar char=""/>
                      </a:pPr>
                      <a:r>
                        <a:rPr lang="es-ES" sz="1800" b="0" dirty="0">
                          <a:solidFill>
                            <a:schemeClr val="tx1"/>
                          </a:solidFill>
                          <a:effectLst/>
                          <a:latin typeface="Arial" panose="020B0604020202020204" pitchFamily="34" charset="0"/>
                          <a:cs typeface="Arial" panose="020B0604020202020204" pitchFamily="34" charset="0"/>
                        </a:rPr>
                        <a:t>Gestionar registro de uso de parqueo.	</a:t>
                      </a:r>
                      <a:endParaRPr lang="es-BO" sz="1800" b="0" dirty="0">
                        <a:solidFill>
                          <a:schemeClr val="tx1"/>
                        </a:solidFill>
                        <a:effectLst/>
                        <a:latin typeface="Arial" panose="020B0604020202020204" pitchFamily="34" charset="0"/>
                        <a:cs typeface="Arial" panose="020B0604020202020204" pitchFamily="34" charset="0"/>
                      </a:endParaRPr>
                    </a:p>
                    <a:p>
                      <a:pPr marL="342900" lvl="0" indent="-342900" algn="just">
                        <a:lnSpc>
                          <a:spcPct val="150000"/>
                        </a:lnSpc>
                        <a:spcAft>
                          <a:spcPts val="0"/>
                        </a:spcAft>
                        <a:buFont typeface="Wingdings" panose="05000000000000000000" pitchFamily="2" charset="2"/>
                        <a:buChar char=""/>
                      </a:pPr>
                      <a:r>
                        <a:rPr lang="es-ES" sz="1800" b="0" dirty="0">
                          <a:solidFill>
                            <a:schemeClr val="tx1"/>
                          </a:solidFill>
                          <a:effectLst/>
                          <a:latin typeface="Arial" panose="020B0604020202020204" pitchFamily="34" charset="0"/>
                          <a:cs typeface="Arial" panose="020B0604020202020204" pitchFamily="34" charset="0"/>
                        </a:rPr>
                        <a:t>Gestionar lista de vehículos.</a:t>
                      </a:r>
                      <a:endParaRPr lang="es-BO" sz="1800" b="0" dirty="0">
                        <a:solidFill>
                          <a:schemeClr val="tx1"/>
                        </a:solidFill>
                        <a:effectLst/>
                        <a:latin typeface="Arial" panose="020B0604020202020204" pitchFamily="34" charset="0"/>
                        <a:cs typeface="Arial" panose="020B0604020202020204" pitchFamily="34" charset="0"/>
                      </a:endParaRPr>
                    </a:p>
                    <a:p>
                      <a:pPr marL="342900" lvl="0" indent="-342900" algn="just">
                        <a:lnSpc>
                          <a:spcPct val="150000"/>
                        </a:lnSpc>
                        <a:spcBef>
                          <a:spcPts val="1200"/>
                        </a:spcBef>
                        <a:spcAft>
                          <a:spcPts val="0"/>
                        </a:spcAft>
                        <a:buFont typeface="Wingdings" panose="05000000000000000000" pitchFamily="2" charset="2"/>
                        <a:buChar char=""/>
                      </a:pPr>
                      <a:r>
                        <a:rPr lang="es-ES" sz="1800" b="0" dirty="0">
                          <a:solidFill>
                            <a:schemeClr val="tx1"/>
                          </a:solidFill>
                          <a:effectLst/>
                          <a:latin typeface="Arial" panose="020B0604020202020204" pitchFamily="34" charset="0"/>
                          <a:cs typeface="Arial" panose="020B0604020202020204" pitchFamily="34" charset="0"/>
                        </a:rPr>
                        <a:t>Gestionar emisión de  reportes.</a:t>
                      </a:r>
                      <a:endParaRPr lang="es-BO" sz="1800" b="0" dirty="0">
                        <a:solidFill>
                          <a:schemeClr val="tx1"/>
                        </a:solidFill>
                        <a:effectLst/>
                        <a:latin typeface="Arial" panose="020B0604020202020204" pitchFamily="34" charset="0"/>
                        <a:cs typeface="Arial" panose="020B0604020202020204" pitchFamily="34" charset="0"/>
                      </a:endParaRPr>
                    </a:p>
                    <a:p>
                      <a:pPr marL="457200" algn="just">
                        <a:lnSpc>
                          <a:spcPct val="150000"/>
                        </a:lnSpc>
                        <a:spcAft>
                          <a:spcPts val="0"/>
                        </a:spcAft>
                      </a:pPr>
                      <a:endParaRPr lang="es-BO" sz="1200" b="0" dirty="0">
                        <a:solidFill>
                          <a:schemeClr val="tx1"/>
                        </a:solidFill>
                        <a:effectLst/>
                        <a:latin typeface="Arial" panose="020B0604020202020204" pitchFamily="34" charset="0"/>
                        <a:ea typeface="Arial" panose="020B0604020202020204" pitchFamily="34" charset="0"/>
                        <a:cs typeface="Arial" panose="020B0604020202020204" pitchFamily="34" charset="0"/>
                      </a:endParaRPr>
                    </a:p>
                  </a:txBody>
                  <a:tcPr marL="42567" marR="42567" marT="0" marB="0"/>
                </a:tc>
                <a:tc>
                  <a:txBody>
                    <a:bodyPr/>
                    <a:lstStyle/>
                    <a:p>
                      <a:pPr marL="342900" lvl="0" indent="-342900" algn="just">
                        <a:lnSpc>
                          <a:spcPct val="150000"/>
                        </a:lnSpc>
                        <a:spcBef>
                          <a:spcPts val="1200"/>
                        </a:spcBef>
                        <a:spcAft>
                          <a:spcPts val="0"/>
                        </a:spcAft>
                        <a:buFont typeface="Wingdings" panose="05000000000000000000" pitchFamily="2" charset="2"/>
                        <a:buChar char=""/>
                      </a:pPr>
                      <a:r>
                        <a:rPr lang="es-ES" sz="1500" dirty="0">
                          <a:effectLst/>
                          <a:latin typeface="Arial" panose="020B0604020202020204" pitchFamily="34" charset="0"/>
                          <a:cs typeface="Arial" panose="020B0604020202020204" pitchFamily="34" charset="0"/>
                        </a:rPr>
                        <a:t>Realizar un diseño de la interfaz del sistema amigable. </a:t>
                      </a:r>
                      <a:endParaRPr lang="es-BO" sz="1500" dirty="0">
                        <a:effectLst/>
                        <a:latin typeface="Arial" panose="020B0604020202020204" pitchFamily="34" charset="0"/>
                        <a:cs typeface="Arial" panose="020B0604020202020204" pitchFamily="34" charset="0"/>
                      </a:endParaRPr>
                    </a:p>
                    <a:p>
                      <a:pPr marL="342900" lvl="0" indent="-342900" algn="just">
                        <a:lnSpc>
                          <a:spcPct val="150000"/>
                        </a:lnSpc>
                        <a:spcBef>
                          <a:spcPts val="1200"/>
                        </a:spcBef>
                        <a:spcAft>
                          <a:spcPts val="0"/>
                        </a:spcAft>
                        <a:buFont typeface="Wingdings" panose="05000000000000000000" pitchFamily="2" charset="2"/>
                        <a:buChar char=""/>
                      </a:pPr>
                      <a:r>
                        <a:rPr lang="es-ES" sz="1500" dirty="0">
                          <a:effectLst/>
                          <a:latin typeface="Arial" panose="020B0604020202020204" pitchFamily="34" charset="0"/>
                          <a:cs typeface="Arial" panose="020B0604020202020204" pitchFamily="34" charset="0"/>
                        </a:rPr>
                        <a:t>Realización de un diseño de colores adecuados para las interfaces del sistema.</a:t>
                      </a:r>
                      <a:endParaRPr lang="es-BO" sz="1500" dirty="0">
                        <a:effectLst/>
                        <a:latin typeface="Arial" panose="020B0604020202020204" pitchFamily="34" charset="0"/>
                        <a:cs typeface="Arial" panose="020B0604020202020204" pitchFamily="34" charset="0"/>
                      </a:endParaRPr>
                    </a:p>
                    <a:p>
                      <a:pPr marL="342900" lvl="0" indent="-342900" algn="just">
                        <a:lnSpc>
                          <a:spcPct val="150000"/>
                        </a:lnSpc>
                        <a:spcBef>
                          <a:spcPts val="1200"/>
                        </a:spcBef>
                        <a:spcAft>
                          <a:spcPts val="0"/>
                        </a:spcAft>
                        <a:buFont typeface="Wingdings" panose="05000000000000000000" pitchFamily="2" charset="2"/>
                        <a:buChar char=""/>
                      </a:pPr>
                      <a:r>
                        <a:rPr lang="es-ES" sz="1500" dirty="0">
                          <a:effectLst/>
                          <a:latin typeface="Arial" panose="020B0604020202020204" pitchFamily="34" charset="0"/>
                          <a:cs typeface="Arial" panose="020B0604020202020204" pitchFamily="34" charset="0"/>
                        </a:rPr>
                        <a:t>Programar en un IDE de programación (</a:t>
                      </a:r>
                      <a:r>
                        <a:rPr lang="es-ES" sz="1500" dirty="0" err="1">
                          <a:effectLst/>
                          <a:latin typeface="Arial" panose="020B0604020202020204" pitchFamily="34" charset="0"/>
                          <a:cs typeface="Arial" panose="020B0604020202020204" pitchFamily="34" charset="0"/>
                        </a:rPr>
                        <a:t>Node</a:t>
                      </a:r>
                      <a:r>
                        <a:rPr lang="es-ES" sz="1500" dirty="0">
                          <a:effectLst/>
                          <a:latin typeface="Arial" panose="020B0604020202020204" pitchFamily="34" charset="0"/>
                          <a:cs typeface="Arial" panose="020B0604020202020204" pitchFamily="34" charset="0"/>
                        </a:rPr>
                        <a:t>-Red).</a:t>
                      </a:r>
                      <a:endParaRPr lang="es-BO" sz="1500" dirty="0">
                        <a:effectLst/>
                        <a:latin typeface="Arial" panose="020B0604020202020204" pitchFamily="34" charset="0"/>
                        <a:cs typeface="Arial" panose="020B0604020202020204" pitchFamily="34" charset="0"/>
                      </a:endParaRPr>
                    </a:p>
                    <a:p>
                      <a:pPr marL="342900" lvl="0" indent="-342900" algn="just">
                        <a:lnSpc>
                          <a:spcPct val="150000"/>
                        </a:lnSpc>
                        <a:spcBef>
                          <a:spcPts val="1200"/>
                        </a:spcBef>
                        <a:spcAft>
                          <a:spcPts val="0"/>
                        </a:spcAft>
                        <a:buFont typeface="Wingdings" panose="05000000000000000000" pitchFamily="2" charset="2"/>
                        <a:buChar char=""/>
                      </a:pPr>
                      <a:r>
                        <a:rPr lang="es-ES" sz="1500" dirty="0">
                          <a:effectLst/>
                          <a:latin typeface="Arial" panose="020B0604020202020204" pitchFamily="34" charset="0"/>
                          <a:cs typeface="Arial" panose="020B0604020202020204" pitchFamily="34" charset="0"/>
                        </a:rPr>
                        <a:t>El manejador de la base de datos (</a:t>
                      </a:r>
                      <a:r>
                        <a:rPr lang="es-ES" sz="1500" dirty="0" err="1">
                          <a:effectLst/>
                          <a:latin typeface="Arial" panose="020B0604020202020204" pitchFamily="34" charset="0"/>
                          <a:cs typeface="Arial" panose="020B0604020202020204" pitchFamily="34" charset="0"/>
                        </a:rPr>
                        <a:t>MySQL</a:t>
                      </a:r>
                      <a:r>
                        <a:rPr lang="es-ES" sz="1500" dirty="0">
                          <a:effectLst/>
                          <a:latin typeface="Arial" panose="020B0604020202020204" pitchFamily="34" charset="0"/>
                          <a:cs typeface="Arial" panose="020B0604020202020204" pitchFamily="34" charset="0"/>
                        </a:rPr>
                        <a:t>).</a:t>
                      </a:r>
                      <a:endParaRPr lang="es-BO" sz="1500" dirty="0">
                        <a:effectLst/>
                        <a:latin typeface="Arial" panose="020B0604020202020204" pitchFamily="34" charset="0"/>
                        <a:cs typeface="Arial" panose="020B0604020202020204" pitchFamily="34" charset="0"/>
                      </a:endParaRPr>
                    </a:p>
                    <a:p>
                      <a:pPr marL="342900" lvl="0" indent="-342900" algn="just">
                        <a:lnSpc>
                          <a:spcPct val="150000"/>
                        </a:lnSpc>
                        <a:spcBef>
                          <a:spcPts val="1200"/>
                        </a:spcBef>
                        <a:spcAft>
                          <a:spcPts val="0"/>
                        </a:spcAft>
                        <a:buFont typeface="Wingdings" panose="05000000000000000000" pitchFamily="2" charset="2"/>
                        <a:buChar char=""/>
                      </a:pPr>
                      <a:r>
                        <a:rPr lang="es-ES" sz="1500" dirty="0">
                          <a:effectLst/>
                          <a:latin typeface="Arial" panose="020B0604020202020204" pitchFamily="34" charset="0"/>
                          <a:cs typeface="Arial" panose="020B0604020202020204" pitchFamily="34" charset="0"/>
                        </a:rPr>
                        <a:t>Opera  sobre cualquier  navegador de internet (Mozilla Firefox, Microsoft </a:t>
                      </a:r>
                      <a:r>
                        <a:rPr lang="es-ES" sz="1500" dirty="0" err="1">
                          <a:effectLst/>
                          <a:latin typeface="Arial" panose="020B0604020202020204" pitchFamily="34" charset="0"/>
                          <a:cs typeface="Arial" panose="020B0604020202020204" pitchFamily="34" charset="0"/>
                        </a:rPr>
                        <a:t>Edge</a:t>
                      </a:r>
                      <a:r>
                        <a:rPr lang="es-ES" sz="1500" dirty="0">
                          <a:effectLst/>
                          <a:latin typeface="Arial" panose="020B0604020202020204" pitchFamily="34" charset="0"/>
                          <a:cs typeface="Arial" panose="020B0604020202020204" pitchFamily="34" charset="0"/>
                        </a:rPr>
                        <a:t>, Opera, </a:t>
                      </a:r>
                      <a:r>
                        <a:rPr lang="es-ES" sz="1500" dirty="0" err="1">
                          <a:effectLst/>
                          <a:latin typeface="Arial" panose="020B0604020202020204" pitchFamily="34" charset="0"/>
                          <a:cs typeface="Arial" panose="020B0604020202020204" pitchFamily="34" charset="0"/>
                        </a:rPr>
                        <a:t>chrome</a:t>
                      </a:r>
                      <a:r>
                        <a:rPr lang="es-ES" sz="1500" dirty="0">
                          <a:effectLst/>
                          <a:latin typeface="Arial" panose="020B0604020202020204" pitchFamily="34" charset="0"/>
                          <a:cs typeface="Arial" panose="020B0604020202020204" pitchFamily="34" charset="0"/>
                        </a:rPr>
                        <a:t>).</a:t>
                      </a:r>
                      <a:endParaRPr lang="es-BO" sz="1500" dirty="0">
                        <a:effectLst/>
                        <a:latin typeface="Arial" panose="020B0604020202020204" pitchFamily="34" charset="0"/>
                        <a:ea typeface="Arial" panose="020B0604020202020204" pitchFamily="34" charset="0"/>
                        <a:cs typeface="Arial" panose="020B0604020202020204" pitchFamily="34" charset="0"/>
                      </a:endParaRPr>
                    </a:p>
                  </a:txBody>
                  <a:tcPr marL="42567" marR="42567" marT="0" marB="0"/>
                </a:tc>
                <a:extLst>
                  <a:ext uri="{0D108BD9-81ED-4DB2-BD59-A6C34878D82A}">
                    <a16:rowId xmlns:a16="http://schemas.microsoft.com/office/drawing/2014/main" val="10001"/>
                  </a:ext>
                </a:extLst>
              </a:tr>
            </a:tbl>
          </a:graphicData>
        </a:graphic>
      </p:graphicFrame>
      <p:pic>
        <p:nvPicPr>
          <p:cNvPr id="7" name="Imagen 6"/>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740979" y="5553635"/>
            <a:ext cx="1334479" cy="1210235"/>
          </a:xfrm>
          <a:prstGeom prst="rect">
            <a:avLst/>
          </a:prstGeom>
        </p:spPr>
      </p:pic>
      <p:pic>
        <p:nvPicPr>
          <p:cNvPr id="9" name="Imagen 8"/>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0802583" y="-5379"/>
            <a:ext cx="1321802" cy="1200329"/>
          </a:xfrm>
          <a:prstGeom prst="rect">
            <a:avLst/>
          </a:prstGeom>
        </p:spPr>
      </p:pic>
    </p:spTree>
    <p:extLst>
      <p:ext uri="{BB962C8B-B14F-4D97-AF65-F5344CB8AC3E}">
        <p14:creationId xmlns:p14="http://schemas.microsoft.com/office/powerpoint/2010/main" val="82925661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Imagen 9"/>
          <p:cNvPicPr>
            <a:picLocks noChangeAspect="1"/>
          </p:cNvPicPr>
          <p:nvPr/>
        </p:nvPicPr>
        <p:blipFill>
          <a:blip r:embed="rId2">
            <a:lum bright="70000" contrast="-70000"/>
            <a:extLst>
              <a:ext uri="{28A0092B-C50C-407E-A947-70E740481C1C}">
                <a14:useLocalDpi xmlns:a14="http://schemas.microsoft.com/office/drawing/2010/main" val="0"/>
              </a:ext>
            </a:extLst>
          </a:blip>
          <a:stretch>
            <a:fillRect/>
          </a:stretch>
        </p:blipFill>
        <p:spPr>
          <a:xfrm>
            <a:off x="3572483" y="1936093"/>
            <a:ext cx="3786310" cy="4006096"/>
          </a:xfrm>
          <a:prstGeom prst="rect">
            <a:avLst/>
          </a:prstGeom>
        </p:spPr>
      </p:pic>
      <p:sp>
        <p:nvSpPr>
          <p:cNvPr id="2" name="Rectángulo 1"/>
          <p:cNvSpPr/>
          <p:nvPr/>
        </p:nvSpPr>
        <p:spPr>
          <a:xfrm>
            <a:off x="0" y="0"/>
            <a:ext cx="10740980" cy="1200329"/>
          </a:xfrm>
          <a:prstGeom prst="rect">
            <a:avLst/>
          </a:prstGeom>
          <a:solidFill>
            <a:schemeClr val="accent6"/>
          </a:solidFill>
        </p:spPr>
        <p:txBody>
          <a:bodyPr wrap="square" lIns="91440" tIns="45720" rIns="91440" bIns="45720">
            <a:spAutoFit/>
          </a:bodyPr>
          <a:lstStyle/>
          <a:p>
            <a:pPr algn="ctr"/>
            <a:r>
              <a:rPr lang="es-ES" sz="4400" b="1" cap="none" spc="0" dirty="0">
                <a:ln w="0"/>
                <a:solidFill>
                  <a:schemeClr val="bg1"/>
                </a:solidFill>
                <a:effectLst>
                  <a:outerShdw blurRad="50800" dist="38100" dir="2700000" algn="tl" rotWithShape="0">
                    <a:prstClr val="black">
                      <a:alpha val="40000"/>
                    </a:prstClr>
                  </a:outerShdw>
                </a:effectLst>
              </a:rPr>
              <a:t>INSTITUTO TECNOLOGICO SACABA (ITSa)</a:t>
            </a:r>
          </a:p>
          <a:p>
            <a:pPr algn="ctr"/>
            <a:r>
              <a:rPr lang="es-ES" sz="2800" b="1" dirty="0">
                <a:ln w="0"/>
                <a:solidFill>
                  <a:schemeClr val="bg1"/>
                </a:solidFill>
                <a:effectLst>
                  <a:outerShdw blurRad="50800" dist="38100" dir="2700000" algn="tl" rotWithShape="0">
                    <a:prstClr val="black">
                      <a:alpha val="40000"/>
                    </a:prstClr>
                  </a:outerShdw>
                </a:effectLst>
              </a:rPr>
              <a:t>CARRERA: INFORMATICA INDUSTRIAL I/2026</a:t>
            </a:r>
            <a:endParaRPr lang="es-ES" sz="2400" b="1" cap="none" spc="0" dirty="0">
              <a:ln w="0"/>
              <a:solidFill>
                <a:schemeClr val="bg1"/>
              </a:solidFill>
              <a:effectLst>
                <a:outerShdw blurRad="50800" dist="38100" dir="2700000" algn="tl" rotWithShape="0">
                  <a:prstClr val="black">
                    <a:alpha val="40000"/>
                  </a:prstClr>
                </a:outerShdw>
              </a:effectLst>
            </a:endParaRPr>
          </a:p>
        </p:txBody>
      </p:sp>
      <p:sp>
        <p:nvSpPr>
          <p:cNvPr id="4" name="Título 1">
            <a:extLst>
              <a:ext uri="{FF2B5EF4-FFF2-40B4-BE49-F238E27FC236}">
                <a16:creationId xmlns:a16="http://schemas.microsoft.com/office/drawing/2014/main" id="{6D3B085D-D1AD-4597-80AF-57AD660C8506}"/>
              </a:ext>
            </a:extLst>
          </p:cNvPr>
          <p:cNvSpPr txBox="1">
            <a:spLocks/>
          </p:cNvSpPr>
          <p:nvPr/>
        </p:nvSpPr>
        <p:spPr>
          <a:xfrm>
            <a:off x="0" y="1347857"/>
            <a:ext cx="5123329" cy="588236"/>
          </a:xfrm>
          <a:prstGeom prst="rect">
            <a:avLst/>
          </a:prstGeom>
        </p:spPr>
        <p:txBody>
          <a:bodyPr anchor="b"/>
          <a:lstStyle>
            <a:lvl1pPr algn="ctr" defTabSz="914400" rtl="0" eaLnBrk="1" latinLnBrk="0" hangingPunct="1">
              <a:lnSpc>
                <a:spcPct val="90000"/>
              </a:lnSpc>
              <a:spcBef>
                <a:spcPct val="0"/>
              </a:spcBef>
              <a:buNone/>
              <a:defRPr sz="6000" b="1" kern="1200">
                <a:solidFill>
                  <a:schemeClr val="bg1"/>
                </a:solidFill>
                <a:effectLst>
                  <a:outerShdw blurRad="38100" dist="38100" dir="2700000" algn="tl">
                    <a:srgbClr val="000000">
                      <a:alpha val="43137"/>
                    </a:srgbClr>
                  </a:outerShdw>
                </a:effectLst>
                <a:latin typeface="+mn-lt"/>
                <a:ea typeface="+mj-ea"/>
                <a:cs typeface="+mj-cs"/>
              </a:defRPr>
            </a:lvl1pPr>
          </a:lstStyle>
          <a:p>
            <a:pPr algn="l"/>
            <a:r>
              <a:rPr lang="es-BO" sz="3600" u="sng" dirty="0">
                <a:solidFill>
                  <a:srgbClr val="002060"/>
                </a:solidFill>
                <a:effectLst/>
              </a:rPr>
              <a:t>METODOLOGÍA DE DESARROLLO RÁPIDO (DRA / RAD)</a:t>
            </a:r>
          </a:p>
        </p:txBody>
      </p:sp>
      <p:pic>
        <p:nvPicPr>
          <p:cNvPr id="7" name="Imagen 6"/>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740979" y="5553635"/>
            <a:ext cx="1334479" cy="1210235"/>
          </a:xfrm>
          <a:prstGeom prst="rect">
            <a:avLst/>
          </a:prstGeom>
        </p:spPr>
      </p:pic>
      <p:pic>
        <p:nvPicPr>
          <p:cNvPr id="9" name="Imagen 8"/>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0802583" y="-5379"/>
            <a:ext cx="1321802" cy="1200329"/>
          </a:xfrm>
          <a:prstGeom prst="rect">
            <a:avLst/>
          </a:prstGeom>
        </p:spPr>
      </p:pic>
      <p:sp>
        <p:nvSpPr>
          <p:cNvPr id="6" name="Rectángulo 5"/>
          <p:cNvSpPr/>
          <p:nvPr/>
        </p:nvSpPr>
        <p:spPr>
          <a:xfrm>
            <a:off x="919514" y="2083620"/>
            <a:ext cx="9515404" cy="4317179"/>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just">
              <a:lnSpc>
                <a:spcPct val="150000"/>
              </a:lnSpc>
            </a:pPr>
            <a:r>
              <a:rPr lang="es-BO" sz="2400" dirty="0">
                <a:latin typeface="Arial" panose="020B0604020202020204" pitchFamily="34" charset="0"/>
                <a:cs typeface="Arial" panose="020B0604020202020204" pitchFamily="34" charset="0"/>
              </a:rPr>
              <a:t>El Desarrollo Rápido de Aplicaciones (DRA), propuesto por James Martin en 1991, es una metodología orientada a la entrega iterativa de prototipos funcionales en ciclos cortos. Comprende cuatro fases: Planificación de Requisitos, Diseño del Usuario, Construcción y Transición.</a:t>
            </a:r>
          </a:p>
          <a:p>
            <a:pPr marL="342900" indent="-342900" algn="just">
              <a:lnSpc>
                <a:spcPct val="150000"/>
              </a:lnSpc>
              <a:buFont typeface="Wingdings" panose="05000000000000000000" pitchFamily="2" charset="2"/>
              <a:buChar char="Ø"/>
            </a:pPr>
            <a:r>
              <a:rPr lang="es-MX" sz="2400" dirty="0">
                <a:latin typeface="Arial" panose="020B0604020202020204" pitchFamily="34" charset="0"/>
                <a:cs typeface="Arial" panose="020B0604020202020204" pitchFamily="34" charset="0"/>
              </a:rPr>
              <a:t>Permite obtener un producto operativo desde las primeras iteraciones, con retroalimentación directa del usuario final.</a:t>
            </a:r>
          </a:p>
          <a:p>
            <a:pPr marL="342900" indent="-342900" algn="just">
              <a:lnSpc>
                <a:spcPct val="150000"/>
              </a:lnSpc>
              <a:buFont typeface="Wingdings" panose="05000000000000000000" pitchFamily="2" charset="2"/>
              <a:buChar char="Ø"/>
            </a:pPr>
            <a:r>
              <a:rPr lang="es-MX" sz="2400" dirty="0">
                <a:latin typeface="Arial" panose="020B0604020202020204" pitchFamily="34" charset="0"/>
                <a:cs typeface="Arial" panose="020B0604020202020204" pitchFamily="34" charset="0"/>
              </a:rPr>
              <a:t>En SARQUE se aplicó para el desarrollo de la plataforma web, combinándola con metodología Top-Down para el diseño del sistema hidráulico-eléctrico en campo.</a:t>
            </a:r>
          </a:p>
        </p:txBody>
      </p:sp>
    </p:spTree>
    <p:extLst>
      <p:ext uri="{BB962C8B-B14F-4D97-AF65-F5344CB8AC3E}">
        <p14:creationId xmlns:p14="http://schemas.microsoft.com/office/powerpoint/2010/main" val="300652819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Imagen 9"/>
          <p:cNvPicPr>
            <a:picLocks noChangeAspect="1"/>
          </p:cNvPicPr>
          <p:nvPr/>
        </p:nvPicPr>
        <p:blipFill>
          <a:blip r:embed="rId2">
            <a:lum bright="70000" contrast="-70000"/>
            <a:extLst>
              <a:ext uri="{28A0092B-C50C-407E-A947-70E740481C1C}">
                <a14:useLocalDpi xmlns:a14="http://schemas.microsoft.com/office/drawing/2010/main" val="0"/>
              </a:ext>
            </a:extLst>
          </a:blip>
          <a:stretch>
            <a:fillRect/>
          </a:stretch>
        </p:blipFill>
        <p:spPr>
          <a:xfrm>
            <a:off x="3626272" y="1888268"/>
            <a:ext cx="3786310" cy="4006096"/>
          </a:xfrm>
          <a:prstGeom prst="rect">
            <a:avLst/>
          </a:prstGeom>
        </p:spPr>
      </p:pic>
      <p:sp>
        <p:nvSpPr>
          <p:cNvPr id="2" name="Rectángulo 1"/>
          <p:cNvSpPr/>
          <p:nvPr/>
        </p:nvSpPr>
        <p:spPr>
          <a:xfrm>
            <a:off x="0" y="0"/>
            <a:ext cx="10740980" cy="1200329"/>
          </a:xfrm>
          <a:prstGeom prst="rect">
            <a:avLst/>
          </a:prstGeom>
          <a:solidFill>
            <a:schemeClr val="accent6"/>
          </a:solidFill>
        </p:spPr>
        <p:txBody>
          <a:bodyPr wrap="square" lIns="91440" tIns="45720" rIns="91440" bIns="45720">
            <a:spAutoFit/>
          </a:bodyPr>
          <a:lstStyle/>
          <a:p>
            <a:pPr algn="ctr"/>
            <a:r>
              <a:rPr lang="es-ES" sz="4400" b="1" cap="none" spc="0" dirty="0">
                <a:ln w="0"/>
                <a:solidFill>
                  <a:schemeClr val="bg1"/>
                </a:solidFill>
                <a:effectLst>
                  <a:outerShdw blurRad="50800" dist="38100" dir="2700000" algn="tl" rotWithShape="0">
                    <a:prstClr val="black">
                      <a:alpha val="40000"/>
                    </a:prstClr>
                  </a:outerShdw>
                </a:effectLst>
              </a:rPr>
              <a:t>INSTITUTO TECNOLOGICO SACABA (ITSa)</a:t>
            </a:r>
          </a:p>
          <a:p>
            <a:pPr algn="ctr"/>
            <a:r>
              <a:rPr lang="es-ES" sz="2800" b="1" dirty="0">
                <a:ln w="0"/>
                <a:solidFill>
                  <a:schemeClr val="bg1"/>
                </a:solidFill>
                <a:effectLst>
                  <a:outerShdw blurRad="50800" dist="38100" dir="2700000" algn="tl" rotWithShape="0">
                    <a:prstClr val="black">
                      <a:alpha val="40000"/>
                    </a:prstClr>
                  </a:outerShdw>
                </a:effectLst>
              </a:rPr>
              <a:t>CARRERA: INFORMATICA INDUSTRIAL I/2026</a:t>
            </a:r>
            <a:endParaRPr lang="es-ES" sz="2400" b="1" cap="none" spc="0" dirty="0">
              <a:ln w="0"/>
              <a:solidFill>
                <a:schemeClr val="bg1"/>
              </a:solidFill>
              <a:effectLst>
                <a:outerShdw blurRad="50800" dist="38100" dir="2700000" algn="tl" rotWithShape="0">
                  <a:prstClr val="black">
                    <a:alpha val="40000"/>
                  </a:prstClr>
                </a:outerShdw>
              </a:effectLst>
            </a:endParaRPr>
          </a:p>
        </p:txBody>
      </p:sp>
      <p:sp>
        <p:nvSpPr>
          <p:cNvPr id="4" name="Título 1">
            <a:extLst>
              <a:ext uri="{FF2B5EF4-FFF2-40B4-BE49-F238E27FC236}">
                <a16:creationId xmlns:a16="http://schemas.microsoft.com/office/drawing/2014/main" id="{6D3B085D-D1AD-4597-80AF-57AD660C8506}"/>
              </a:ext>
            </a:extLst>
          </p:cNvPr>
          <p:cNvSpPr txBox="1">
            <a:spLocks/>
          </p:cNvSpPr>
          <p:nvPr/>
        </p:nvSpPr>
        <p:spPr>
          <a:xfrm>
            <a:off x="304799" y="1442323"/>
            <a:ext cx="9103659" cy="588236"/>
          </a:xfrm>
          <a:prstGeom prst="rect">
            <a:avLst/>
          </a:prstGeom>
        </p:spPr>
        <p:txBody>
          <a:bodyPr anchor="b"/>
          <a:lstStyle>
            <a:lvl1pPr algn="ctr" defTabSz="914400" rtl="0" eaLnBrk="1" latinLnBrk="0" hangingPunct="1">
              <a:lnSpc>
                <a:spcPct val="90000"/>
              </a:lnSpc>
              <a:spcBef>
                <a:spcPct val="0"/>
              </a:spcBef>
              <a:buNone/>
              <a:defRPr sz="6000" b="1" kern="1200">
                <a:solidFill>
                  <a:schemeClr val="bg1"/>
                </a:solidFill>
                <a:effectLst>
                  <a:outerShdw blurRad="38100" dist="38100" dir="2700000" algn="tl">
                    <a:srgbClr val="000000">
                      <a:alpha val="43137"/>
                    </a:srgbClr>
                  </a:outerShdw>
                </a:effectLst>
                <a:latin typeface="+mn-lt"/>
                <a:ea typeface="+mj-ea"/>
                <a:cs typeface="+mj-cs"/>
              </a:defRPr>
            </a:lvl1pPr>
          </a:lstStyle>
          <a:p>
            <a:pPr algn="l"/>
            <a:r>
              <a:rPr lang="es-BO" sz="3600" u="sng" dirty="0">
                <a:solidFill>
                  <a:srgbClr val="002060"/>
                </a:solidFill>
                <a:effectLst/>
              </a:rPr>
              <a:t>LENGUAJE UNIFICADO DE MODELADO (UML)</a:t>
            </a:r>
          </a:p>
        </p:txBody>
      </p:sp>
      <p:pic>
        <p:nvPicPr>
          <p:cNvPr id="7" name="Imagen 6"/>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740979" y="5553635"/>
            <a:ext cx="1334479" cy="1210235"/>
          </a:xfrm>
          <a:prstGeom prst="rect">
            <a:avLst/>
          </a:prstGeom>
        </p:spPr>
      </p:pic>
      <p:pic>
        <p:nvPicPr>
          <p:cNvPr id="9" name="Imagen 8"/>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0802583" y="-5379"/>
            <a:ext cx="1321802" cy="1200329"/>
          </a:xfrm>
          <a:prstGeom prst="rect">
            <a:avLst/>
          </a:prstGeom>
        </p:spPr>
      </p:pic>
      <p:sp>
        <p:nvSpPr>
          <p:cNvPr id="3" name="Rectángulo 2"/>
          <p:cNvSpPr/>
          <p:nvPr/>
        </p:nvSpPr>
        <p:spPr>
          <a:xfrm>
            <a:off x="645460" y="2272553"/>
            <a:ext cx="9676176" cy="2909047"/>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just">
              <a:lnSpc>
                <a:spcPct val="150000"/>
              </a:lnSpc>
            </a:pPr>
            <a:r>
              <a:rPr lang="es-MX" sz="2400" dirty="0">
                <a:latin typeface="Arial" panose="020B0604020202020204" pitchFamily="34" charset="0"/>
                <a:cs typeface="Arial" panose="020B0604020202020204" pitchFamily="34" charset="0"/>
              </a:rPr>
              <a:t>El </a:t>
            </a:r>
            <a:r>
              <a:rPr lang="es-BO" sz="2400" dirty="0">
                <a:latin typeface="Arial" panose="020B0604020202020204" pitchFamily="34" charset="0"/>
                <a:cs typeface="Arial" panose="020B0604020202020204" pitchFamily="34" charset="0"/>
              </a:rPr>
              <a:t>Lenguaje Unificado de Modelado (UML) es un lenguaje visual estándar para especificar, construir y documentar los artefactos de los sistemas de software. En SARQUE se utilizó para los diagramas de Casos de Uso, Componentes y Modelo Entidad-Relación de la base de datos.</a:t>
            </a:r>
            <a:r>
              <a:rPr lang="es-MX" sz="2400" dirty="0">
                <a:latin typeface="Arial" panose="020B0604020202020204" pitchFamily="34" charset="0"/>
                <a:cs typeface="Arial" panose="020B0604020202020204" pitchFamily="34" charset="0"/>
              </a:rPr>
              <a:t> UML facilita la comunicación entre desarrolladores y usuarios finales no técnicos.</a:t>
            </a:r>
            <a:endParaRPr lang="es-BO" sz="24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74840303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 name="Imagen 12"/>
          <p:cNvPicPr>
            <a:picLocks noChangeAspect="1"/>
          </p:cNvPicPr>
          <p:nvPr/>
        </p:nvPicPr>
        <p:blipFill>
          <a:blip r:embed="rId2">
            <a:lum bright="70000" contrast="-70000"/>
            <a:extLst>
              <a:ext uri="{28A0092B-C50C-407E-A947-70E740481C1C}">
                <a14:useLocalDpi xmlns:a14="http://schemas.microsoft.com/office/drawing/2010/main" val="0"/>
              </a:ext>
            </a:extLst>
          </a:blip>
          <a:stretch>
            <a:fillRect/>
          </a:stretch>
        </p:blipFill>
        <p:spPr>
          <a:xfrm>
            <a:off x="3626272" y="1788565"/>
            <a:ext cx="3786310" cy="4006096"/>
          </a:xfrm>
          <a:prstGeom prst="rect">
            <a:avLst/>
          </a:prstGeom>
        </p:spPr>
      </p:pic>
      <p:sp>
        <p:nvSpPr>
          <p:cNvPr id="2" name="Rectángulo 1"/>
          <p:cNvSpPr/>
          <p:nvPr/>
        </p:nvSpPr>
        <p:spPr>
          <a:xfrm>
            <a:off x="0" y="0"/>
            <a:ext cx="10753859" cy="1200329"/>
          </a:xfrm>
          <a:prstGeom prst="rect">
            <a:avLst/>
          </a:prstGeom>
          <a:solidFill>
            <a:schemeClr val="accent6"/>
          </a:solidFill>
        </p:spPr>
        <p:txBody>
          <a:bodyPr wrap="square" lIns="91440" tIns="45720" rIns="91440" bIns="45720">
            <a:spAutoFit/>
          </a:bodyPr>
          <a:lstStyle/>
          <a:p>
            <a:pPr algn="ctr"/>
            <a:r>
              <a:rPr lang="es-ES" sz="4400" b="1" cap="none" spc="0" dirty="0">
                <a:ln w="0"/>
                <a:solidFill>
                  <a:schemeClr val="bg1"/>
                </a:solidFill>
                <a:effectLst>
                  <a:outerShdw blurRad="50800" dist="38100" dir="2700000" algn="tl" rotWithShape="0">
                    <a:prstClr val="black">
                      <a:alpha val="40000"/>
                    </a:prstClr>
                  </a:outerShdw>
                </a:effectLst>
              </a:rPr>
              <a:t>INSTITUTO TECNOLOGICO SACABA (ITSa)</a:t>
            </a:r>
          </a:p>
          <a:p>
            <a:pPr algn="ctr"/>
            <a:r>
              <a:rPr lang="es-ES" sz="2800" b="1" dirty="0">
                <a:ln w="0"/>
                <a:solidFill>
                  <a:schemeClr val="bg1"/>
                </a:solidFill>
                <a:effectLst>
                  <a:outerShdw blurRad="50800" dist="38100" dir="2700000" algn="tl" rotWithShape="0">
                    <a:prstClr val="black">
                      <a:alpha val="40000"/>
                    </a:prstClr>
                  </a:outerShdw>
                </a:effectLst>
              </a:rPr>
              <a:t>CARRERA: INFORMATICA INDUSTRIAL I/2026</a:t>
            </a:r>
            <a:endParaRPr lang="es-ES" sz="2400" b="1" cap="none" spc="0" dirty="0">
              <a:ln w="0"/>
              <a:solidFill>
                <a:schemeClr val="bg1"/>
              </a:solidFill>
              <a:effectLst>
                <a:outerShdw blurRad="50800" dist="38100" dir="2700000" algn="tl" rotWithShape="0">
                  <a:prstClr val="black">
                    <a:alpha val="40000"/>
                  </a:prstClr>
                </a:outerShdw>
              </a:effectLst>
            </a:endParaRPr>
          </a:p>
        </p:txBody>
      </p:sp>
      <p:sp>
        <p:nvSpPr>
          <p:cNvPr id="4" name="Título 1">
            <a:extLst>
              <a:ext uri="{FF2B5EF4-FFF2-40B4-BE49-F238E27FC236}">
                <a16:creationId xmlns:a16="http://schemas.microsoft.com/office/drawing/2014/main" id="{6D3B085D-D1AD-4597-80AF-57AD660C8506}"/>
              </a:ext>
            </a:extLst>
          </p:cNvPr>
          <p:cNvSpPr txBox="1">
            <a:spLocks/>
          </p:cNvSpPr>
          <p:nvPr/>
        </p:nvSpPr>
        <p:spPr>
          <a:xfrm>
            <a:off x="109470" y="1200329"/>
            <a:ext cx="5267459" cy="588236"/>
          </a:xfrm>
          <a:prstGeom prst="rect">
            <a:avLst/>
          </a:prstGeom>
        </p:spPr>
        <p:txBody>
          <a:bodyPr anchor="b"/>
          <a:lstStyle>
            <a:lvl1pPr algn="ctr" defTabSz="914400" rtl="0" eaLnBrk="1" latinLnBrk="0" hangingPunct="1">
              <a:lnSpc>
                <a:spcPct val="90000"/>
              </a:lnSpc>
              <a:spcBef>
                <a:spcPct val="0"/>
              </a:spcBef>
              <a:buNone/>
              <a:defRPr sz="6000" b="1" kern="1200">
                <a:solidFill>
                  <a:schemeClr val="bg1"/>
                </a:solidFill>
                <a:effectLst>
                  <a:outerShdw blurRad="38100" dist="38100" dir="2700000" algn="tl">
                    <a:srgbClr val="000000">
                      <a:alpha val="43137"/>
                    </a:srgbClr>
                  </a:outerShdw>
                </a:effectLst>
                <a:latin typeface="+mn-lt"/>
                <a:ea typeface="+mj-ea"/>
                <a:cs typeface="+mj-cs"/>
              </a:defRPr>
            </a:lvl1pPr>
          </a:lstStyle>
          <a:p>
            <a:pPr algn="l"/>
            <a:r>
              <a:rPr lang="es-BO" sz="3600" u="sng" dirty="0">
                <a:solidFill>
                  <a:srgbClr val="002060"/>
                </a:solidFill>
                <a:effectLst/>
              </a:rPr>
              <a:t>DESCRIPCIÓN DE ACTORES</a:t>
            </a:r>
          </a:p>
        </p:txBody>
      </p:sp>
      <p:sp>
        <p:nvSpPr>
          <p:cNvPr id="5" name="CuadroTexto 4"/>
          <p:cNvSpPr txBox="1"/>
          <p:nvPr/>
        </p:nvSpPr>
        <p:spPr>
          <a:xfrm>
            <a:off x="283335" y="1788565"/>
            <a:ext cx="11908665" cy="923330"/>
          </a:xfrm>
          <a:prstGeom prst="rect">
            <a:avLst/>
          </a:prstGeom>
          <a:noFill/>
        </p:spPr>
        <p:txBody>
          <a:bodyPr wrap="square" rtlCol="0">
            <a:spAutoFit/>
          </a:bodyPr>
          <a:lstStyle/>
          <a:p>
            <a:r>
              <a:rPr lang="es-MX" dirty="0">
                <a:latin typeface="Arial" panose="020B0604020202020204" pitchFamily="34" charset="0"/>
                <a:cs typeface="Arial" panose="020B0604020202020204" pitchFamily="34" charset="0"/>
              </a:rPr>
              <a:t>Administrador: Es la máxima autoridad del sistema. En SARQUE corresponde a la propietaria del Parque Quinta Estación, Sra. Eliana Soria Yapur. Tiene acceso completo a la plataforma web para: gestionar el catálogo de sectores, registrar los 6 controladores BL-KR, definir y modificar el cronograma semanal, y consultar todos los reportes simulados de consumo hídrico. También es responsable de programar los controladores BL-KR físicos mediante la app móvil K-RainBL.</a:t>
            </a:r>
            <a:endParaRPr lang="es-BO" dirty="0"/>
          </a:p>
        </p:txBody>
      </p:sp>
      <p:pic>
        <p:nvPicPr>
          <p:cNvPr id="10" name="Imagen 9"/>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740979" y="5553635"/>
            <a:ext cx="1334479" cy="1210235"/>
          </a:xfrm>
          <a:prstGeom prst="rect">
            <a:avLst/>
          </a:prstGeom>
        </p:spPr>
      </p:pic>
      <p:pic>
        <p:nvPicPr>
          <p:cNvPr id="12" name="Imagen 11"/>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0802583" y="-5379"/>
            <a:ext cx="1321802" cy="1200329"/>
          </a:xfrm>
          <a:prstGeom prst="rect">
            <a:avLst/>
          </a:prstGeom>
        </p:spPr>
      </p:pic>
      <p:graphicFrame>
        <p:nvGraphicFramePr>
          <p:cNvPr id="17" name="Tabla 16"/>
          <p:cNvGraphicFramePr>
            <a:graphicFrameLocks noGrp="1"/>
          </p:cNvGraphicFramePr>
          <p:nvPr>
            <p:extLst>
              <p:ext uri="{D42A27DB-BD31-4B8C-83A1-F6EECF244321}">
                <p14:modId xmlns:p14="http://schemas.microsoft.com/office/powerpoint/2010/main" val="2186343548"/>
              </p:ext>
            </p:extLst>
          </p:nvPr>
        </p:nvGraphicFramePr>
        <p:xfrm>
          <a:off x="3231725" y="2711895"/>
          <a:ext cx="7299924" cy="3863486"/>
        </p:xfrm>
        <a:graphic>
          <a:graphicData uri="http://schemas.openxmlformats.org/drawingml/2006/table">
            <a:tbl>
              <a:tblPr firstRow="1" firstCol="1" bandRow="1">
                <a:tableStyleId>{93296810-A885-4BE3-A3E7-6D5BEEA58F35}</a:tableStyleId>
              </a:tblPr>
              <a:tblGrid>
                <a:gridCol w="1682879">
                  <a:extLst>
                    <a:ext uri="{9D8B030D-6E8A-4147-A177-3AD203B41FA5}">
                      <a16:colId xmlns:a16="http://schemas.microsoft.com/office/drawing/2014/main" val="20000"/>
                    </a:ext>
                  </a:extLst>
                </a:gridCol>
                <a:gridCol w="5617045">
                  <a:extLst>
                    <a:ext uri="{9D8B030D-6E8A-4147-A177-3AD203B41FA5}">
                      <a16:colId xmlns:a16="http://schemas.microsoft.com/office/drawing/2014/main" val="20001"/>
                    </a:ext>
                  </a:extLst>
                </a:gridCol>
              </a:tblGrid>
              <a:tr h="247414">
                <a:tc>
                  <a:txBody>
                    <a:bodyPr/>
                    <a:lstStyle/>
                    <a:p>
                      <a:pPr algn="ctr">
                        <a:lnSpc>
                          <a:spcPct val="107000"/>
                        </a:lnSpc>
                        <a:spcAft>
                          <a:spcPts val="0"/>
                        </a:spcAft>
                      </a:pPr>
                      <a:r>
                        <a:rPr lang="es-ES" sz="1400" dirty="0">
                          <a:effectLst/>
                          <a:latin typeface="Arial" panose="020B0604020202020204" pitchFamily="34" charset="0"/>
                          <a:cs typeface="Arial" panose="020B0604020202020204" pitchFamily="34" charset="0"/>
                        </a:rPr>
                        <a:t>ACTOR</a:t>
                      </a:r>
                      <a:endParaRPr lang="es-BO" sz="1200" dirty="0">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nchor="ctr"/>
                </a:tc>
                <a:tc>
                  <a:txBody>
                    <a:bodyPr/>
                    <a:lstStyle/>
                    <a:p>
                      <a:pPr algn="ctr">
                        <a:lnSpc>
                          <a:spcPct val="107000"/>
                        </a:lnSpc>
                        <a:spcAft>
                          <a:spcPts val="0"/>
                        </a:spcAft>
                      </a:pPr>
                      <a:r>
                        <a:rPr lang="es-ES" sz="1400" dirty="0">
                          <a:effectLst/>
                          <a:latin typeface="Arial" panose="020B0604020202020204" pitchFamily="34" charset="0"/>
                          <a:cs typeface="Arial" panose="020B0604020202020204" pitchFamily="34" charset="0"/>
                        </a:rPr>
                        <a:t>Administrador </a:t>
                      </a:r>
                      <a:endParaRPr lang="es-BO" sz="1200" dirty="0">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nchor="ctr"/>
                </a:tc>
                <a:extLst>
                  <a:ext uri="{0D108BD9-81ED-4DB2-BD59-A6C34878D82A}">
                    <a16:rowId xmlns:a16="http://schemas.microsoft.com/office/drawing/2014/main" val="10000"/>
                  </a:ext>
                </a:extLst>
              </a:tr>
              <a:tr h="2793183">
                <a:tc>
                  <a:txBody>
                    <a:bodyPr/>
                    <a:lstStyle/>
                    <a:p>
                      <a:pPr algn="ctr">
                        <a:lnSpc>
                          <a:spcPct val="107000"/>
                        </a:lnSpc>
                        <a:spcAft>
                          <a:spcPts val="0"/>
                        </a:spcAft>
                      </a:pPr>
                      <a:r>
                        <a:rPr lang="es-ES" sz="1600">
                          <a:effectLst/>
                          <a:latin typeface="Arial" panose="020B0604020202020204" pitchFamily="34" charset="0"/>
                          <a:cs typeface="Arial" panose="020B0604020202020204" pitchFamily="34" charset="0"/>
                        </a:rPr>
                        <a:t>CASO DE USO</a:t>
                      </a:r>
                      <a:endParaRPr lang="es-BO" sz="1400">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nchor="ctr"/>
                </a:tc>
                <a:tc>
                  <a:txBody>
                    <a:bodyPr/>
                    <a:lstStyle/>
                    <a:p>
                      <a:pPr algn="l">
                        <a:lnSpc>
                          <a:spcPct val="107000"/>
                        </a:lnSpc>
                        <a:spcAft>
                          <a:spcPts val="0"/>
                        </a:spcAft>
                      </a:pPr>
                      <a:r>
                        <a:rPr lang="es-ES" sz="1600" dirty="0">
                          <a:effectLst/>
                          <a:latin typeface="Arial" panose="020B0604020202020204" pitchFamily="34" charset="0"/>
                          <a:cs typeface="Arial" panose="020B0604020202020204" pitchFamily="34" charset="0"/>
                        </a:rPr>
                        <a:t>Gestionar ingreso al software.</a:t>
                      </a:r>
                      <a:endParaRPr lang="es-BO" sz="1400" dirty="0">
                        <a:effectLst/>
                        <a:latin typeface="Arial" panose="020B0604020202020204" pitchFamily="34" charset="0"/>
                        <a:cs typeface="Arial" panose="020B0604020202020204" pitchFamily="34" charset="0"/>
                      </a:endParaRPr>
                    </a:p>
                    <a:p>
                      <a:pPr algn="l">
                        <a:lnSpc>
                          <a:spcPct val="107000"/>
                        </a:lnSpc>
                        <a:spcAft>
                          <a:spcPts val="0"/>
                        </a:spcAft>
                      </a:pPr>
                      <a:r>
                        <a:rPr lang="es-ES" sz="1600" dirty="0">
                          <a:effectLst/>
                          <a:latin typeface="Arial" panose="020B0604020202020204" pitchFamily="34" charset="0"/>
                          <a:cs typeface="Arial" panose="020B0604020202020204" pitchFamily="34" charset="0"/>
                        </a:rPr>
                        <a:t> </a:t>
                      </a:r>
                      <a:endParaRPr lang="es-BO" sz="1400" dirty="0">
                        <a:effectLst/>
                        <a:latin typeface="Arial" panose="020B0604020202020204" pitchFamily="34" charset="0"/>
                        <a:cs typeface="Arial" panose="020B0604020202020204" pitchFamily="34" charset="0"/>
                      </a:endParaRPr>
                    </a:p>
                    <a:p>
                      <a:pPr algn="l">
                        <a:lnSpc>
                          <a:spcPct val="107000"/>
                        </a:lnSpc>
                        <a:spcAft>
                          <a:spcPts val="0"/>
                        </a:spcAft>
                      </a:pPr>
                      <a:r>
                        <a:rPr lang="es-ES" sz="1600" dirty="0">
                          <a:effectLst/>
                          <a:latin typeface="Arial" panose="020B0604020202020204" pitchFamily="34" charset="0"/>
                          <a:cs typeface="Arial" panose="020B0604020202020204" pitchFamily="34" charset="0"/>
                        </a:rPr>
                        <a:t>Gestionar el usuario. </a:t>
                      </a:r>
                      <a:endParaRPr lang="es-BO" sz="1400" dirty="0">
                        <a:effectLst/>
                        <a:latin typeface="Arial" panose="020B0604020202020204" pitchFamily="34" charset="0"/>
                        <a:cs typeface="Arial" panose="020B0604020202020204" pitchFamily="34" charset="0"/>
                      </a:endParaRPr>
                    </a:p>
                    <a:p>
                      <a:pPr algn="l">
                        <a:lnSpc>
                          <a:spcPct val="107000"/>
                        </a:lnSpc>
                        <a:spcAft>
                          <a:spcPts val="0"/>
                        </a:spcAft>
                      </a:pPr>
                      <a:r>
                        <a:rPr lang="es-ES" sz="1600" dirty="0">
                          <a:effectLst/>
                          <a:latin typeface="Arial" panose="020B0604020202020204" pitchFamily="34" charset="0"/>
                          <a:cs typeface="Arial" panose="020B0604020202020204" pitchFamily="34" charset="0"/>
                        </a:rPr>
                        <a:t> </a:t>
                      </a:r>
                      <a:endParaRPr lang="es-BO" sz="1400" dirty="0">
                        <a:effectLst/>
                        <a:latin typeface="Arial" panose="020B0604020202020204" pitchFamily="34" charset="0"/>
                        <a:cs typeface="Arial" panose="020B0604020202020204" pitchFamily="34" charset="0"/>
                      </a:endParaRPr>
                    </a:p>
                    <a:p>
                      <a:pPr algn="l">
                        <a:lnSpc>
                          <a:spcPct val="107000"/>
                        </a:lnSpc>
                        <a:spcAft>
                          <a:spcPts val="0"/>
                        </a:spcAft>
                      </a:pPr>
                      <a:r>
                        <a:rPr lang="es-ES" sz="1600" dirty="0">
                          <a:effectLst/>
                          <a:latin typeface="Arial" panose="020B0604020202020204" pitchFamily="34" charset="0"/>
                          <a:cs typeface="Arial" panose="020B0604020202020204" pitchFamily="34" charset="0"/>
                        </a:rPr>
                        <a:t>Gestionar espacios e importe.</a:t>
                      </a:r>
                      <a:endParaRPr lang="es-BO" sz="1400" dirty="0">
                        <a:effectLst/>
                        <a:latin typeface="Arial" panose="020B0604020202020204" pitchFamily="34" charset="0"/>
                        <a:cs typeface="Arial" panose="020B0604020202020204" pitchFamily="34" charset="0"/>
                      </a:endParaRPr>
                    </a:p>
                    <a:p>
                      <a:pPr algn="l">
                        <a:lnSpc>
                          <a:spcPct val="107000"/>
                        </a:lnSpc>
                        <a:spcAft>
                          <a:spcPts val="0"/>
                        </a:spcAft>
                      </a:pPr>
                      <a:r>
                        <a:rPr lang="es-ES" sz="1600" dirty="0">
                          <a:effectLst/>
                          <a:latin typeface="Arial" panose="020B0604020202020204" pitchFamily="34" charset="0"/>
                          <a:cs typeface="Arial" panose="020B0604020202020204" pitchFamily="34" charset="0"/>
                        </a:rPr>
                        <a:t> </a:t>
                      </a:r>
                      <a:endParaRPr lang="es-BO" sz="1400" dirty="0">
                        <a:effectLst/>
                        <a:latin typeface="Arial" panose="020B0604020202020204" pitchFamily="34" charset="0"/>
                        <a:cs typeface="Arial" panose="020B0604020202020204" pitchFamily="34" charset="0"/>
                      </a:endParaRPr>
                    </a:p>
                    <a:p>
                      <a:pPr algn="l">
                        <a:lnSpc>
                          <a:spcPct val="107000"/>
                        </a:lnSpc>
                        <a:spcAft>
                          <a:spcPts val="0"/>
                        </a:spcAft>
                      </a:pPr>
                      <a:r>
                        <a:rPr lang="es-ES" sz="1600" dirty="0">
                          <a:effectLst/>
                          <a:latin typeface="Arial" panose="020B0604020202020204" pitchFamily="34" charset="0"/>
                          <a:cs typeface="Arial" panose="020B0604020202020204" pitchFamily="34" charset="0"/>
                        </a:rPr>
                        <a:t>Gestionar registro de uso de parqueo.</a:t>
                      </a:r>
                      <a:endParaRPr lang="es-BO" sz="1400" dirty="0">
                        <a:effectLst/>
                        <a:latin typeface="Arial" panose="020B0604020202020204" pitchFamily="34" charset="0"/>
                        <a:cs typeface="Arial" panose="020B0604020202020204" pitchFamily="34" charset="0"/>
                      </a:endParaRPr>
                    </a:p>
                    <a:p>
                      <a:pPr algn="l">
                        <a:lnSpc>
                          <a:spcPct val="107000"/>
                        </a:lnSpc>
                        <a:spcAft>
                          <a:spcPts val="0"/>
                        </a:spcAft>
                        <a:tabLst>
                          <a:tab pos="1243965" algn="l"/>
                        </a:tabLst>
                      </a:pPr>
                      <a:r>
                        <a:rPr lang="es-ES" sz="1600" dirty="0">
                          <a:effectLst/>
                          <a:latin typeface="Arial" panose="020B0604020202020204" pitchFamily="34" charset="0"/>
                          <a:cs typeface="Arial" panose="020B0604020202020204" pitchFamily="34" charset="0"/>
                        </a:rPr>
                        <a:t>	</a:t>
                      </a:r>
                      <a:endParaRPr lang="es-BO" sz="1400" dirty="0">
                        <a:effectLst/>
                        <a:latin typeface="Arial" panose="020B0604020202020204" pitchFamily="34" charset="0"/>
                        <a:cs typeface="Arial" panose="020B0604020202020204" pitchFamily="34" charset="0"/>
                      </a:endParaRPr>
                    </a:p>
                    <a:p>
                      <a:pPr algn="l">
                        <a:lnSpc>
                          <a:spcPct val="107000"/>
                        </a:lnSpc>
                        <a:spcAft>
                          <a:spcPts val="0"/>
                        </a:spcAft>
                      </a:pPr>
                      <a:r>
                        <a:rPr lang="es-ES" sz="1600" dirty="0">
                          <a:effectLst/>
                          <a:latin typeface="Arial" panose="020B0604020202020204" pitchFamily="34" charset="0"/>
                          <a:cs typeface="Arial" panose="020B0604020202020204" pitchFamily="34" charset="0"/>
                        </a:rPr>
                        <a:t>Gestionar lista de vehículos.</a:t>
                      </a:r>
                      <a:endParaRPr lang="es-BO" sz="1400" dirty="0">
                        <a:effectLst/>
                        <a:latin typeface="Arial" panose="020B0604020202020204" pitchFamily="34" charset="0"/>
                        <a:cs typeface="Arial" panose="020B0604020202020204" pitchFamily="34" charset="0"/>
                      </a:endParaRPr>
                    </a:p>
                    <a:p>
                      <a:pPr algn="l">
                        <a:lnSpc>
                          <a:spcPct val="107000"/>
                        </a:lnSpc>
                        <a:spcAft>
                          <a:spcPts val="0"/>
                        </a:spcAft>
                      </a:pPr>
                      <a:r>
                        <a:rPr lang="es-ES" sz="1600" dirty="0">
                          <a:effectLst/>
                          <a:latin typeface="Arial" panose="020B0604020202020204" pitchFamily="34" charset="0"/>
                          <a:cs typeface="Arial" panose="020B0604020202020204" pitchFamily="34" charset="0"/>
                        </a:rPr>
                        <a:t> </a:t>
                      </a:r>
                      <a:endParaRPr lang="es-BO" sz="1400" dirty="0">
                        <a:effectLst/>
                        <a:latin typeface="Arial" panose="020B0604020202020204" pitchFamily="34" charset="0"/>
                        <a:cs typeface="Arial" panose="020B0604020202020204" pitchFamily="34" charset="0"/>
                      </a:endParaRPr>
                    </a:p>
                    <a:p>
                      <a:pPr algn="l">
                        <a:lnSpc>
                          <a:spcPct val="107000"/>
                        </a:lnSpc>
                        <a:spcAft>
                          <a:spcPts val="0"/>
                        </a:spcAft>
                      </a:pPr>
                      <a:r>
                        <a:rPr lang="es-ES" sz="1600" dirty="0">
                          <a:effectLst/>
                          <a:latin typeface="Arial" panose="020B0604020202020204" pitchFamily="34" charset="0"/>
                          <a:cs typeface="Arial" panose="020B0604020202020204" pitchFamily="34" charset="0"/>
                        </a:rPr>
                        <a:t>Gestionar emisión de reportes.</a:t>
                      </a:r>
                      <a:endParaRPr lang="es-BO" sz="1400" dirty="0">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tc>
                <a:extLst>
                  <a:ext uri="{0D108BD9-81ED-4DB2-BD59-A6C34878D82A}">
                    <a16:rowId xmlns:a16="http://schemas.microsoft.com/office/drawing/2014/main" val="10001"/>
                  </a:ext>
                </a:extLst>
              </a:tr>
              <a:tr h="258669">
                <a:tc>
                  <a:txBody>
                    <a:bodyPr/>
                    <a:lstStyle/>
                    <a:p>
                      <a:pPr algn="ctr">
                        <a:lnSpc>
                          <a:spcPct val="107000"/>
                        </a:lnSpc>
                        <a:spcAft>
                          <a:spcPts val="0"/>
                        </a:spcAft>
                      </a:pPr>
                      <a:r>
                        <a:rPr lang="es-ES" sz="1600" dirty="0">
                          <a:effectLst/>
                          <a:latin typeface="Arial" panose="020B0604020202020204" pitchFamily="34" charset="0"/>
                          <a:cs typeface="Arial" panose="020B0604020202020204" pitchFamily="34" charset="0"/>
                        </a:rPr>
                        <a:t>TIPO</a:t>
                      </a:r>
                      <a:endParaRPr lang="es-BO" sz="1400" dirty="0">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nchor="ctr"/>
                </a:tc>
                <a:tc>
                  <a:txBody>
                    <a:bodyPr/>
                    <a:lstStyle/>
                    <a:p>
                      <a:pPr algn="l">
                        <a:lnSpc>
                          <a:spcPct val="107000"/>
                        </a:lnSpc>
                        <a:spcAft>
                          <a:spcPts val="0"/>
                        </a:spcAft>
                      </a:pPr>
                      <a:r>
                        <a:rPr lang="es-ES" sz="1600" dirty="0">
                          <a:effectLst/>
                          <a:latin typeface="Arial" panose="020B0604020202020204" pitchFamily="34" charset="0"/>
                          <a:cs typeface="Arial" panose="020B0604020202020204" pitchFamily="34" charset="0"/>
                        </a:rPr>
                        <a:t>Primario</a:t>
                      </a:r>
                      <a:endParaRPr lang="es-BO" sz="1400" dirty="0">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tc>
                <a:extLst>
                  <a:ext uri="{0D108BD9-81ED-4DB2-BD59-A6C34878D82A}">
                    <a16:rowId xmlns:a16="http://schemas.microsoft.com/office/drawing/2014/main" val="10002"/>
                  </a:ext>
                </a:extLst>
              </a:tr>
              <a:tr h="506253">
                <a:tc>
                  <a:txBody>
                    <a:bodyPr/>
                    <a:lstStyle/>
                    <a:p>
                      <a:pPr algn="ctr">
                        <a:lnSpc>
                          <a:spcPct val="107000"/>
                        </a:lnSpc>
                        <a:spcAft>
                          <a:spcPts val="0"/>
                        </a:spcAft>
                      </a:pPr>
                      <a:r>
                        <a:rPr lang="es-ES" sz="1600">
                          <a:effectLst/>
                          <a:latin typeface="Arial" panose="020B0604020202020204" pitchFamily="34" charset="0"/>
                          <a:cs typeface="Arial" panose="020B0604020202020204" pitchFamily="34" charset="0"/>
                        </a:rPr>
                        <a:t>DESCRIPCIÓN</a:t>
                      </a:r>
                      <a:endParaRPr lang="es-BO" sz="1400">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nchor="ctr"/>
                </a:tc>
                <a:tc>
                  <a:txBody>
                    <a:bodyPr/>
                    <a:lstStyle/>
                    <a:p>
                      <a:pPr algn="l">
                        <a:lnSpc>
                          <a:spcPct val="107000"/>
                        </a:lnSpc>
                        <a:spcAft>
                          <a:spcPts val="0"/>
                        </a:spcAft>
                      </a:pPr>
                      <a:r>
                        <a:rPr lang="es-ES" sz="1600" dirty="0">
                          <a:effectLst/>
                          <a:latin typeface="Arial" panose="020B0604020202020204" pitchFamily="34" charset="0"/>
                          <a:cs typeface="Arial" panose="020B0604020202020204" pitchFamily="34" charset="0"/>
                        </a:rPr>
                        <a:t>Es un actor primario y representa la persona que dirige el </a:t>
                      </a:r>
                      <a:endParaRPr lang="es-BO" sz="1400" dirty="0">
                        <a:effectLst/>
                        <a:latin typeface="Arial" panose="020B0604020202020204" pitchFamily="34" charset="0"/>
                        <a:cs typeface="Arial" panose="020B0604020202020204" pitchFamily="34" charset="0"/>
                      </a:endParaRPr>
                    </a:p>
                    <a:p>
                      <a:pPr algn="l">
                        <a:lnSpc>
                          <a:spcPct val="107000"/>
                        </a:lnSpc>
                        <a:spcAft>
                          <a:spcPts val="0"/>
                        </a:spcAft>
                      </a:pPr>
                      <a:r>
                        <a:rPr lang="es-ES" sz="1600" dirty="0">
                          <a:effectLst/>
                          <a:latin typeface="Arial" panose="020B0604020202020204" pitchFamily="34" charset="0"/>
                          <a:cs typeface="Arial" panose="020B0604020202020204" pitchFamily="34" charset="0"/>
                        </a:rPr>
                        <a:t>Sistema.</a:t>
                      </a:r>
                      <a:endParaRPr lang="es-BO" sz="1400" dirty="0">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tc>
                <a:extLst>
                  <a:ext uri="{0D108BD9-81ED-4DB2-BD59-A6C34878D82A}">
                    <a16:rowId xmlns:a16="http://schemas.microsoft.com/office/drawing/2014/main" val="10003"/>
                  </a:ext>
                </a:extLst>
              </a:tr>
            </a:tbl>
          </a:graphicData>
        </a:graphic>
      </p:graphicFrame>
      <p:pic>
        <p:nvPicPr>
          <p:cNvPr id="18" name="Imagen 17" descr="Recorte de pantalla"/>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866625" y="2711895"/>
            <a:ext cx="1781810" cy="3512712"/>
          </a:xfrm>
          <a:prstGeom prst="rect">
            <a:avLst/>
          </a:prstGeom>
        </p:spPr>
      </p:pic>
    </p:spTree>
    <p:extLst>
      <p:ext uri="{BB962C8B-B14F-4D97-AF65-F5344CB8AC3E}">
        <p14:creationId xmlns:p14="http://schemas.microsoft.com/office/powerpoint/2010/main" val="201604761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 name="Imagen 12"/>
          <p:cNvPicPr>
            <a:picLocks noChangeAspect="1"/>
          </p:cNvPicPr>
          <p:nvPr/>
        </p:nvPicPr>
        <p:blipFill>
          <a:blip r:embed="rId2">
            <a:lum bright="70000" contrast="-70000"/>
            <a:extLst>
              <a:ext uri="{28A0092B-C50C-407E-A947-70E740481C1C}">
                <a14:useLocalDpi xmlns:a14="http://schemas.microsoft.com/office/drawing/2010/main" val="0"/>
              </a:ext>
            </a:extLst>
          </a:blip>
          <a:stretch>
            <a:fillRect/>
          </a:stretch>
        </p:blipFill>
        <p:spPr>
          <a:xfrm>
            <a:off x="3626272" y="1788565"/>
            <a:ext cx="3786310" cy="4006096"/>
          </a:xfrm>
          <a:prstGeom prst="rect">
            <a:avLst/>
          </a:prstGeom>
        </p:spPr>
      </p:pic>
      <p:sp>
        <p:nvSpPr>
          <p:cNvPr id="2" name="Rectángulo 1"/>
          <p:cNvSpPr/>
          <p:nvPr/>
        </p:nvSpPr>
        <p:spPr>
          <a:xfrm>
            <a:off x="0" y="0"/>
            <a:ext cx="10753859" cy="1200329"/>
          </a:xfrm>
          <a:prstGeom prst="rect">
            <a:avLst/>
          </a:prstGeom>
          <a:solidFill>
            <a:schemeClr val="accent6"/>
          </a:solidFill>
        </p:spPr>
        <p:txBody>
          <a:bodyPr wrap="square" lIns="91440" tIns="45720" rIns="91440" bIns="45720">
            <a:spAutoFit/>
          </a:bodyPr>
          <a:lstStyle/>
          <a:p>
            <a:pPr algn="ctr"/>
            <a:r>
              <a:rPr lang="es-ES" sz="4400" b="1" cap="none" spc="0" dirty="0">
                <a:ln w="0"/>
                <a:solidFill>
                  <a:schemeClr val="bg1"/>
                </a:solidFill>
                <a:effectLst>
                  <a:outerShdw blurRad="50800" dist="38100" dir="2700000" algn="tl" rotWithShape="0">
                    <a:prstClr val="black">
                      <a:alpha val="40000"/>
                    </a:prstClr>
                  </a:outerShdw>
                </a:effectLst>
              </a:rPr>
              <a:t>INSTITUTO TECNOLOGICO SACABA (ITSa)</a:t>
            </a:r>
          </a:p>
          <a:p>
            <a:pPr algn="ctr"/>
            <a:r>
              <a:rPr lang="es-ES" sz="2800" b="1" dirty="0">
                <a:ln w="0"/>
                <a:solidFill>
                  <a:schemeClr val="bg1"/>
                </a:solidFill>
                <a:effectLst>
                  <a:outerShdw blurRad="50800" dist="38100" dir="2700000" algn="tl" rotWithShape="0">
                    <a:prstClr val="black">
                      <a:alpha val="40000"/>
                    </a:prstClr>
                  </a:outerShdw>
                </a:effectLst>
              </a:rPr>
              <a:t>CARRERA: INFORMATICA INDUSTRIAL I/2026</a:t>
            </a:r>
            <a:endParaRPr lang="es-ES" sz="2400" b="1" cap="none" spc="0" dirty="0">
              <a:ln w="0"/>
              <a:solidFill>
                <a:schemeClr val="bg1"/>
              </a:solidFill>
              <a:effectLst>
                <a:outerShdw blurRad="50800" dist="38100" dir="2700000" algn="tl" rotWithShape="0">
                  <a:prstClr val="black">
                    <a:alpha val="40000"/>
                  </a:prstClr>
                </a:outerShdw>
              </a:effectLst>
            </a:endParaRPr>
          </a:p>
        </p:txBody>
      </p:sp>
      <p:sp>
        <p:nvSpPr>
          <p:cNvPr id="4" name="Título 1">
            <a:extLst>
              <a:ext uri="{FF2B5EF4-FFF2-40B4-BE49-F238E27FC236}">
                <a16:creationId xmlns:a16="http://schemas.microsoft.com/office/drawing/2014/main" id="{6D3B085D-D1AD-4597-80AF-57AD660C8506}"/>
              </a:ext>
            </a:extLst>
          </p:cNvPr>
          <p:cNvSpPr txBox="1">
            <a:spLocks/>
          </p:cNvSpPr>
          <p:nvPr/>
        </p:nvSpPr>
        <p:spPr>
          <a:xfrm>
            <a:off x="109470" y="1200329"/>
            <a:ext cx="5267459" cy="588236"/>
          </a:xfrm>
          <a:prstGeom prst="rect">
            <a:avLst/>
          </a:prstGeom>
        </p:spPr>
        <p:txBody>
          <a:bodyPr anchor="b"/>
          <a:lstStyle>
            <a:lvl1pPr algn="ctr" defTabSz="914400" rtl="0" eaLnBrk="1" latinLnBrk="0" hangingPunct="1">
              <a:lnSpc>
                <a:spcPct val="90000"/>
              </a:lnSpc>
              <a:spcBef>
                <a:spcPct val="0"/>
              </a:spcBef>
              <a:buNone/>
              <a:defRPr sz="6000" b="1" kern="1200">
                <a:solidFill>
                  <a:schemeClr val="bg1"/>
                </a:solidFill>
                <a:effectLst>
                  <a:outerShdw blurRad="38100" dist="38100" dir="2700000" algn="tl">
                    <a:srgbClr val="000000">
                      <a:alpha val="43137"/>
                    </a:srgbClr>
                  </a:outerShdw>
                </a:effectLst>
                <a:latin typeface="+mn-lt"/>
                <a:ea typeface="+mj-ea"/>
                <a:cs typeface="+mj-cs"/>
              </a:defRPr>
            </a:lvl1pPr>
          </a:lstStyle>
          <a:p>
            <a:pPr algn="l"/>
            <a:r>
              <a:rPr lang="es-BO" sz="3600" u="sng" dirty="0">
                <a:solidFill>
                  <a:srgbClr val="002060"/>
                </a:solidFill>
                <a:effectLst/>
              </a:rPr>
              <a:t>DESCRIPCIÓN DE ACTORES</a:t>
            </a:r>
          </a:p>
        </p:txBody>
      </p:sp>
      <p:sp>
        <p:nvSpPr>
          <p:cNvPr id="5" name="CuadroTexto 4"/>
          <p:cNvSpPr txBox="1"/>
          <p:nvPr/>
        </p:nvSpPr>
        <p:spPr>
          <a:xfrm>
            <a:off x="283336" y="1788565"/>
            <a:ext cx="11240794" cy="369332"/>
          </a:xfrm>
          <a:prstGeom prst="rect">
            <a:avLst/>
          </a:prstGeom>
          <a:noFill/>
        </p:spPr>
        <p:txBody>
          <a:bodyPr wrap="square" rtlCol="0">
            <a:spAutoFit/>
          </a:bodyPr>
          <a:lstStyle/>
          <a:p>
            <a:r>
              <a:rPr lang="es-MX" dirty="0">
                <a:latin typeface="Arial" panose="020B0604020202020204" pitchFamily="34" charset="0"/>
                <a:cs typeface="Arial" panose="020B0604020202020204" pitchFamily="34" charset="0"/>
              </a:rPr>
              <a:t>Operador (Jardinero): Es el actor con acceso limitado al sistema. En SARQUE corresponde a los 6 jardineros que trabajan en el parque. Pueden consultar el cronograma de riego, visualizar qué sector está siendo regado en el momento y ver los reportes, pero no tienen permisos para modificar la programación. Su rol es principalmente operativo: verificar el estado de las electroválvulas, atender mantenimientos puntuales y reportar incidencias.</a:t>
            </a:r>
            <a:endParaRPr lang="es-BO" dirty="0"/>
          </a:p>
        </p:txBody>
      </p:sp>
      <p:pic>
        <p:nvPicPr>
          <p:cNvPr id="10" name="Imagen 9"/>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740979" y="5553635"/>
            <a:ext cx="1334479" cy="1210235"/>
          </a:xfrm>
          <a:prstGeom prst="rect">
            <a:avLst/>
          </a:prstGeom>
        </p:spPr>
      </p:pic>
      <p:pic>
        <p:nvPicPr>
          <p:cNvPr id="12" name="Imagen 11"/>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0802583" y="-5379"/>
            <a:ext cx="1321802" cy="1200329"/>
          </a:xfrm>
          <a:prstGeom prst="rect">
            <a:avLst/>
          </a:prstGeom>
        </p:spPr>
      </p:pic>
      <p:graphicFrame>
        <p:nvGraphicFramePr>
          <p:cNvPr id="6" name="Tabla 5"/>
          <p:cNvGraphicFramePr>
            <a:graphicFrameLocks noGrp="1"/>
          </p:cNvGraphicFramePr>
          <p:nvPr>
            <p:extLst>
              <p:ext uri="{D42A27DB-BD31-4B8C-83A1-F6EECF244321}">
                <p14:modId xmlns:p14="http://schemas.microsoft.com/office/powerpoint/2010/main" val="1027675505"/>
              </p:ext>
            </p:extLst>
          </p:nvPr>
        </p:nvGraphicFramePr>
        <p:xfrm>
          <a:off x="3186582" y="2819469"/>
          <a:ext cx="7567277" cy="3082768"/>
        </p:xfrm>
        <a:graphic>
          <a:graphicData uri="http://schemas.openxmlformats.org/drawingml/2006/table">
            <a:tbl>
              <a:tblPr firstRow="1" firstCol="1" bandRow="1">
                <a:tableStyleId>{93296810-A885-4BE3-A3E7-6D5BEEA58F35}</a:tableStyleId>
              </a:tblPr>
              <a:tblGrid>
                <a:gridCol w="1808043">
                  <a:extLst>
                    <a:ext uri="{9D8B030D-6E8A-4147-A177-3AD203B41FA5}">
                      <a16:colId xmlns:a16="http://schemas.microsoft.com/office/drawing/2014/main" val="20000"/>
                    </a:ext>
                  </a:extLst>
                </a:gridCol>
                <a:gridCol w="5759234">
                  <a:extLst>
                    <a:ext uri="{9D8B030D-6E8A-4147-A177-3AD203B41FA5}">
                      <a16:colId xmlns:a16="http://schemas.microsoft.com/office/drawing/2014/main" val="20001"/>
                    </a:ext>
                  </a:extLst>
                </a:gridCol>
              </a:tblGrid>
              <a:tr h="294471">
                <a:tc>
                  <a:txBody>
                    <a:bodyPr/>
                    <a:lstStyle/>
                    <a:p>
                      <a:pPr algn="ctr">
                        <a:lnSpc>
                          <a:spcPct val="107000"/>
                        </a:lnSpc>
                        <a:spcAft>
                          <a:spcPts val="0"/>
                        </a:spcAft>
                      </a:pPr>
                      <a:r>
                        <a:rPr lang="es-ES" sz="1800" dirty="0">
                          <a:effectLst/>
                          <a:latin typeface="Arial" panose="020B0604020202020204" pitchFamily="34" charset="0"/>
                          <a:cs typeface="Arial" panose="020B0604020202020204" pitchFamily="34" charset="0"/>
                        </a:rPr>
                        <a:t>ACTOR</a:t>
                      </a:r>
                      <a:endParaRPr lang="es-BO" sz="1800" dirty="0">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tc>
                <a:tc>
                  <a:txBody>
                    <a:bodyPr/>
                    <a:lstStyle/>
                    <a:p>
                      <a:pPr algn="ctr">
                        <a:lnSpc>
                          <a:spcPct val="107000"/>
                        </a:lnSpc>
                        <a:spcAft>
                          <a:spcPts val="0"/>
                        </a:spcAft>
                      </a:pPr>
                      <a:r>
                        <a:rPr lang="es-ES" sz="1800" dirty="0">
                          <a:effectLst/>
                          <a:latin typeface="Arial" panose="020B0604020202020204" pitchFamily="34" charset="0"/>
                          <a:cs typeface="Arial" panose="020B0604020202020204" pitchFamily="34" charset="0"/>
                        </a:rPr>
                        <a:t>Empleado Encargado</a:t>
                      </a:r>
                      <a:endParaRPr lang="es-BO" sz="1800" dirty="0">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tc>
                <a:extLst>
                  <a:ext uri="{0D108BD9-81ED-4DB2-BD59-A6C34878D82A}">
                    <a16:rowId xmlns:a16="http://schemas.microsoft.com/office/drawing/2014/main" val="10000"/>
                  </a:ext>
                </a:extLst>
              </a:tr>
              <a:tr h="1564394">
                <a:tc>
                  <a:txBody>
                    <a:bodyPr/>
                    <a:lstStyle/>
                    <a:p>
                      <a:pPr algn="ctr">
                        <a:lnSpc>
                          <a:spcPct val="107000"/>
                        </a:lnSpc>
                        <a:spcAft>
                          <a:spcPts val="0"/>
                        </a:spcAft>
                      </a:pPr>
                      <a:r>
                        <a:rPr lang="es-ES" sz="1800">
                          <a:effectLst/>
                          <a:latin typeface="Arial" panose="020B0604020202020204" pitchFamily="34" charset="0"/>
                          <a:cs typeface="Arial" panose="020B0604020202020204" pitchFamily="34" charset="0"/>
                        </a:rPr>
                        <a:t>CASO DE USO</a:t>
                      </a:r>
                      <a:endParaRPr lang="es-BO" sz="1800">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nchor="ctr"/>
                </a:tc>
                <a:tc>
                  <a:txBody>
                    <a:bodyPr/>
                    <a:lstStyle/>
                    <a:p>
                      <a:pPr algn="just">
                        <a:lnSpc>
                          <a:spcPct val="107000"/>
                        </a:lnSpc>
                        <a:spcAft>
                          <a:spcPts val="0"/>
                        </a:spcAft>
                      </a:pPr>
                      <a:r>
                        <a:rPr lang="es-ES" sz="1800" dirty="0">
                          <a:effectLst/>
                          <a:latin typeface="Arial" panose="020B0604020202020204" pitchFamily="34" charset="0"/>
                          <a:cs typeface="Arial" panose="020B0604020202020204" pitchFamily="34" charset="0"/>
                        </a:rPr>
                        <a:t> </a:t>
                      </a:r>
                      <a:endParaRPr lang="es-BO" sz="1800" dirty="0">
                        <a:effectLst/>
                        <a:latin typeface="Arial" panose="020B0604020202020204" pitchFamily="34" charset="0"/>
                        <a:cs typeface="Arial" panose="020B0604020202020204" pitchFamily="34" charset="0"/>
                      </a:endParaRPr>
                    </a:p>
                    <a:p>
                      <a:pPr algn="just">
                        <a:lnSpc>
                          <a:spcPct val="107000"/>
                        </a:lnSpc>
                        <a:spcAft>
                          <a:spcPts val="0"/>
                        </a:spcAft>
                      </a:pPr>
                      <a:r>
                        <a:rPr lang="es-ES" sz="1800" dirty="0">
                          <a:effectLst/>
                          <a:latin typeface="Arial" panose="020B0604020202020204" pitchFamily="34" charset="0"/>
                          <a:cs typeface="Arial" panose="020B0604020202020204" pitchFamily="34" charset="0"/>
                        </a:rPr>
                        <a:t>Gestionar registro de uso de parqueo.</a:t>
                      </a:r>
                      <a:endParaRPr lang="es-BO" sz="1800" dirty="0">
                        <a:effectLst/>
                        <a:latin typeface="Arial" panose="020B0604020202020204" pitchFamily="34" charset="0"/>
                        <a:cs typeface="Arial" panose="020B0604020202020204" pitchFamily="34" charset="0"/>
                      </a:endParaRPr>
                    </a:p>
                    <a:p>
                      <a:pPr algn="just">
                        <a:lnSpc>
                          <a:spcPct val="107000"/>
                        </a:lnSpc>
                        <a:spcAft>
                          <a:spcPts val="0"/>
                        </a:spcAft>
                        <a:tabLst>
                          <a:tab pos="1243965" algn="l"/>
                        </a:tabLst>
                      </a:pPr>
                      <a:r>
                        <a:rPr lang="es-ES" sz="1800" dirty="0">
                          <a:effectLst/>
                          <a:latin typeface="Arial" panose="020B0604020202020204" pitchFamily="34" charset="0"/>
                          <a:cs typeface="Arial" panose="020B0604020202020204" pitchFamily="34" charset="0"/>
                        </a:rPr>
                        <a:t>	</a:t>
                      </a:r>
                      <a:endParaRPr lang="es-BO" sz="1800" dirty="0">
                        <a:effectLst/>
                        <a:latin typeface="Arial" panose="020B0604020202020204" pitchFamily="34" charset="0"/>
                        <a:cs typeface="Arial" panose="020B0604020202020204" pitchFamily="34" charset="0"/>
                      </a:endParaRPr>
                    </a:p>
                    <a:p>
                      <a:pPr algn="just">
                        <a:lnSpc>
                          <a:spcPct val="107000"/>
                        </a:lnSpc>
                        <a:spcAft>
                          <a:spcPts val="0"/>
                        </a:spcAft>
                      </a:pPr>
                      <a:r>
                        <a:rPr lang="es-ES" sz="1800" dirty="0">
                          <a:effectLst/>
                          <a:latin typeface="Arial" panose="020B0604020202020204" pitchFamily="34" charset="0"/>
                          <a:cs typeface="Arial" panose="020B0604020202020204" pitchFamily="34" charset="0"/>
                        </a:rPr>
                        <a:t>Gestionar lista de vehículos.</a:t>
                      </a:r>
                      <a:endParaRPr lang="es-BO" sz="1800" dirty="0">
                        <a:effectLst/>
                        <a:latin typeface="Arial" panose="020B0604020202020204" pitchFamily="34" charset="0"/>
                        <a:cs typeface="Arial" panose="020B0604020202020204" pitchFamily="34" charset="0"/>
                      </a:endParaRPr>
                    </a:p>
                    <a:p>
                      <a:pPr algn="just">
                        <a:lnSpc>
                          <a:spcPct val="107000"/>
                        </a:lnSpc>
                        <a:spcAft>
                          <a:spcPts val="0"/>
                        </a:spcAft>
                      </a:pPr>
                      <a:r>
                        <a:rPr lang="es-ES" sz="1800" dirty="0">
                          <a:effectLst/>
                          <a:latin typeface="Arial" panose="020B0604020202020204" pitchFamily="34" charset="0"/>
                          <a:cs typeface="Arial" panose="020B0604020202020204" pitchFamily="34" charset="0"/>
                        </a:rPr>
                        <a:t> </a:t>
                      </a:r>
                      <a:endParaRPr lang="es-BO" sz="1800" dirty="0">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tc>
                <a:extLst>
                  <a:ext uri="{0D108BD9-81ED-4DB2-BD59-A6C34878D82A}">
                    <a16:rowId xmlns:a16="http://schemas.microsoft.com/office/drawing/2014/main" val="10001"/>
                  </a:ext>
                </a:extLst>
              </a:tr>
              <a:tr h="294471">
                <a:tc>
                  <a:txBody>
                    <a:bodyPr/>
                    <a:lstStyle/>
                    <a:p>
                      <a:pPr algn="ctr">
                        <a:lnSpc>
                          <a:spcPct val="107000"/>
                        </a:lnSpc>
                        <a:spcAft>
                          <a:spcPts val="0"/>
                        </a:spcAft>
                      </a:pPr>
                      <a:r>
                        <a:rPr lang="es-ES" sz="1800" dirty="0">
                          <a:effectLst/>
                          <a:latin typeface="Arial" panose="020B0604020202020204" pitchFamily="34" charset="0"/>
                          <a:cs typeface="Arial" panose="020B0604020202020204" pitchFamily="34" charset="0"/>
                        </a:rPr>
                        <a:t>TIPO</a:t>
                      </a:r>
                      <a:endParaRPr lang="es-BO" sz="1800" dirty="0">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nchor="ctr"/>
                </a:tc>
                <a:tc>
                  <a:txBody>
                    <a:bodyPr/>
                    <a:lstStyle/>
                    <a:p>
                      <a:pPr algn="just">
                        <a:lnSpc>
                          <a:spcPct val="107000"/>
                        </a:lnSpc>
                        <a:spcAft>
                          <a:spcPts val="0"/>
                        </a:spcAft>
                      </a:pPr>
                      <a:r>
                        <a:rPr lang="es-ES" sz="1800">
                          <a:effectLst/>
                          <a:latin typeface="Arial" panose="020B0604020202020204" pitchFamily="34" charset="0"/>
                          <a:cs typeface="Arial" panose="020B0604020202020204" pitchFamily="34" charset="0"/>
                        </a:rPr>
                        <a:t>Primario </a:t>
                      </a:r>
                      <a:endParaRPr lang="es-BO" sz="1800">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tc>
                <a:extLst>
                  <a:ext uri="{0D108BD9-81ED-4DB2-BD59-A6C34878D82A}">
                    <a16:rowId xmlns:a16="http://schemas.microsoft.com/office/drawing/2014/main" val="10002"/>
                  </a:ext>
                </a:extLst>
              </a:tr>
              <a:tr h="929432">
                <a:tc>
                  <a:txBody>
                    <a:bodyPr/>
                    <a:lstStyle/>
                    <a:p>
                      <a:pPr algn="ctr">
                        <a:lnSpc>
                          <a:spcPct val="107000"/>
                        </a:lnSpc>
                        <a:spcAft>
                          <a:spcPts val="0"/>
                        </a:spcAft>
                      </a:pPr>
                      <a:r>
                        <a:rPr lang="es-ES" sz="1800" dirty="0">
                          <a:effectLst/>
                          <a:latin typeface="Arial" panose="020B0604020202020204" pitchFamily="34" charset="0"/>
                          <a:cs typeface="Arial" panose="020B0604020202020204" pitchFamily="34" charset="0"/>
                        </a:rPr>
                        <a:t>DESCRIPCIÓN</a:t>
                      </a:r>
                      <a:endParaRPr lang="es-BO" sz="1800" dirty="0">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nchor="ctr"/>
                </a:tc>
                <a:tc>
                  <a:txBody>
                    <a:bodyPr/>
                    <a:lstStyle/>
                    <a:p>
                      <a:pPr algn="just">
                        <a:lnSpc>
                          <a:spcPct val="107000"/>
                        </a:lnSpc>
                        <a:spcAft>
                          <a:spcPts val="0"/>
                        </a:spcAft>
                      </a:pPr>
                      <a:endParaRPr lang="es-ES" sz="1800" dirty="0">
                        <a:effectLst/>
                        <a:latin typeface="Arial" panose="020B0604020202020204" pitchFamily="34" charset="0"/>
                        <a:cs typeface="Arial" panose="020B0604020202020204" pitchFamily="34" charset="0"/>
                      </a:endParaRPr>
                    </a:p>
                    <a:p>
                      <a:pPr algn="just">
                        <a:lnSpc>
                          <a:spcPct val="107000"/>
                        </a:lnSpc>
                        <a:spcAft>
                          <a:spcPts val="0"/>
                        </a:spcAft>
                      </a:pPr>
                      <a:r>
                        <a:rPr lang="es-ES" sz="1800" dirty="0">
                          <a:effectLst/>
                          <a:latin typeface="Arial" panose="020B0604020202020204" pitchFamily="34" charset="0"/>
                          <a:cs typeface="Arial" panose="020B0604020202020204" pitchFamily="34" charset="0"/>
                        </a:rPr>
                        <a:t>Es un actor que tiene acceso limitado al sistema</a:t>
                      </a:r>
                      <a:endParaRPr lang="es-BO" sz="1800" dirty="0">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tc>
                <a:extLst>
                  <a:ext uri="{0D108BD9-81ED-4DB2-BD59-A6C34878D82A}">
                    <a16:rowId xmlns:a16="http://schemas.microsoft.com/office/drawing/2014/main" val="10003"/>
                  </a:ext>
                </a:extLst>
              </a:tr>
            </a:tbl>
          </a:graphicData>
        </a:graphic>
      </p:graphicFrame>
      <p:pic>
        <p:nvPicPr>
          <p:cNvPr id="14" name="Imagen 13" descr="Recorte de pantalla"/>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35985" y="2376801"/>
            <a:ext cx="2034109" cy="3586060"/>
          </a:xfrm>
          <a:prstGeom prst="rect">
            <a:avLst/>
          </a:prstGeom>
        </p:spPr>
      </p:pic>
    </p:spTree>
    <p:extLst>
      <p:ext uri="{BB962C8B-B14F-4D97-AF65-F5344CB8AC3E}">
        <p14:creationId xmlns:p14="http://schemas.microsoft.com/office/powerpoint/2010/main" val="277381157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 name="Imagen 12"/>
          <p:cNvPicPr>
            <a:picLocks noChangeAspect="1"/>
          </p:cNvPicPr>
          <p:nvPr/>
        </p:nvPicPr>
        <p:blipFill>
          <a:blip r:embed="rId2">
            <a:lum bright="70000" contrast="-70000"/>
            <a:extLst>
              <a:ext uri="{28A0092B-C50C-407E-A947-70E740481C1C}">
                <a14:useLocalDpi xmlns:a14="http://schemas.microsoft.com/office/drawing/2010/main" val="0"/>
              </a:ext>
            </a:extLst>
          </a:blip>
          <a:stretch>
            <a:fillRect/>
          </a:stretch>
        </p:blipFill>
        <p:spPr>
          <a:xfrm>
            <a:off x="3626272" y="1788565"/>
            <a:ext cx="3786310" cy="4006096"/>
          </a:xfrm>
          <a:prstGeom prst="rect">
            <a:avLst/>
          </a:prstGeom>
        </p:spPr>
      </p:pic>
      <p:sp>
        <p:nvSpPr>
          <p:cNvPr id="2" name="Rectángulo 1"/>
          <p:cNvSpPr/>
          <p:nvPr/>
        </p:nvSpPr>
        <p:spPr>
          <a:xfrm>
            <a:off x="0" y="0"/>
            <a:ext cx="10753859" cy="1200329"/>
          </a:xfrm>
          <a:prstGeom prst="rect">
            <a:avLst/>
          </a:prstGeom>
          <a:solidFill>
            <a:schemeClr val="accent6"/>
          </a:solidFill>
        </p:spPr>
        <p:txBody>
          <a:bodyPr wrap="square" lIns="91440" tIns="45720" rIns="91440" bIns="45720">
            <a:spAutoFit/>
          </a:bodyPr>
          <a:lstStyle/>
          <a:p>
            <a:pPr algn="ctr"/>
            <a:r>
              <a:rPr lang="es-ES" sz="4400" b="1" cap="none" spc="0" dirty="0">
                <a:ln w="0"/>
                <a:solidFill>
                  <a:schemeClr val="bg1"/>
                </a:solidFill>
                <a:effectLst>
                  <a:outerShdw blurRad="50800" dist="38100" dir="2700000" algn="tl" rotWithShape="0">
                    <a:prstClr val="black">
                      <a:alpha val="40000"/>
                    </a:prstClr>
                  </a:outerShdw>
                </a:effectLst>
              </a:rPr>
              <a:t>INSTITUTO TECNOLOGICO SACABA (ITSa)</a:t>
            </a:r>
          </a:p>
          <a:p>
            <a:pPr algn="ctr"/>
            <a:r>
              <a:rPr lang="es-ES" sz="2800" b="1" dirty="0">
                <a:ln w="0"/>
                <a:solidFill>
                  <a:schemeClr val="bg1"/>
                </a:solidFill>
                <a:effectLst>
                  <a:outerShdw blurRad="50800" dist="38100" dir="2700000" algn="tl" rotWithShape="0">
                    <a:prstClr val="black">
                      <a:alpha val="40000"/>
                    </a:prstClr>
                  </a:outerShdw>
                </a:effectLst>
              </a:rPr>
              <a:t>CARRERA: INFORMATICA INDUSTRIAL I/2026</a:t>
            </a:r>
            <a:endParaRPr lang="es-ES" sz="2400" b="1" cap="none" spc="0" dirty="0">
              <a:ln w="0"/>
              <a:solidFill>
                <a:schemeClr val="bg1"/>
              </a:solidFill>
              <a:effectLst>
                <a:outerShdw blurRad="50800" dist="38100" dir="2700000" algn="tl" rotWithShape="0">
                  <a:prstClr val="black">
                    <a:alpha val="40000"/>
                  </a:prstClr>
                </a:outerShdw>
              </a:effectLst>
            </a:endParaRPr>
          </a:p>
        </p:txBody>
      </p:sp>
      <p:sp>
        <p:nvSpPr>
          <p:cNvPr id="4" name="Título 1">
            <a:extLst>
              <a:ext uri="{FF2B5EF4-FFF2-40B4-BE49-F238E27FC236}">
                <a16:creationId xmlns:a16="http://schemas.microsoft.com/office/drawing/2014/main" id="{6D3B085D-D1AD-4597-80AF-57AD660C8506}"/>
              </a:ext>
            </a:extLst>
          </p:cNvPr>
          <p:cNvSpPr txBox="1">
            <a:spLocks/>
          </p:cNvSpPr>
          <p:nvPr/>
        </p:nvSpPr>
        <p:spPr>
          <a:xfrm>
            <a:off x="109470" y="1200329"/>
            <a:ext cx="5267459" cy="588236"/>
          </a:xfrm>
          <a:prstGeom prst="rect">
            <a:avLst/>
          </a:prstGeom>
        </p:spPr>
        <p:txBody>
          <a:bodyPr anchor="b"/>
          <a:lstStyle>
            <a:lvl1pPr algn="ctr" defTabSz="914400" rtl="0" eaLnBrk="1" latinLnBrk="0" hangingPunct="1">
              <a:lnSpc>
                <a:spcPct val="90000"/>
              </a:lnSpc>
              <a:spcBef>
                <a:spcPct val="0"/>
              </a:spcBef>
              <a:buNone/>
              <a:defRPr sz="6000" b="1" kern="1200">
                <a:solidFill>
                  <a:schemeClr val="bg1"/>
                </a:solidFill>
                <a:effectLst>
                  <a:outerShdw blurRad="38100" dist="38100" dir="2700000" algn="tl">
                    <a:srgbClr val="000000">
                      <a:alpha val="43137"/>
                    </a:srgbClr>
                  </a:outerShdw>
                </a:effectLst>
                <a:latin typeface="+mn-lt"/>
                <a:ea typeface="+mj-ea"/>
                <a:cs typeface="+mj-cs"/>
              </a:defRPr>
            </a:lvl1pPr>
          </a:lstStyle>
          <a:p>
            <a:pPr algn="l"/>
            <a:r>
              <a:rPr lang="es-BO" sz="3600" u="sng" dirty="0">
                <a:solidFill>
                  <a:srgbClr val="002060"/>
                </a:solidFill>
                <a:effectLst/>
              </a:rPr>
              <a:t>DESCRIPCIÓN DE ACTORES</a:t>
            </a:r>
          </a:p>
        </p:txBody>
      </p:sp>
      <p:sp>
        <p:nvSpPr>
          <p:cNvPr id="5" name="CuadroTexto 4"/>
          <p:cNvSpPr txBox="1"/>
          <p:nvPr/>
        </p:nvSpPr>
        <p:spPr>
          <a:xfrm>
            <a:off x="215720" y="1783186"/>
            <a:ext cx="11908665" cy="369332"/>
          </a:xfrm>
          <a:prstGeom prst="rect">
            <a:avLst/>
          </a:prstGeom>
          <a:noFill/>
        </p:spPr>
        <p:txBody>
          <a:bodyPr wrap="square" rtlCol="0">
            <a:spAutoFit/>
          </a:bodyPr>
          <a:lstStyle/>
          <a:p>
            <a:pPr lvl="0"/>
            <a:r>
              <a:rPr lang="es-ES" dirty="0">
                <a:latin typeface="Arial" panose="020B0604020202020204" pitchFamily="34" charset="0"/>
                <a:cs typeface="Arial" panose="020B0604020202020204" pitchFamily="34" charset="0"/>
              </a:rPr>
              <a:t>Controlador K-Rain BL-KR: </a:t>
            </a:r>
            <a:r>
              <a:rPr lang="es-ES" sz="1800" dirty="0">
                <a:effectLst/>
                <a:latin typeface="Arial" panose="020B0604020202020204" pitchFamily="34" charset="0"/>
                <a:cs typeface="Arial" panose="020B0604020202020204" pitchFamily="34" charset="0"/>
              </a:rPr>
              <a:t>Es el actor secundario (dispositivo) que ejecuta la apertura y cierre de las electroválvulas según el cronograma programado desde la app móvil K-RainBL. En SARQUE se utilizan 6 controladores (2 BL-KR2 + 3 BL-KR4 + 1 BL-KR6) con un total de 22 estaciones. Cada controlador opera con batería 9V y se comunica con el smartphone del administrador mediante Bluetooth Low Energy (BLE).</a:t>
            </a:r>
            <a:endParaRPr lang="es-BO" dirty="0">
              <a:latin typeface="Arial" panose="020B0604020202020204" pitchFamily="34" charset="0"/>
              <a:cs typeface="Arial" panose="020B0604020202020204" pitchFamily="34" charset="0"/>
            </a:endParaRPr>
          </a:p>
        </p:txBody>
      </p:sp>
      <p:graphicFrame>
        <p:nvGraphicFramePr>
          <p:cNvPr id="9" name="Tabla 8"/>
          <p:cNvGraphicFramePr>
            <a:graphicFrameLocks noGrp="1"/>
          </p:cNvGraphicFramePr>
          <p:nvPr>
            <p:extLst>
              <p:ext uri="{D42A27DB-BD31-4B8C-83A1-F6EECF244321}">
                <p14:modId xmlns:p14="http://schemas.microsoft.com/office/powerpoint/2010/main" val="428448011"/>
              </p:ext>
            </p:extLst>
          </p:nvPr>
        </p:nvGraphicFramePr>
        <p:xfrm>
          <a:off x="2812039" y="2713734"/>
          <a:ext cx="7928939" cy="3861784"/>
        </p:xfrm>
        <a:graphic>
          <a:graphicData uri="http://schemas.openxmlformats.org/drawingml/2006/table">
            <a:tbl>
              <a:tblPr firstRow="1" firstCol="1" bandRow="1">
                <a:tableStyleId>{93296810-A885-4BE3-A3E7-6D5BEEA58F35}</a:tableStyleId>
              </a:tblPr>
              <a:tblGrid>
                <a:gridCol w="1936334">
                  <a:extLst>
                    <a:ext uri="{9D8B030D-6E8A-4147-A177-3AD203B41FA5}">
                      <a16:colId xmlns:a16="http://schemas.microsoft.com/office/drawing/2014/main" val="20000"/>
                    </a:ext>
                  </a:extLst>
                </a:gridCol>
                <a:gridCol w="5992605">
                  <a:extLst>
                    <a:ext uri="{9D8B030D-6E8A-4147-A177-3AD203B41FA5}">
                      <a16:colId xmlns:a16="http://schemas.microsoft.com/office/drawing/2014/main" val="20001"/>
                    </a:ext>
                  </a:extLst>
                </a:gridCol>
              </a:tblGrid>
              <a:tr h="450965">
                <a:tc>
                  <a:txBody>
                    <a:bodyPr/>
                    <a:lstStyle/>
                    <a:p>
                      <a:pPr algn="ctr">
                        <a:lnSpc>
                          <a:spcPct val="150000"/>
                        </a:lnSpc>
                        <a:spcBef>
                          <a:spcPts val="1200"/>
                        </a:spcBef>
                        <a:spcAft>
                          <a:spcPts val="0"/>
                        </a:spcAft>
                      </a:pPr>
                      <a:r>
                        <a:rPr lang="es-ES" sz="1800" dirty="0">
                          <a:effectLst/>
                          <a:latin typeface="Arial" panose="020B0604020202020204" pitchFamily="34" charset="0"/>
                          <a:cs typeface="Arial" panose="020B0604020202020204" pitchFamily="34" charset="0"/>
                        </a:rPr>
                        <a:t>ACTOR</a:t>
                      </a:r>
                      <a:endParaRPr lang="es-BO" sz="1800" dirty="0">
                        <a:effectLst/>
                        <a:latin typeface="Arial" panose="020B0604020202020204" pitchFamily="34" charset="0"/>
                        <a:ea typeface="Arial" panose="020B0604020202020204" pitchFamily="34" charset="0"/>
                        <a:cs typeface="Arial" panose="020B0604020202020204" pitchFamily="34" charset="0"/>
                      </a:endParaRPr>
                    </a:p>
                  </a:txBody>
                  <a:tcPr marL="68580" marR="68580" marT="0" marB="0"/>
                </a:tc>
                <a:tc>
                  <a:txBody>
                    <a:bodyPr/>
                    <a:lstStyle/>
                    <a:p>
                      <a:pPr algn="ctr">
                        <a:lnSpc>
                          <a:spcPct val="150000"/>
                        </a:lnSpc>
                        <a:spcBef>
                          <a:spcPts val="1200"/>
                        </a:spcBef>
                        <a:spcAft>
                          <a:spcPts val="0"/>
                        </a:spcAft>
                      </a:pPr>
                      <a:r>
                        <a:rPr lang="es-ES" sz="1800" dirty="0">
                          <a:effectLst/>
                          <a:latin typeface="Arial" panose="020B0604020202020204" pitchFamily="34" charset="0"/>
                          <a:cs typeface="Arial" panose="020B0604020202020204" pitchFamily="34" charset="0"/>
                        </a:rPr>
                        <a:t>Arduino</a:t>
                      </a:r>
                      <a:endParaRPr lang="es-BO" sz="1800" dirty="0">
                        <a:effectLst/>
                        <a:latin typeface="Arial" panose="020B0604020202020204" pitchFamily="34" charset="0"/>
                        <a:ea typeface="Arial" panose="020B0604020202020204" pitchFamily="34" charset="0"/>
                        <a:cs typeface="Arial" panose="020B0604020202020204" pitchFamily="34" charset="0"/>
                      </a:endParaRPr>
                    </a:p>
                  </a:txBody>
                  <a:tcPr marL="68580" marR="68580" marT="0" marB="0"/>
                </a:tc>
                <a:extLst>
                  <a:ext uri="{0D108BD9-81ED-4DB2-BD59-A6C34878D82A}">
                    <a16:rowId xmlns:a16="http://schemas.microsoft.com/office/drawing/2014/main" val="10000"/>
                  </a:ext>
                </a:extLst>
              </a:tr>
              <a:tr h="965446">
                <a:tc>
                  <a:txBody>
                    <a:bodyPr/>
                    <a:lstStyle/>
                    <a:p>
                      <a:pPr algn="ctr">
                        <a:lnSpc>
                          <a:spcPct val="150000"/>
                        </a:lnSpc>
                        <a:spcBef>
                          <a:spcPts val="1200"/>
                        </a:spcBef>
                        <a:spcAft>
                          <a:spcPts val="0"/>
                        </a:spcAft>
                      </a:pPr>
                      <a:r>
                        <a:rPr lang="es-ES" sz="1800" dirty="0">
                          <a:effectLst/>
                          <a:latin typeface="Arial" panose="020B0604020202020204" pitchFamily="34" charset="0"/>
                          <a:cs typeface="Arial" panose="020B0604020202020204" pitchFamily="34" charset="0"/>
                        </a:rPr>
                        <a:t>CASO DE USO</a:t>
                      </a:r>
                      <a:endParaRPr lang="es-BO" sz="1800" dirty="0">
                        <a:effectLst/>
                        <a:latin typeface="Arial" panose="020B0604020202020204" pitchFamily="34" charset="0"/>
                        <a:ea typeface="Arial" panose="020B0604020202020204" pitchFamily="34" charset="0"/>
                        <a:cs typeface="Arial" panose="020B0604020202020204" pitchFamily="34" charset="0"/>
                      </a:endParaRPr>
                    </a:p>
                  </a:txBody>
                  <a:tcPr marL="68580" marR="68580" marT="0" marB="0" anchor="ctr"/>
                </a:tc>
                <a:tc>
                  <a:txBody>
                    <a:bodyPr/>
                    <a:lstStyle/>
                    <a:p>
                      <a:pPr algn="just">
                        <a:lnSpc>
                          <a:spcPct val="150000"/>
                        </a:lnSpc>
                        <a:spcBef>
                          <a:spcPts val="1200"/>
                        </a:spcBef>
                        <a:spcAft>
                          <a:spcPts val="0"/>
                        </a:spcAft>
                      </a:pPr>
                      <a:r>
                        <a:rPr lang="es-ES" sz="1800" dirty="0">
                          <a:effectLst/>
                          <a:latin typeface="Arial" panose="020B0604020202020204" pitchFamily="34" charset="0"/>
                          <a:cs typeface="Arial" panose="020B0604020202020204" pitchFamily="34" charset="0"/>
                        </a:rPr>
                        <a:t>Manejo de la automatización a petición al prototipo del sistema principal.</a:t>
                      </a:r>
                      <a:endParaRPr lang="es-BO" sz="1800" dirty="0">
                        <a:effectLst/>
                        <a:latin typeface="Arial" panose="020B0604020202020204" pitchFamily="34" charset="0"/>
                        <a:ea typeface="Arial" panose="020B0604020202020204" pitchFamily="34" charset="0"/>
                        <a:cs typeface="Arial" panose="020B0604020202020204" pitchFamily="34" charset="0"/>
                      </a:endParaRPr>
                    </a:p>
                  </a:txBody>
                  <a:tcPr marL="68580" marR="68580" marT="0" marB="0"/>
                </a:tc>
                <a:extLst>
                  <a:ext uri="{0D108BD9-81ED-4DB2-BD59-A6C34878D82A}">
                    <a16:rowId xmlns:a16="http://schemas.microsoft.com/office/drawing/2014/main" val="10001"/>
                  </a:ext>
                </a:extLst>
              </a:tr>
              <a:tr h="450965">
                <a:tc>
                  <a:txBody>
                    <a:bodyPr/>
                    <a:lstStyle/>
                    <a:p>
                      <a:pPr algn="ctr">
                        <a:lnSpc>
                          <a:spcPct val="150000"/>
                        </a:lnSpc>
                        <a:spcBef>
                          <a:spcPts val="1200"/>
                        </a:spcBef>
                        <a:spcAft>
                          <a:spcPts val="0"/>
                        </a:spcAft>
                      </a:pPr>
                      <a:r>
                        <a:rPr lang="es-ES" sz="1800" dirty="0">
                          <a:effectLst/>
                          <a:latin typeface="Arial" panose="020B0604020202020204" pitchFamily="34" charset="0"/>
                          <a:cs typeface="Arial" panose="020B0604020202020204" pitchFamily="34" charset="0"/>
                        </a:rPr>
                        <a:t>TIPO</a:t>
                      </a:r>
                      <a:endParaRPr lang="es-BO" sz="1800" dirty="0">
                        <a:effectLst/>
                        <a:latin typeface="Arial" panose="020B0604020202020204" pitchFamily="34" charset="0"/>
                        <a:ea typeface="Arial" panose="020B0604020202020204" pitchFamily="34" charset="0"/>
                        <a:cs typeface="Arial" panose="020B0604020202020204" pitchFamily="34" charset="0"/>
                      </a:endParaRPr>
                    </a:p>
                  </a:txBody>
                  <a:tcPr marL="68580" marR="68580" marT="0" marB="0" anchor="ctr"/>
                </a:tc>
                <a:tc>
                  <a:txBody>
                    <a:bodyPr/>
                    <a:lstStyle/>
                    <a:p>
                      <a:pPr algn="just">
                        <a:lnSpc>
                          <a:spcPct val="150000"/>
                        </a:lnSpc>
                        <a:spcBef>
                          <a:spcPts val="1200"/>
                        </a:spcBef>
                        <a:spcAft>
                          <a:spcPts val="0"/>
                        </a:spcAft>
                      </a:pPr>
                      <a:r>
                        <a:rPr lang="es-ES" sz="1800" dirty="0">
                          <a:effectLst/>
                          <a:latin typeface="Arial" panose="020B0604020202020204" pitchFamily="34" charset="0"/>
                          <a:cs typeface="Arial" panose="020B0604020202020204" pitchFamily="34" charset="0"/>
                        </a:rPr>
                        <a:t>Secundario </a:t>
                      </a:r>
                      <a:endParaRPr lang="es-BO" sz="1800" dirty="0">
                        <a:effectLst/>
                        <a:latin typeface="Arial" panose="020B0604020202020204" pitchFamily="34" charset="0"/>
                        <a:ea typeface="Arial" panose="020B0604020202020204" pitchFamily="34" charset="0"/>
                        <a:cs typeface="Arial" panose="020B0604020202020204" pitchFamily="34" charset="0"/>
                      </a:endParaRPr>
                    </a:p>
                  </a:txBody>
                  <a:tcPr marL="68580" marR="68580" marT="0" marB="0"/>
                </a:tc>
                <a:extLst>
                  <a:ext uri="{0D108BD9-81ED-4DB2-BD59-A6C34878D82A}">
                    <a16:rowId xmlns:a16="http://schemas.microsoft.com/office/drawing/2014/main" val="10002"/>
                  </a:ext>
                </a:extLst>
              </a:tr>
              <a:tr h="1994408">
                <a:tc>
                  <a:txBody>
                    <a:bodyPr/>
                    <a:lstStyle/>
                    <a:p>
                      <a:pPr algn="ctr">
                        <a:lnSpc>
                          <a:spcPct val="150000"/>
                        </a:lnSpc>
                        <a:spcBef>
                          <a:spcPts val="1200"/>
                        </a:spcBef>
                        <a:spcAft>
                          <a:spcPts val="0"/>
                        </a:spcAft>
                      </a:pPr>
                      <a:r>
                        <a:rPr lang="es-ES" sz="1800" dirty="0">
                          <a:effectLst/>
                          <a:latin typeface="Arial" panose="020B0604020202020204" pitchFamily="34" charset="0"/>
                          <a:cs typeface="Arial" panose="020B0604020202020204" pitchFamily="34" charset="0"/>
                        </a:rPr>
                        <a:t>DISCRIPCION</a:t>
                      </a:r>
                      <a:endParaRPr lang="es-BO" sz="1800" dirty="0">
                        <a:effectLst/>
                        <a:latin typeface="Arial" panose="020B0604020202020204" pitchFamily="34" charset="0"/>
                        <a:ea typeface="Arial" panose="020B0604020202020204" pitchFamily="34" charset="0"/>
                        <a:cs typeface="Arial" panose="020B0604020202020204" pitchFamily="34" charset="0"/>
                      </a:endParaRPr>
                    </a:p>
                  </a:txBody>
                  <a:tcPr marL="68580" marR="68580" marT="0" marB="0" anchor="ctr"/>
                </a:tc>
                <a:tc>
                  <a:txBody>
                    <a:bodyPr/>
                    <a:lstStyle/>
                    <a:p>
                      <a:pPr algn="just">
                        <a:lnSpc>
                          <a:spcPct val="150000"/>
                        </a:lnSpc>
                        <a:spcBef>
                          <a:spcPts val="1200"/>
                        </a:spcBef>
                        <a:spcAft>
                          <a:spcPts val="0"/>
                        </a:spcAft>
                      </a:pPr>
                      <a:r>
                        <a:rPr lang="es-ES" sz="1800" dirty="0">
                          <a:effectLst/>
                          <a:latin typeface="Arial" panose="020B0604020202020204" pitchFamily="34" charset="0"/>
                          <a:cs typeface="Arial" panose="020B0604020202020204" pitchFamily="34" charset="0"/>
                        </a:rPr>
                        <a:t>Realiza acciones dependiendo a la petición del sistema</a:t>
                      </a:r>
                      <a:r>
                        <a:rPr lang="es-BO" sz="1800" baseline="0" dirty="0">
                          <a:effectLst/>
                          <a:latin typeface="Arial" panose="020B0604020202020204" pitchFamily="34" charset="0"/>
                          <a:cs typeface="Arial" panose="020B0604020202020204" pitchFamily="34" charset="0"/>
                        </a:rPr>
                        <a:t> </a:t>
                      </a:r>
                      <a:r>
                        <a:rPr lang="es-ES" sz="1800" dirty="0">
                          <a:effectLst/>
                          <a:latin typeface="Arial" panose="020B0604020202020204" pitchFamily="34" charset="0"/>
                          <a:cs typeface="Arial" panose="020B0604020202020204" pitchFamily="34" charset="0"/>
                        </a:rPr>
                        <a:t>el cual controla la etapa de accionamiento de</a:t>
                      </a:r>
                      <a:r>
                        <a:rPr lang="es-BO" sz="1800" baseline="0" dirty="0">
                          <a:effectLst/>
                          <a:latin typeface="Arial" panose="020B0604020202020204" pitchFamily="34" charset="0"/>
                          <a:cs typeface="Arial" panose="020B0604020202020204" pitchFamily="34" charset="0"/>
                        </a:rPr>
                        <a:t> </a:t>
                      </a:r>
                      <a:r>
                        <a:rPr lang="es-ES" sz="1800" dirty="0">
                          <a:effectLst/>
                          <a:latin typeface="Arial" panose="020B0604020202020204" pitchFamily="34" charset="0"/>
                          <a:cs typeface="Arial" panose="020B0604020202020204" pitchFamily="34" charset="0"/>
                        </a:rPr>
                        <a:t>los actuadores y la</a:t>
                      </a:r>
                      <a:r>
                        <a:rPr lang="es-ES" sz="1800" baseline="0" dirty="0">
                          <a:effectLst/>
                          <a:latin typeface="Arial" panose="020B0604020202020204" pitchFamily="34" charset="0"/>
                          <a:cs typeface="Arial" panose="020B0604020202020204" pitchFamily="34" charset="0"/>
                        </a:rPr>
                        <a:t> </a:t>
                      </a:r>
                      <a:r>
                        <a:rPr lang="es-ES" sz="1800" dirty="0">
                          <a:effectLst/>
                          <a:latin typeface="Arial" panose="020B0604020202020204" pitchFamily="34" charset="0"/>
                          <a:cs typeface="Arial" panose="020B0604020202020204" pitchFamily="34" charset="0"/>
                        </a:rPr>
                        <a:t>automatización de los distintos</a:t>
                      </a:r>
                      <a:r>
                        <a:rPr lang="es-BO" sz="1800" baseline="0" dirty="0">
                          <a:effectLst/>
                          <a:latin typeface="Arial" panose="020B0604020202020204" pitchFamily="34" charset="0"/>
                          <a:cs typeface="Arial" panose="020B0604020202020204" pitchFamily="34" charset="0"/>
                        </a:rPr>
                        <a:t> </a:t>
                      </a:r>
                      <a:r>
                        <a:rPr lang="es-ES" sz="1800" dirty="0">
                          <a:effectLst/>
                          <a:latin typeface="Arial" panose="020B0604020202020204" pitchFamily="34" charset="0"/>
                          <a:cs typeface="Arial" panose="020B0604020202020204" pitchFamily="34" charset="0"/>
                        </a:rPr>
                        <a:t>Procesos de parte del Software al Hardware.</a:t>
                      </a:r>
                      <a:endParaRPr lang="es-BO" sz="1800" dirty="0">
                        <a:effectLst/>
                        <a:latin typeface="Arial" panose="020B0604020202020204" pitchFamily="34" charset="0"/>
                        <a:ea typeface="Arial" panose="020B0604020202020204" pitchFamily="34" charset="0"/>
                        <a:cs typeface="Arial" panose="020B0604020202020204" pitchFamily="34" charset="0"/>
                      </a:endParaRPr>
                    </a:p>
                  </a:txBody>
                  <a:tcPr marL="68580" marR="68580" marT="0" marB="0"/>
                </a:tc>
                <a:extLst>
                  <a:ext uri="{0D108BD9-81ED-4DB2-BD59-A6C34878D82A}">
                    <a16:rowId xmlns:a16="http://schemas.microsoft.com/office/drawing/2014/main" val="10003"/>
                  </a:ext>
                </a:extLst>
              </a:tr>
            </a:tbl>
          </a:graphicData>
        </a:graphic>
      </p:graphicFrame>
      <p:pic>
        <p:nvPicPr>
          <p:cNvPr id="10" name="Imagen 9"/>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740979" y="5553635"/>
            <a:ext cx="1334479" cy="1210235"/>
          </a:xfrm>
          <a:prstGeom prst="rect">
            <a:avLst/>
          </a:prstGeom>
        </p:spPr>
      </p:pic>
      <p:pic>
        <p:nvPicPr>
          <p:cNvPr id="12" name="Imagen 11"/>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0802583" y="-5379"/>
            <a:ext cx="1321802" cy="1200329"/>
          </a:xfrm>
          <a:prstGeom prst="rect">
            <a:avLst/>
          </a:prstGeom>
        </p:spPr>
      </p:pic>
      <p:pic>
        <p:nvPicPr>
          <p:cNvPr id="11" name="Imagen 10" descr="Recorte de pantalla"/>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981636" y="2713734"/>
            <a:ext cx="1830404" cy="3646725"/>
          </a:xfrm>
          <a:prstGeom prst="rect">
            <a:avLst/>
          </a:prstGeom>
        </p:spPr>
      </p:pic>
    </p:spTree>
    <p:extLst>
      <p:ext uri="{BB962C8B-B14F-4D97-AF65-F5344CB8AC3E}">
        <p14:creationId xmlns:p14="http://schemas.microsoft.com/office/powerpoint/2010/main" val="195157399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Imagen 9"/>
          <p:cNvPicPr>
            <a:picLocks noChangeAspect="1"/>
          </p:cNvPicPr>
          <p:nvPr/>
        </p:nvPicPr>
        <p:blipFill>
          <a:blip r:embed="rId2">
            <a:lum bright="70000" contrast="-70000"/>
            <a:extLst>
              <a:ext uri="{28A0092B-C50C-407E-A947-70E740481C1C}">
                <a14:useLocalDpi xmlns:a14="http://schemas.microsoft.com/office/drawing/2010/main" val="0"/>
              </a:ext>
            </a:extLst>
          </a:blip>
          <a:stretch>
            <a:fillRect/>
          </a:stretch>
        </p:blipFill>
        <p:spPr>
          <a:xfrm>
            <a:off x="3626272" y="1888268"/>
            <a:ext cx="3786310" cy="4006096"/>
          </a:xfrm>
          <a:prstGeom prst="rect">
            <a:avLst/>
          </a:prstGeom>
        </p:spPr>
      </p:pic>
      <p:sp>
        <p:nvSpPr>
          <p:cNvPr id="2" name="Rectángulo 1"/>
          <p:cNvSpPr/>
          <p:nvPr/>
        </p:nvSpPr>
        <p:spPr>
          <a:xfrm>
            <a:off x="0" y="0"/>
            <a:ext cx="10740980" cy="1200329"/>
          </a:xfrm>
          <a:prstGeom prst="rect">
            <a:avLst/>
          </a:prstGeom>
          <a:solidFill>
            <a:schemeClr val="accent6"/>
          </a:solidFill>
        </p:spPr>
        <p:txBody>
          <a:bodyPr wrap="square" lIns="91440" tIns="45720" rIns="91440" bIns="45720">
            <a:spAutoFit/>
          </a:bodyPr>
          <a:lstStyle/>
          <a:p>
            <a:pPr algn="ctr"/>
            <a:r>
              <a:rPr lang="es-ES" sz="4400" b="1" cap="none" spc="0" dirty="0">
                <a:ln w="0"/>
                <a:solidFill>
                  <a:schemeClr val="bg1"/>
                </a:solidFill>
                <a:effectLst>
                  <a:outerShdw blurRad="50800" dist="38100" dir="2700000" algn="tl" rotWithShape="0">
                    <a:prstClr val="black">
                      <a:alpha val="40000"/>
                    </a:prstClr>
                  </a:outerShdw>
                </a:effectLst>
              </a:rPr>
              <a:t>INSTITUTO TECNOLOGICO SACABA (ITSa)</a:t>
            </a:r>
          </a:p>
          <a:p>
            <a:pPr algn="ctr"/>
            <a:r>
              <a:rPr lang="es-ES" sz="2800" b="1" dirty="0">
                <a:ln w="0"/>
                <a:solidFill>
                  <a:schemeClr val="bg1"/>
                </a:solidFill>
                <a:effectLst>
                  <a:outerShdw blurRad="50800" dist="38100" dir="2700000" algn="tl" rotWithShape="0">
                    <a:prstClr val="black">
                      <a:alpha val="40000"/>
                    </a:prstClr>
                  </a:outerShdw>
                </a:effectLst>
              </a:rPr>
              <a:t>CARRERA: INFORMATICA INDUSTRIAL I/2026</a:t>
            </a:r>
            <a:endParaRPr lang="es-ES" sz="2400" b="1" cap="none" spc="0" dirty="0">
              <a:ln w="0"/>
              <a:solidFill>
                <a:schemeClr val="bg1"/>
              </a:solidFill>
              <a:effectLst>
                <a:outerShdw blurRad="50800" dist="38100" dir="2700000" algn="tl" rotWithShape="0">
                  <a:prstClr val="black">
                    <a:alpha val="40000"/>
                  </a:prstClr>
                </a:outerShdw>
              </a:effectLst>
            </a:endParaRPr>
          </a:p>
        </p:txBody>
      </p:sp>
      <p:sp>
        <p:nvSpPr>
          <p:cNvPr id="4" name="Título 1">
            <a:extLst>
              <a:ext uri="{FF2B5EF4-FFF2-40B4-BE49-F238E27FC236}">
                <a16:creationId xmlns:a16="http://schemas.microsoft.com/office/drawing/2014/main" id="{6D3B085D-D1AD-4597-80AF-57AD660C8506}"/>
              </a:ext>
            </a:extLst>
          </p:cNvPr>
          <p:cNvSpPr txBox="1">
            <a:spLocks/>
          </p:cNvSpPr>
          <p:nvPr/>
        </p:nvSpPr>
        <p:spPr>
          <a:xfrm>
            <a:off x="512618" y="1594150"/>
            <a:ext cx="9103659" cy="588236"/>
          </a:xfrm>
          <a:prstGeom prst="rect">
            <a:avLst/>
          </a:prstGeom>
        </p:spPr>
        <p:txBody>
          <a:bodyPr anchor="b"/>
          <a:lstStyle>
            <a:lvl1pPr algn="ctr" defTabSz="914400" rtl="0" eaLnBrk="1" latinLnBrk="0" hangingPunct="1">
              <a:lnSpc>
                <a:spcPct val="90000"/>
              </a:lnSpc>
              <a:spcBef>
                <a:spcPct val="0"/>
              </a:spcBef>
              <a:buNone/>
              <a:defRPr sz="6000" b="1" kern="1200">
                <a:solidFill>
                  <a:schemeClr val="bg1"/>
                </a:solidFill>
                <a:effectLst>
                  <a:outerShdw blurRad="38100" dist="38100" dir="2700000" algn="tl">
                    <a:srgbClr val="000000">
                      <a:alpha val="43137"/>
                    </a:srgbClr>
                  </a:outerShdw>
                </a:effectLst>
                <a:latin typeface="+mn-lt"/>
                <a:ea typeface="+mj-ea"/>
                <a:cs typeface="+mj-cs"/>
              </a:defRPr>
            </a:lvl1pPr>
          </a:lstStyle>
          <a:p>
            <a:pPr algn="l"/>
            <a:r>
              <a:rPr lang="es-BO" sz="3600" u="sng" dirty="0">
                <a:solidFill>
                  <a:srgbClr val="002060"/>
                </a:solidFill>
                <a:effectLst/>
              </a:rPr>
              <a:t>LA VISTA DE CASOS DE USO</a:t>
            </a:r>
          </a:p>
        </p:txBody>
      </p:sp>
      <p:pic>
        <p:nvPicPr>
          <p:cNvPr id="7" name="Imagen 6"/>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740979" y="5553635"/>
            <a:ext cx="1334479" cy="1210235"/>
          </a:xfrm>
          <a:prstGeom prst="rect">
            <a:avLst/>
          </a:prstGeom>
        </p:spPr>
      </p:pic>
      <p:pic>
        <p:nvPicPr>
          <p:cNvPr id="9" name="Imagen 8"/>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0802583" y="-5379"/>
            <a:ext cx="1321802" cy="1200329"/>
          </a:xfrm>
          <a:prstGeom prst="rect">
            <a:avLst/>
          </a:prstGeom>
        </p:spPr>
      </p:pic>
      <p:sp>
        <p:nvSpPr>
          <p:cNvPr id="3" name="Rectángulo 2"/>
          <p:cNvSpPr/>
          <p:nvPr/>
        </p:nvSpPr>
        <p:spPr>
          <a:xfrm>
            <a:off x="1064803" y="2507938"/>
            <a:ext cx="9676176" cy="2438135"/>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just">
              <a:lnSpc>
                <a:spcPct val="150000"/>
              </a:lnSpc>
            </a:pPr>
            <a:r>
              <a:rPr lang="es-BO" sz="2400" dirty="0">
                <a:latin typeface="Arial" panose="020B0604020202020204" pitchFamily="34" charset="0"/>
                <a:cs typeface="Arial" panose="020B0604020202020204" pitchFamily="34" charset="0"/>
              </a:rPr>
              <a:t>Modela la funcionalidad del sistema tal como la perciben los actores externos que interactúan con SARQUE: el Administrador (propietaria del parque), el Operador (jardinero), la App K-RainBL en el smartphone, y los Controladores BL-KR como dispositivos.</a:t>
            </a:r>
          </a:p>
        </p:txBody>
      </p:sp>
    </p:spTree>
    <p:extLst>
      <p:ext uri="{BB962C8B-B14F-4D97-AF65-F5344CB8AC3E}">
        <p14:creationId xmlns:p14="http://schemas.microsoft.com/office/powerpoint/2010/main" val="384797781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Imagen 9"/>
          <p:cNvPicPr>
            <a:picLocks noChangeAspect="1"/>
          </p:cNvPicPr>
          <p:nvPr/>
        </p:nvPicPr>
        <p:blipFill>
          <a:blip r:embed="rId2">
            <a:lum bright="70000" contrast="-70000"/>
            <a:extLst>
              <a:ext uri="{28A0092B-C50C-407E-A947-70E740481C1C}">
                <a14:useLocalDpi xmlns:a14="http://schemas.microsoft.com/office/drawing/2010/main" val="0"/>
              </a:ext>
            </a:extLst>
          </a:blip>
          <a:stretch>
            <a:fillRect/>
          </a:stretch>
        </p:blipFill>
        <p:spPr>
          <a:xfrm>
            <a:off x="3626272" y="1888268"/>
            <a:ext cx="3786310" cy="4006096"/>
          </a:xfrm>
          <a:prstGeom prst="rect">
            <a:avLst/>
          </a:prstGeom>
        </p:spPr>
      </p:pic>
      <p:sp>
        <p:nvSpPr>
          <p:cNvPr id="2" name="Rectángulo 1"/>
          <p:cNvSpPr/>
          <p:nvPr/>
        </p:nvSpPr>
        <p:spPr>
          <a:xfrm>
            <a:off x="1" y="0"/>
            <a:ext cx="10802581" cy="1200329"/>
          </a:xfrm>
          <a:prstGeom prst="rect">
            <a:avLst/>
          </a:prstGeom>
          <a:solidFill>
            <a:schemeClr val="accent6"/>
          </a:solidFill>
        </p:spPr>
        <p:txBody>
          <a:bodyPr wrap="square" lIns="91440" tIns="45720" rIns="91440" bIns="45720">
            <a:spAutoFit/>
          </a:bodyPr>
          <a:lstStyle/>
          <a:p>
            <a:pPr algn="ctr"/>
            <a:r>
              <a:rPr lang="es-ES" sz="4400" b="1" cap="none" spc="0" dirty="0">
                <a:ln w="0"/>
                <a:solidFill>
                  <a:schemeClr val="bg1"/>
                </a:solidFill>
                <a:effectLst>
                  <a:outerShdw blurRad="50800" dist="38100" dir="2700000" algn="tl" rotWithShape="0">
                    <a:prstClr val="black">
                      <a:alpha val="40000"/>
                    </a:prstClr>
                  </a:outerShdw>
                </a:effectLst>
              </a:rPr>
              <a:t>INSTITUTO TECNOLOGICO SACABA (ITSa)</a:t>
            </a:r>
          </a:p>
          <a:p>
            <a:pPr algn="ctr"/>
            <a:r>
              <a:rPr lang="es-ES" sz="2800" b="1" dirty="0">
                <a:ln w="0"/>
                <a:solidFill>
                  <a:schemeClr val="bg1"/>
                </a:solidFill>
                <a:effectLst>
                  <a:outerShdw blurRad="50800" dist="38100" dir="2700000" algn="tl" rotWithShape="0">
                    <a:prstClr val="black">
                      <a:alpha val="40000"/>
                    </a:prstClr>
                  </a:outerShdw>
                </a:effectLst>
              </a:rPr>
              <a:t>CARRERA: INFORMATICA INDUSTRIAL I/2026</a:t>
            </a:r>
            <a:endParaRPr lang="es-ES" sz="2400" b="1" cap="none" spc="0" dirty="0">
              <a:ln w="0"/>
              <a:solidFill>
                <a:schemeClr val="bg1"/>
              </a:solidFill>
              <a:effectLst>
                <a:outerShdw blurRad="50800" dist="38100" dir="2700000" algn="tl" rotWithShape="0">
                  <a:prstClr val="black">
                    <a:alpha val="40000"/>
                  </a:prstClr>
                </a:outerShdw>
              </a:effectLst>
            </a:endParaRPr>
          </a:p>
        </p:txBody>
      </p:sp>
      <p:sp>
        <p:nvSpPr>
          <p:cNvPr id="4" name="Título 1">
            <a:extLst>
              <a:ext uri="{FF2B5EF4-FFF2-40B4-BE49-F238E27FC236}">
                <a16:creationId xmlns:a16="http://schemas.microsoft.com/office/drawing/2014/main" id="{6D3B085D-D1AD-4597-80AF-57AD660C8506}"/>
              </a:ext>
            </a:extLst>
          </p:cNvPr>
          <p:cNvSpPr txBox="1">
            <a:spLocks/>
          </p:cNvSpPr>
          <p:nvPr/>
        </p:nvSpPr>
        <p:spPr>
          <a:xfrm>
            <a:off x="1" y="1430992"/>
            <a:ext cx="3181082" cy="588236"/>
          </a:xfrm>
          <a:prstGeom prst="rect">
            <a:avLst/>
          </a:prstGeom>
        </p:spPr>
        <p:txBody>
          <a:bodyPr anchor="b"/>
          <a:lstStyle>
            <a:lvl1pPr algn="ctr" defTabSz="914400" rtl="0" eaLnBrk="1" latinLnBrk="0" hangingPunct="1">
              <a:lnSpc>
                <a:spcPct val="90000"/>
              </a:lnSpc>
              <a:spcBef>
                <a:spcPct val="0"/>
              </a:spcBef>
              <a:buNone/>
              <a:defRPr sz="6000" b="1" kern="1200">
                <a:solidFill>
                  <a:schemeClr val="bg1"/>
                </a:solidFill>
                <a:effectLst>
                  <a:outerShdw blurRad="38100" dist="38100" dir="2700000" algn="tl">
                    <a:srgbClr val="000000">
                      <a:alpha val="43137"/>
                    </a:srgbClr>
                  </a:outerShdw>
                </a:effectLst>
                <a:latin typeface="+mn-lt"/>
                <a:ea typeface="+mj-ea"/>
                <a:cs typeface="+mj-cs"/>
              </a:defRPr>
            </a:lvl1pPr>
          </a:lstStyle>
          <a:p>
            <a:pPr algn="l"/>
            <a:r>
              <a:rPr lang="es-BO" sz="3600" u="sng" dirty="0">
                <a:solidFill>
                  <a:srgbClr val="002060"/>
                </a:solidFill>
                <a:effectLst/>
              </a:rPr>
              <a:t>CASOS DE USO</a:t>
            </a:r>
          </a:p>
        </p:txBody>
      </p:sp>
      <p:sp>
        <p:nvSpPr>
          <p:cNvPr id="5" name="CuadroTexto 4"/>
          <p:cNvSpPr txBox="1"/>
          <p:nvPr/>
        </p:nvSpPr>
        <p:spPr>
          <a:xfrm>
            <a:off x="299921" y="2019228"/>
            <a:ext cx="6190382" cy="646331"/>
          </a:xfrm>
          <a:prstGeom prst="rect">
            <a:avLst/>
          </a:prstGeom>
          <a:noFill/>
        </p:spPr>
        <p:txBody>
          <a:bodyPr wrap="square" rtlCol="0">
            <a:spAutoFit/>
          </a:bodyPr>
          <a:lstStyle/>
          <a:p>
            <a:pPr algn="just"/>
            <a:r>
              <a:rPr lang="es-MX" dirty="0">
                <a:latin typeface="Arial" panose="020B0604020202020204" pitchFamily="34" charset="0"/>
                <a:cs typeface="Arial" panose="020B0604020202020204" pitchFamily="34" charset="0"/>
              </a:rPr>
              <a:t>Diagrama de casos de uso del Administrador (Propietaria)</a:t>
            </a:r>
          </a:p>
          <a:p>
            <a:pPr algn="just"/>
            <a:r>
              <a:rPr lang="es-MX" dirty="0">
                <a:latin typeface="Arial" panose="020B0604020202020204" pitchFamily="34" charset="0"/>
                <a:cs typeface="Arial" panose="020B0604020202020204" pitchFamily="34" charset="0"/>
              </a:rPr>
              <a:t>Incluye: iniciar sesión, gestionar sectores, gestionar controladores BL-KR, definir cronograma, visualizar sector activo, consultar reportes.</a:t>
            </a:r>
          </a:p>
        </p:txBody>
      </p:sp>
      <p:pic>
        <p:nvPicPr>
          <p:cNvPr id="7" name="Imagen 6"/>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740979" y="5553635"/>
            <a:ext cx="1334479" cy="1210235"/>
          </a:xfrm>
          <a:prstGeom prst="rect">
            <a:avLst/>
          </a:prstGeom>
        </p:spPr>
      </p:pic>
      <p:pic>
        <p:nvPicPr>
          <p:cNvPr id="9" name="Imagen 8"/>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0802583" y="-5379"/>
            <a:ext cx="1321802" cy="1200329"/>
          </a:xfrm>
          <a:prstGeom prst="rect">
            <a:avLst/>
          </a:prstGeom>
        </p:spPr>
      </p:pic>
      <p:pic>
        <p:nvPicPr>
          <p:cNvPr id="12" name="Imagen 11"/>
          <p:cNvPicPr/>
          <p:nvPr/>
        </p:nvPicPr>
        <p:blipFill>
          <a:blip r:embed="rId5">
            <a:extLst>
              <a:ext uri="{28A0092B-C50C-407E-A947-70E740481C1C}">
                <a14:useLocalDpi xmlns:a14="http://schemas.microsoft.com/office/drawing/2010/main" val="0"/>
              </a:ext>
            </a:extLst>
          </a:blip>
          <a:stretch>
            <a:fillRect/>
          </a:stretch>
        </p:blipFill>
        <p:spPr>
          <a:xfrm>
            <a:off x="3203351" y="2593758"/>
            <a:ext cx="5612130" cy="3966767"/>
          </a:xfrm>
          <a:prstGeom prst="rect">
            <a:avLst/>
          </a:prstGeom>
        </p:spPr>
      </p:pic>
    </p:spTree>
    <p:extLst>
      <p:ext uri="{BB962C8B-B14F-4D97-AF65-F5344CB8AC3E}">
        <p14:creationId xmlns:p14="http://schemas.microsoft.com/office/powerpoint/2010/main" val="382944342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Imagen 9"/>
          <p:cNvPicPr>
            <a:picLocks noChangeAspect="1"/>
          </p:cNvPicPr>
          <p:nvPr/>
        </p:nvPicPr>
        <p:blipFill>
          <a:blip r:embed="rId2">
            <a:lum bright="70000" contrast="-70000"/>
            <a:extLst>
              <a:ext uri="{28A0092B-C50C-407E-A947-70E740481C1C}">
                <a14:useLocalDpi xmlns:a14="http://schemas.microsoft.com/office/drawing/2010/main" val="0"/>
              </a:ext>
            </a:extLst>
          </a:blip>
          <a:stretch>
            <a:fillRect/>
          </a:stretch>
        </p:blipFill>
        <p:spPr>
          <a:xfrm>
            <a:off x="3626272" y="1888268"/>
            <a:ext cx="3786310" cy="4006096"/>
          </a:xfrm>
          <a:prstGeom prst="rect">
            <a:avLst/>
          </a:prstGeom>
        </p:spPr>
      </p:pic>
      <p:sp>
        <p:nvSpPr>
          <p:cNvPr id="2" name="Rectángulo 1"/>
          <p:cNvSpPr/>
          <p:nvPr/>
        </p:nvSpPr>
        <p:spPr>
          <a:xfrm>
            <a:off x="1" y="0"/>
            <a:ext cx="10802581" cy="1200329"/>
          </a:xfrm>
          <a:prstGeom prst="rect">
            <a:avLst/>
          </a:prstGeom>
          <a:solidFill>
            <a:schemeClr val="accent6"/>
          </a:solidFill>
        </p:spPr>
        <p:txBody>
          <a:bodyPr wrap="square" lIns="91440" tIns="45720" rIns="91440" bIns="45720">
            <a:spAutoFit/>
          </a:bodyPr>
          <a:lstStyle/>
          <a:p>
            <a:pPr algn="ctr"/>
            <a:r>
              <a:rPr lang="es-ES" sz="4400" b="1" cap="none" spc="0" dirty="0">
                <a:ln w="0"/>
                <a:solidFill>
                  <a:schemeClr val="bg1"/>
                </a:solidFill>
                <a:effectLst>
                  <a:outerShdw blurRad="50800" dist="38100" dir="2700000" algn="tl" rotWithShape="0">
                    <a:prstClr val="black">
                      <a:alpha val="40000"/>
                    </a:prstClr>
                  </a:outerShdw>
                </a:effectLst>
              </a:rPr>
              <a:t>INSTITUTO TECNOLOGICO SACABA (ITSa)</a:t>
            </a:r>
          </a:p>
          <a:p>
            <a:pPr algn="ctr"/>
            <a:r>
              <a:rPr lang="es-ES" sz="2800" b="1" dirty="0">
                <a:ln w="0"/>
                <a:solidFill>
                  <a:schemeClr val="bg1"/>
                </a:solidFill>
                <a:effectLst>
                  <a:outerShdw blurRad="50800" dist="38100" dir="2700000" algn="tl" rotWithShape="0">
                    <a:prstClr val="black">
                      <a:alpha val="40000"/>
                    </a:prstClr>
                  </a:outerShdw>
                </a:effectLst>
              </a:rPr>
              <a:t>CARRERA: INFORMATICA INDUSTRIAL I/2026</a:t>
            </a:r>
            <a:endParaRPr lang="es-ES" sz="2400" b="1" cap="none" spc="0" dirty="0">
              <a:ln w="0"/>
              <a:solidFill>
                <a:schemeClr val="bg1"/>
              </a:solidFill>
              <a:effectLst>
                <a:outerShdw blurRad="50800" dist="38100" dir="2700000" algn="tl" rotWithShape="0">
                  <a:prstClr val="black">
                    <a:alpha val="40000"/>
                  </a:prstClr>
                </a:outerShdw>
              </a:effectLst>
            </a:endParaRPr>
          </a:p>
        </p:txBody>
      </p:sp>
      <p:sp>
        <p:nvSpPr>
          <p:cNvPr id="4" name="Título 1">
            <a:extLst>
              <a:ext uri="{FF2B5EF4-FFF2-40B4-BE49-F238E27FC236}">
                <a16:creationId xmlns:a16="http://schemas.microsoft.com/office/drawing/2014/main" id="{6D3B085D-D1AD-4597-80AF-57AD660C8506}"/>
              </a:ext>
            </a:extLst>
          </p:cNvPr>
          <p:cNvSpPr txBox="1">
            <a:spLocks/>
          </p:cNvSpPr>
          <p:nvPr/>
        </p:nvSpPr>
        <p:spPr>
          <a:xfrm>
            <a:off x="1" y="1430992"/>
            <a:ext cx="3181082" cy="588236"/>
          </a:xfrm>
          <a:prstGeom prst="rect">
            <a:avLst/>
          </a:prstGeom>
        </p:spPr>
        <p:txBody>
          <a:bodyPr anchor="b"/>
          <a:lstStyle>
            <a:lvl1pPr algn="ctr" defTabSz="914400" rtl="0" eaLnBrk="1" latinLnBrk="0" hangingPunct="1">
              <a:lnSpc>
                <a:spcPct val="90000"/>
              </a:lnSpc>
              <a:spcBef>
                <a:spcPct val="0"/>
              </a:spcBef>
              <a:buNone/>
              <a:defRPr sz="6000" b="1" kern="1200">
                <a:solidFill>
                  <a:schemeClr val="bg1"/>
                </a:solidFill>
                <a:effectLst>
                  <a:outerShdw blurRad="38100" dist="38100" dir="2700000" algn="tl">
                    <a:srgbClr val="000000">
                      <a:alpha val="43137"/>
                    </a:srgbClr>
                  </a:outerShdw>
                </a:effectLst>
                <a:latin typeface="+mn-lt"/>
                <a:ea typeface="+mj-ea"/>
                <a:cs typeface="+mj-cs"/>
              </a:defRPr>
            </a:lvl1pPr>
          </a:lstStyle>
          <a:p>
            <a:pPr algn="l"/>
            <a:r>
              <a:rPr lang="es-BO" sz="3600" u="sng" dirty="0">
                <a:solidFill>
                  <a:srgbClr val="002060"/>
                </a:solidFill>
                <a:effectLst/>
              </a:rPr>
              <a:t>CASOS DE USO</a:t>
            </a:r>
          </a:p>
        </p:txBody>
      </p:sp>
      <p:sp>
        <p:nvSpPr>
          <p:cNvPr id="5" name="CuadroTexto 4"/>
          <p:cNvSpPr txBox="1"/>
          <p:nvPr/>
        </p:nvSpPr>
        <p:spPr>
          <a:xfrm>
            <a:off x="412124" y="2150772"/>
            <a:ext cx="7266147" cy="369332"/>
          </a:xfrm>
          <a:prstGeom prst="rect">
            <a:avLst/>
          </a:prstGeom>
          <a:noFill/>
        </p:spPr>
        <p:txBody>
          <a:bodyPr wrap="square" rtlCol="0">
            <a:spAutoFit/>
          </a:bodyPr>
          <a:lstStyle/>
          <a:p>
            <a:pPr algn="just"/>
            <a:r>
              <a:rPr lang="es-MX" dirty="0">
                <a:latin typeface="Arial" panose="020B0604020202020204" pitchFamily="34" charset="0"/>
                <a:cs typeface="Arial" panose="020B0604020202020204" pitchFamily="34" charset="0"/>
              </a:rPr>
              <a:t>Diagrama de casos de uso del Operador (Jardinero). Incluye: consultar cronograma semanal, visualizar sector siendo regado en tiempo real, consultar reportes de consumo simulado.</a:t>
            </a:r>
          </a:p>
        </p:txBody>
      </p:sp>
      <p:pic>
        <p:nvPicPr>
          <p:cNvPr id="7" name="Imagen 6"/>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740979" y="5553635"/>
            <a:ext cx="1334479" cy="1210235"/>
          </a:xfrm>
          <a:prstGeom prst="rect">
            <a:avLst/>
          </a:prstGeom>
        </p:spPr>
      </p:pic>
      <p:pic>
        <p:nvPicPr>
          <p:cNvPr id="9" name="Imagen 8"/>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0802583" y="-5379"/>
            <a:ext cx="1321802" cy="1200329"/>
          </a:xfrm>
          <a:prstGeom prst="rect">
            <a:avLst/>
          </a:prstGeom>
        </p:spPr>
      </p:pic>
      <p:pic>
        <p:nvPicPr>
          <p:cNvPr id="11" name="Imagen 10"/>
          <p:cNvPicPr/>
          <p:nvPr/>
        </p:nvPicPr>
        <p:blipFill>
          <a:blip r:embed="rId5">
            <a:extLst>
              <a:ext uri="{28A0092B-C50C-407E-A947-70E740481C1C}">
                <a14:useLocalDpi xmlns:a14="http://schemas.microsoft.com/office/drawing/2010/main" val="0"/>
              </a:ext>
            </a:extLst>
          </a:blip>
          <a:stretch>
            <a:fillRect/>
          </a:stretch>
        </p:blipFill>
        <p:spPr>
          <a:xfrm>
            <a:off x="2770109" y="2782608"/>
            <a:ext cx="6306671" cy="3653656"/>
          </a:xfrm>
          <a:prstGeom prst="rect">
            <a:avLst/>
          </a:prstGeom>
        </p:spPr>
      </p:pic>
    </p:spTree>
    <p:extLst>
      <p:ext uri="{BB962C8B-B14F-4D97-AF65-F5344CB8AC3E}">
        <p14:creationId xmlns:p14="http://schemas.microsoft.com/office/powerpoint/2010/main" val="147026968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Imagen 9"/>
          <p:cNvPicPr>
            <a:picLocks noChangeAspect="1"/>
          </p:cNvPicPr>
          <p:nvPr/>
        </p:nvPicPr>
        <p:blipFill>
          <a:blip r:embed="rId2">
            <a:lum bright="70000" contrast="-70000"/>
            <a:extLst>
              <a:ext uri="{28A0092B-C50C-407E-A947-70E740481C1C}">
                <a14:useLocalDpi xmlns:a14="http://schemas.microsoft.com/office/drawing/2010/main" val="0"/>
              </a:ext>
            </a:extLst>
          </a:blip>
          <a:stretch>
            <a:fillRect/>
          </a:stretch>
        </p:blipFill>
        <p:spPr>
          <a:xfrm>
            <a:off x="3626272" y="1888268"/>
            <a:ext cx="3786310" cy="4006096"/>
          </a:xfrm>
          <a:prstGeom prst="rect">
            <a:avLst/>
          </a:prstGeom>
        </p:spPr>
      </p:pic>
      <p:sp>
        <p:nvSpPr>
          <p:cNvPr id="2" name="Rectángulo 1"/>
          <p:cNvSpPr/>
          <p:nvPr/>
        </p:nvSpPr>
        <p:spPr>
          <a:xfrm>
            <a:off x="1" y="0"/>
            <a:ext cx="10802581" cy="1200329"/>
          </a:xfrm>
          <a:prstGeom prst="rect">
            <a:avLst/>
          </a:prstGeom>
          <a:solidFill>
            <a:schemeClr val="accent6"/>
          </a:solidFill>
        </p:spPr>
        <p:txBody>
          <a:bodyPr wrap="square" lIns="91440" tIns="45720" rIns="91440" bIns="45720">
            <a:spAutoFit/>
          </a:bodyPr>
          <a:lstStyle/>
          <a:p>
            <a:pPr algn="ctr"/>
            <a:r>
              <a:rPr lang="es-ES" sz="4400" b="1" cap="none" spc="0" dirty="0">
                <a:ln w="0"/>
                <a:solidFill>
                  <a:schemeClr val="bg1"/>
                </a:solidFill>
                <a:effectLst>
                  <a:outerShdw blurRad="50800" dist="38100" dir="2700000" algn="tl" rotWithShape="0">
                    <a:prstClr val="black">
                      <a:alpha val="40000"/>
                    </a:prstClr>
                  </a:outerShdw>
                </a:effectLst>
              </a:rPr>
              <a:t>INSTITUTO TECNOLOGICO SACABA (ITSa)</a:t>
            </a:r>
          </a:p>
          <a:p>
            <a:pPr algn="ctr"/>
            <a:r>
              <a:rPr lang="es-ES" sz="2800" b="1" dirty="0">
                <a:ln w="0"/>
                <a:solidFill>
                  <a:schemeClr val="bg1"/>
                </a:solidFill>
                <a:effectLst>
                  <a:outerShdw blurRad="50800" dist="38100" dir="2700000" algn="tl" rotWithShape="0">
                    <a:prstClr val="black">
                      <a:alpha val="40000"/>
                    </a:prstClr>
                  </a:outerShdw>
                </a:effectLst>
              </a:rPr>
              <a:t>CARRERA: INFORMATICA INDUSTRIAL I/2026</a:t>
            </a:r>
            <a:endParaRPr lang="es-ES" sz="2400" b="1" cap="none" spc="0" dirty="0">
              <a:ln w="0"/>
              <a:solidFill>
                <a:schemeClr val="bg1"/>
              </a:solidFill>
              <a:effectLst>
                <a:outerShdw blurRad="50800" dist="38100" dir="2700000" algn="tl" rotWithShape="0">
                  <a:prstClr val="black">
                    <a:alpha val="40000"/>
                  </a:prstClr>
                </a:outerShdw>
              </a:effectLst>
            </a:endParaRPr>
          </a:p>
        </p:txBody>
      </p:sp>
      <p:sp>
        <p:nvSpPr>
          <p:cNvPr id="4" name="Título 1">
            <a:extLst>
              <a:ext uri="{FF2B5EF4-FFF2-40B4-BE49-F238E27FC236}">
                <a16:creationId xmlns:a16="http://schemas.microsoft.com/office/drawing/2014/main" id="{6D3B085D-D1AD-4597-80AF-57AD660C8506}"/>
              </a:ext>
            </a:extLst>
          </p:cNvPr>
          <p:cNvSpPr txBox="1">
            <a:spLocks/>
          </p:cNvSpPr>
          <p:nvPr/>
        </p:nvSpPr>
        <p:spPr>
          <a:xfrm>
            <a:off x="412124" y="1381432"/>
            <a:ext cx="5430981" cy="588236"/>
          </a:xfrm>
          <a:prstGeom prst="rect">
            <a:avLst/>
          </a:prstGeom>
        </p:spPr>
        <p:txBody>
          <a:bodyPr anchor="b"/>
          <a:lstStyle>
            <a:lvl1pPr algn="ctr" defTabSz="914400" rtl="0" eaLnBrk="1" latinLnBrk="0" hangingPunct="1">
              <a:lnSpc>
                <a:spcPct val="90000"/>
              </a:lnSpc>
              <a:spcBef>
                <a:spcPct val="0"/>
              </a:spcBef>
              <a:buNone/>
              <a:defRPr sz="6000" b="1" kern="1200">
                <a:solidFill>
                  <a:schemeClr val="bg1"/>
                </a:solidFill>
                <a:effectLst>
                  <a:outerShdw blurRad="38100" dist="38100" dir="2700000" algn="tl">
                    <a:srgbClr val="000000">
                      <a:alpha val="43137"/>
                    </a:srgbClr>
                  </a:outerShdw>
                </a:effectLst>
                <a:latin typeface="+mn-lt"/>
                <a:ea typeface="+mj-ea"/>
                <a:cs typeface="+mj-cs"/>
              </a:defRPr>
            </a:lvl1pPr>
          </a:lstStyle>
          <a:p>
            <a:pPr algn="l"/>
            <a:r>
              <a:rPr lang="es-BO" sz="3600" u="sng" dirty="0">
                <a:solidFill>
                  <a:srgbClr val="002060"/>
                </a:solidFill>
                <a:effectLst/>
              </a:rPr>
              <a:t>DIAGRAMA DE CLASES</a:t>
            </a:r>
          </a:p>
        </p:txBody>
      </p:sp>
      <p:sp>
        <p:nvSpPr>
          <p:cNvPr id="5" name="CuadroTexto 4"/>
          <p:cNvSpPr txBox="1"/>
          <p:nvPr/>
        </p:nvSpPr>
        <p:spPr>
          <a:xfrm>
            <a:off x="412124" y="2012861"/>
            <a:ext cx="10390458" cy="1200329"/>
          </a:xfrm>
          <a:prstGeom prst="rect">
            <a:avLst/>
          </a:prstGeom>
          <a:noFill/>
        </p:spPr>
        <p:txBody>
          <a:bodyPr wrap="square" rtlCol="0">
            <a:spAutoFit/>
          </a:bodyPr>
          <a:lstStyle/>
          <a:p>
            <a:pPr algn="just"/>
            <a:r>
              <a:rPr lang="es-BO" sz="1800" dirty="0">
                <a:effectLst/>
                <a:latin typeface="Arial" panose="020B0604020202020204" pitchFamily="34" charset="0"/>
                <a:ea typeface="Calibri" panose="020F0502020204030204" pitchFamily="34" charset="0"/>
                <a:cs typeface="Times New Roman" panose="02020603050405020304" pitchFamily="18" charset="0"/>
              </a:rPr>
              <a:t>El diagrama de clases (Modelo Entidad-Relación) de SARQUE incluye las tablas principales de la base de datos en Supabase/PostgreSQL: sectores (catálogo de zonas del parque con duración y color), horarios_riego (cronograma semanal por sector, día y hora). Las relaciones se gestionan mediante claves foráneas con políticas de Row Level Security (RLS) públicas para acceso sin autenticación.</a:t>
            </a:r>
            <a:endParaRPr lang="es-ES" sz="1800" dirty="0">
              <a:effectLst/>
              <a:latin typeface="Calibri" panose="020F0502020204030204" pitchFamily="34" charset="0"/>
              <a:ea typeface="Calibri" panose="020F0502020204030204" pitchFamily="34" charset="0"/>
              <a:cs typeface="Times New Roman" panose="02020603050405020304" pitchFamily="18" charset="0"/>
            </a:endParaRPr>
          </a:p>
          <a:p>
            <a:pPr algn="just"/>
            <a:r>
              <a:rPr lang="es-MX" dirty="0">
                <a:latin typeface="Arial" panose="020B0604020202020204" pitchFamily="34" charset="0"/>
                <a:cs typeface="Arial" panose="020B0604020202020204" pitchFamily="34" charset="0"/>
              </a:rPr>
              <a:t> . </a:t>
            </a:r>
          </a:p>
        </p:txBody>
      </p:sp>
      <p:pic>
        <p:nvPicPr>
          <p:cNvPr id="7" name="Imagen 6"/>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740979" y="5553635"/>
            <a:ext cx="1334479" cy="1210235"/>
          </a:xfrm>
          <a:prstGeom prst="rect">
            <a:avLst/>
          </a:prstGeom>
        </p:spPr>
      </p:pic>
      <p:pic>
        <p:nvPicPr>
          <p:cNvPr id="9" name="Imagen 8"/>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0802583" y="-5379"/>
            <a:ext cx="1321802" cy="1200329"/>
          </a:xfrm>
          <a:prstGeom prst="rect">
            <a:avLst/>
          </a:prstGeom>
        </p:spPr>
      </p:pic>
      <p:pic>
        <p:nvPicPr>
          <p:cNvPr id="6" name="Imagen 5">
            <a:extLst>
              <a:ext uri="{FF2B5EF4-FFF2-40B4-BE49-F238E27FC236}">
                <a16:creationId xmlns:a16="http://schemas.microsoft.com/office/drawing/2014/main" id="{19F7904B-6766-42FB-B267-532CD13FE8B4}"/>
              </a:ext>
            </a:extLst>
          </p:cNvPr>
          <p:cNvPicPr>
            <a:picLocks noChangeAspect="1"/>
          </p:cNvPicPr>
          <p:nvPr/>
        </p:nvPicPr>
        <p:blipFill>
          <a:blip r:embed="rId5"/>
          <a:stretch>
            <a:fillRect/>
          </a:stretch>
        </p:blipFill>
        <p:spPr>
          <a:xfrm>
            <a:off x="2127131" y="3337782"/>
            <a:ext cx="6949649" cy="3063418"/>
          </a:xfrm>
          <a:prstGeom prst="rect">
            <a:avLst/>
          </a:prstGeom>
        </p:spPr>
      </p:pic>
    </p:spTree>
    <p:extLst>
      <p:ext uri="{BB962C8B-B14F-4D97-AF65-F5344CB8AC3E}">
        <p14:creationId xmlns:p14="http://schemas.microsoft.com/office/powerpoint/2010/main" val="370064051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Imagen 8"/>
          <p:cNvPicPr>
            <a:picLocks noChangeAspect="1"/>
          </p:cNvPicPr>
          <p:nvPr/>
        </p:nvPicPr>
        <p:blipFill>
          <a:blip r:embed="rId2">
            <a:lum bright="70000" contrast="-70000"/>
            <a:extLst>
              <a:ext uri="{28A0092B-C50C-407E-A947-70E740481C1C}">
                <a14:useLocalDpi xmlns:a14="http://schemas.microsoft.com/office/drawing/2010/main" val="0"/>
              </a:ext>
            </a:extLst>
          </a:blip>
          <a:stretch>
            <a:fillRect/>
          </a:stretch>
        </p:blipFill>
        <p:spPr>
          <a:xfrm>
            <a:off x="3626272" y="1888268"/>
            <a:ext cx="3786310" cy="4006096"/>
          </a:xfrm>
          <a:prstGeom prst="rect">
            <a:avLst/>
          </a:prstGeom>
        </p:spPr>
      </p:pic>
      <p:sp>
        <p:nvSpPr>
          <p:cNvPr id="2" name="Rectángulo 1"/>
          <p:cNvSpPr/>
          <p:nvPr/>
        </p:nvSpPr>
        <p:spPr>
          <a:xfrm>
            <a:off x="0" y="0"/>
            <a:ext cx="10740979" cy="1200329"/>
          </a:xfrm>
          <a:prstGeom prst="rect">
            <a:avLst/>
          </a:prstGeom>
          <a:solidFill>
            <a:schemeClr val="accent6"/>
          </a:solidFill>
        </p:spPr>
        <p:txBody>
          <a:bodyPr wrap="square" lIns="91440" tIns="45720" rIns="91440" bIns="45720">
            <a:spAutoFit/>
          </a:bodyPr>
          <a:lstStyle/>
          <a:p>
            <a:pPr algn="ctr"/>
            <a:r>
              <a:rPr lang="es-ES" sz="4400" b="1" cap="none" spc="0" dirty="0">
                <a:ln w="0"/>
                <a:solidFill>
                  <a:schemeClr val="bg1"/>
                </a:solidFill>
                <a:effectLst>
                  <a:outerShdw blurRad="50800" dist="38100" dir="2700000" algn="tl" rotWithShape="0">
                    <a:prstClr val="black">
                      <a:alpha val="40000"/>
                    </a:prstClr>
                  </a:outerShdw>
                </a:effectLst>
              </a:rPr>
              <a:t>INSTITUTO TECNOLOGICO SACABA (ITSa)</a:t>
            </a:r>
          </a:p>
          <a:p>
            <a:pPr algn="ctr"/>
            <a:r>
              <a:rPr lang="es-ES" sz="2800" b="1" dirty="0">
                <a:ln w="0"/>
                <a:solidFill>
                  <a:schemeClr val="bg1"/>
                </a:solidFill>
                <a:effectLst>
                  <a:outerShdw blurRad="50800" dist="38100" dir="2700000" algn="tl" rotWithShape="0">
                    <a:prstClr val="black">
                      <a:alpha val="40000"/>
                    </a:prstClr>
                  </a:outerShdw>
                </a:effectLst>
              </a:rPr>
              <a:t>CARRERA: INFORMATICA INDUSTRIAL I/2026</a:t>
            </a:r>
            <a:endParaRPr lang="es-ES" sz="2400" b="1" cap="none" spc="0" dirty="0">
              <a:ln w="0"/>
              <a:solidFill>
                <a:schemeClr val="bg1"/>
              </a:solidFill>
              <a:effectLst>
                <a:outerShdw blurRad="50800" dist="38100" dir="2700000" algn="tl" rotWithShape="0">
                  <a:prstClr val="black">
                    <a:alpha val="40000"/>
                  </a:prstClr>
                </a:outerShdw>
              </a:effectLst>
            </a:endParaRPr>
          </a:p>
        </p:txBody>
      </p:sp>
      <p:sp>
        <p:nvSpPr>
          <p:cNvPr id="4" name="Título 1">
            <a:extLst>
              <a:ext uri="{FF2B5EF4-FFF2-40B4-BE49-F238E27FC236}">
                <a16:creationId xmlns:a16="http://schemas.microsoft.com/office/drawing/2014/main" id="{6D3B085D-D1AD-4597-80AF-57AD660C8506}"/>
              </a:ext>
            </a:extLst>
          </p:cNvPr>
          <p:cNvSpPr txBox="1">
            <a:spLocks/>
          </p:cNvSpPr>
          <p:nvPr/>
        </p:nvSpPr>
        <p:spPr>
          <a:xfrm>
            <a:off x="354999" y="1482507"/>
            <a:ext cx="5164428" cy="588236"/>
          </a:xfrm>
          <a:prstGeom prst="rect">
            <a:avLst/>
          </a:prstGeom>
        </p:spPr>
        <p:txBody>
          <a:bodyPr anchor="b"/>
          <a:lstStyle>
            <a:lvl1pPr algn="ctr" defTabSz="914400" rtl="0" eaLnBrk="1" latinLnBrk="0" hangingPunct="1">
              <a:lnSpc>
                <a:spcPct val="90000"/>
              </a:lnSpc>
              <a:spcBef>
                <a:spcPct val="0"/>
              </a:spcBef>
              <a:buNone/>
              <a:defRPr sz="6000" b="1" kern="1200">
                <a:solidFill>
                  <a:schemeClr val="bg1"/>
                </a:solidFill>
                <a:effectLst>
                  <a:outerShdw blurRad="38100" dist="38100" dir="2700000" algn="tl">
                    <a:srgbClr val="000000">
                      <a:alpha val="43137"/>
                    </a:srgbClr>
                  </a:outerShdw>
                </a:effectLst>
                <a:latin typeface="+mn-lt"/>
                <a:ea typeface="+mj-ea"/>
                <a:cs typeface="+mj-cs"/>
              </a:defRPr>
            </a:lvl1pPr>
          </a:lstStyle>
          <a:p>
            <a:pPr algn="l"/>
            <a:r>
              <a:rPr lang="es-BO" sz="3600" u="sng" dirty="0">
                <a:solidFill>
                  <a:srgbClr val="002060"/>
                </a:solidFill>
                <a:effectLst/>
              </a:rPr>
              <a:t>ESQUEMAS DE CONEXIÓN</a:t>
            </a:r>
          </a:p>
        </p:txBody>
      </p:sp>
      <p:pic>
        <p:nvPicPr>
          <p:cNvPr id="5" name="Imagen 4"/>
          <p:cNvPicPr/>
          <p:nvPr/>
        </p:nvPicPr>
        <p:blipFill>
          <a:blip r:embed="rId3">
            <a:extLst>
              <a:ext uri="{28A0092B-C50C-407E-A947-70E740481C1C}">
                <a14:useLocalDpi xmlns:a14="http://schemas.microsoft.com/office/drawing/2010/main" val="0"/>
              </a:ext>
            </a:extLst>
          </a:blip>
          <a:stretch>
            <a:fillRect/>
          </a:stretch>
        </p:blipFill>
        <p:spPr>
          <a:xfrm>
            <a:off x="874058" y="2070743"/>
            <a:ext cx="7675808" cy="4600513"/>
          </a:xfrm>
          <a:prstGeom prst="rect">
            <a:avLst/>
          </a:prstGeom>
        </p:spPr>
      </p:pic>
      <p:pic>
        <p:nvPicPr>
          <p:cNvPr id="6" name="Imagen 5"/>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0740979" y="5553635"/>
            <a:ext cx="1334479" cy="1210235"/>
          </a:xfrm>
          <a:prstGeom prst="rect">
            <a:avLst/>
          </a:prstGeom>
        </p:spPr>
      </p:pic>
      <p:pic>
        <p:nvPicPr>
          <p:cNvPr id="8" name="Imagen 7"/>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0802583" y="-5379"/>
            <a:ext cx="1321802" cy="1200329"/>
          </a:xfrm>
          <a:prstGeom prst="rect">
            <a:avLst/>
          </a:prstGeom>
        </p:spPr>
      </p:pic>
    </p:spTree>
    <p:extLst>
      <p:ext uri="{BB962C8B-B14F-4D97-AF65-F5344CB8AC3E}">
        <p14:creationId xmlns:p14="http://schemas.microsoft.com/office/powerpoint/2010/main" val="429228087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ángulo 1"/>
          <p:cNvSpPr/>
          <p:nvPr/>
        </p:nvSpPr>
        <p:spPr>
          <a:xfrm>
            <a:off x="0" y="0"/>
            <a:ext cx="10740979" cy="1200329"/>
          </a:xfrm>
          <a:prstGeom prst="rect">
            <a:avLst/>
          </a:prstGeom>
          <a:solidFill>
            <a:schemeClr val="accent6"/>
          </a:solidFill>
        </p:spPr>
        <p:txBody>
          <a:bodyPr wrap="square" lIns="91440" tIns="45720" rIns="91440" bIns="45720">
            <a:spAutoFit/>
          </a:bodyPr>
          <a:lstStyle/>
          <a:p>
            <a:pPr algn="ctr"/>
            <a:r>
              <a:rPr lang="es-ES" sz="4400" b="1" cap="none" spc="0" dirty="0">
                <a:ln w="0"/>
                <a:solidFill>
                  <a:schemeClr val="bg1"/>
                </a:solidFill>
                <a:effectLst>
                  <a:outerShdw blurRad="50800" dist="38100" dir="2700000" algn="tl" rotWithShape="0">
                    <a:prstClr val="black">
                      <a:alpha val="40000"/>
                    </a:prstClr>
                  </a:outerShdw>
                </a:effectLst>
              </a:rPr>
              <a:t>INSTITUTO TECNOLOGICO SACABA (ITSa)</a:t>
            </a:r>
          </a:p>
          <a:p>
            <a:pPr algn="ctr"/>
            <a:r>
              <a:rPr lang="es-ES" sz="2800" b="1" dirty="0">
                <a:ln w="0"/>
                <a:solidFill>
                  <a:schemeClr val="bg1"/>
                </a:solidFill>
                <a:effectLst>
                  <a:outerShdw blurRad="50800" dist="38100" dir="2700000" algn="tl" rotWithShape="0">
                    <a:prstClr val="black">
                      <a:alpha val="40000"/>
                    </a:prstClr>
                  </a:outerShdw>
                </a:effectLst>
              </a:rPr>
              <a:t>CARRERA: INFORMATICA INDUSTRIAL I/2026</a:t>
            </a:r>
            <a:endParaRPr lang="es-ES" sz="2400" b="1" cap="none" spc="0" dirty="0">
              <a:ln w="0"/>
              <a:solidFill>
                <a:schemeClr val="bg1"/>
              </a:solidFill>
              <a:effectLst>
                <a:outerShdw blurRad="50800" dist="38100" dir="2700000" algn="tl" rotWithShape="0">
                  <a:prstClr val="black">
                    <a:alpha val="40000"/>
                  </a:prstClr>
                </a:outerShdw>
              </a:effectLst>
            </a:endParaRPr>
          </a:p>
        </p:txBody>
      </p:sp>
      <p:pic>
        <p:nvPicPr>
          <p:cNvPr id="3" name="Imagen 2"/>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802583" y="-5379"/>
            <a:ext cx="1321802" cy="1200329"/>
          </a:xfrm>
          <a:prstGeom prst="rect">
            <a:avLst/>
          </a:prstGeom>
        </p:spPr>
      </p:pic>
      <p:pic>
        <p:nvPicPr>
          <p:cNvPr id="4" name="Imagen 3"/>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740979" y="5553635"/>
            <a:ext cx="1334479" cy="1210235"/>
          </a:xfrm>
          <a:prstGeom prst="rect">
            <a:avLst/>
          </a:prstGeom>
        </p:spPr>
      </p:pic>
      <p:sp>
        <p:nvSpPr>
          <p:cNvPr id="7" name="Título 1">
            <a:extLst>
              <a:ext uri="{FF2B5EF4-FFF2-40B4-BE49-F238E27FC236}">
                <a16:creationId xmlns:a16="http://schemas.microsoft.com/office/drawing/2014/main" id="{6D3B085D-D1AD-4597-80AF-57AD660C8506}"/>
              </a:ext>
            </a:extLst>
          </p:cNvPr>
          <p:cNvSpPr txBox="1">
            <a:spLocks/>
          </p:cNvSpPr>
          <p:nvPr/>
        </p:nvSpPr>
        <p:spPr>
          <a:xfrm>
            <a:off x="313878" y="1468746"/>
            <a:ext cx="10488705" cy="588236"/>
          </a:xfrm>
          <a:prstGeom prst="rect">
            <a:avLst/>
          </a:prstGeom>
        </p:spPr>
        <p:txBody>
          <a:bodyPr anchor="b"/>
          <a:lstStyle>
            <a:lvl1pPr algn="ctr" defTabSz="914400" rtl="0" eaLnBrk="1" latinLnBrk="0" hangingPunct="1">
              <a:lnSpc>
                <a:spcPct val="90000"/>
              </a:lnSpc>
              <a:spcBef>
                <a:spcPct val="0"/>
              </a:spcBef>
              <a:buNone/>
              <a:defRPr sz="6000" b="1" kern="1200">
                <a:solidFill>
                  <a:schemeClr val="bg1"/>
                </a:solidFill>
                <a:effectLst>
                  <a:outerShdw blurRad="38100" dist="38100" dir="2700000" algn="tl">
                    <a:srgbClr val="000000">
                      <a:alpha val="43137"/>
                    </a:srgbClr>
                  </a:outerShdw>
                </a:effectLst>
                <a:latin typeface="+mn-lt"/>
                <a:ea typeface="+mj-ea"/>
                <a:cs typeface="+mj-cs"/>
              </a:defRPr>
            </a:lvl1pPr>
          </a:lstStyle>
          <a:p>
            <a:pPr algn="l"/>
            <a:r>
              <a:rPr lang="es-BO" sz="3600" u="sng" dirty="0">
                <a:solidFill>
                  <a:srgbClr val="002060"/>
                </a:solidFill>
                <a:effectLst/>
              </a:rPr>
              <a:t>ESQUEMAS DE CONEXIÓN HIDRÁULICA-ELÉCTRICA</a:t>
            </a:r>
          </a:p>
        </p:txBody>
      </p:sp>
      <p:pic>
        <p:nvPicPr>
          <p:cNvPr id="8" name="Imagen 7"/>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rot="5400000">
            <a:off x="2890908" y="1325427"/>
            <a:ext cx="4706888" cy="6169998"/>
          </a:xfrm>
          <a:prstGeom prst="rect">
            <a:avLst/>
          </a:prstGeom>
        </p:spPr>
      </p:pic>
    </p:spTree>
    <p:extLst>
      <p:ext uri="{BB962C8B-B14F-4D97-AF65-F5344CB8AC3E}">
        <p14:creationId xmlns:p14="http://schemas.microsoft.com/office/powerpoint/2010/main" val="158723657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ángulo 1"/>
          <p:cNvSpPr/>
          <p:nvPr/>
        </p:nvSpPr>
        <p:spPr>
          <a:xfrm>
            <a:off x="0" y="0"/>
            <a:ext cx="10740979" cy="1200329"/>
          </a:xfrm>
          <a:prstGeom prst="rect">
            <a:avLst/>
          </a:prstGeom>
          <a:solidFill>
            <a:schemeClr val="accent6"/>
          </a:solidFill>
        </p:spPr>
        <p:txBody>
          <a:bodyPr wrap="square" lIns="91440" tIns="45720" rIns="91440" bIns="45720">
            <a:spAutoFit/>
          </a:bodyPr>
          <a:lstStyle/>
          <a:p>
            <a:pPr algn="ctr"/>
            <a:r>
              <a:rPr lang="es-ES" sz="4400" b="1" cap="none" spc="0" dirty="0">
                <a:ln w="0"/>
                <a:solidFill>
                  <a:schemeClr val="bg1"/>
                </a:solidFill>
                <a:effectLst>
                  <a:outerShdw blurRad="50800" dist="38100" dir="2700000" algn="tl" rotWithShape="0">
                    <a:prstClr val="black">
                      <a:alpha val="40000"/>
                    </a:prstClr>
                  </a:outerShdw>
                </a:effectLst>
              </a:rPr>
              <a:t>INSTITUTO TECNOLOGICO SACABA (ITSa)</a:t>
            </a:r>
          </a:p>
          <a:p>
            <a:pPr algn="ctr"/>
            <a:r>
              <a:rPr lang="es-ES" sz="2800" b="1" dirty="0">
                <a:ln w="0"/>
                <a:solidFill>
                  <a:schemeClr val="bg1"/>
                </a:solidFill>
                <a:effectLst>
                  <a:outerShdw blurRad="50800" dist="38100" dir="2700000" algn="tl" rotWithShape="0">
                    <a:prstClr val="black">
                      <a:alpha val="40000"/>
                    </a:prstClr>
                  </a:outerShdw>
                </a:effectLst>
              </a:rPr>
              <a:t>CARRERA: INFORMATICA INDUSTRIAL I/2026</a:t>
            </a:r>
            <a:endParaRPr lang="es-ES" sz="2400" b="1" cap="none" spc="0" dirty="0">
              <a:ln w="0"/>
              <a:solidFill>
                <a:schemeClr val="bg1"/>
              </a:solidFill>
              <a:effectLst>
                <a:outerShdw blurRad="50800" dist="38100" dir="2700000" algn="tl" rotWithShape="0">
                  <a:prstClr val="black">
                    <a:alpha val="40000"/>
                  </a:prstClr>
                </a:outerShdw>
              </a:effectLst>
            </a:endParaRPr>
          </a:p>
        </p:txBody>
      </p:sp>
      <p:pic>
        <p:nvPicPr>
          <p:cNvPr id="3" name="Imagen 2"/>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802583" y="-5379"/>
            <a:ext cx="1321802" cy="1200329"/>
          </a:xfrm>
          <a:prstGeom prst="rect">
            <a:avLst/>
          </a:prstGeom>
        </p:spPr>
      </p:pic>
      <p:pic>
        <p:nvPicPr>
          <p:cNvPr id="4" name="Imagen 3"/>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740979" y="5553635"/>
            <a:ext cx="1334479" cy="1210235"/>
          </a:xfrm>
          <a:prstGeom prst="rect">
            <a:avLst/>
          </a:prstGeom>
        </p:spPr>
      </p:pic>
      <p:sp>
        <p:nvSpPr>
          <p:cNvPr id="7" name="Título 1">
            <a:extLst>
              <a:ext uri="{FF2B5EF4-FFF2-40B4-BE49-F238E27FC236}">
                <a16:creationId xmlns:a16="http://schemas.microsoft.com/office/drawing/2014/main" id="{6D3B085D-D1AD-4597-80AF-57AD660C8506}"/>
              </a:ext>
            </a:extLst>
          </p:cNvPr>
          <p:cNvSpPr txBox="1">
            <a:spLocks/>
          </p:cNvSpPr>
          <p:nvPr/>
        </p:nvSpPr>
        <p:spPr>
          <a:xfrm>
            <a:off x="235528" y="1482507"/>
            <a:ext cx="7476564" cy="588236"/>
          </a:xfrm>
          <a:prstGeom prst="rect">
            <a:avLst/>
          </a:prstGeom>
        </p:spPr>
        <p:txBody>
          <a:bodyPr anchor="b"/>
          <a:lstStyle>
            <a:lvl1pPr algn="ctr" defTabSz="914400" rtl="0" eaLnBrk="1" latinLnBrk="0" hangingPunct="1">
              <a:lnSpc>
                <a:spcPct val="90000"/>
              </a:lnSpc>
              <a:spcBef>
                <a:spcPct val="0"/>
              </a:spcBef>
              <a:buNone/>
              <a:defRPr sz="6000" b="1" kern="1200">
                <a:solidFill>
                  <a:schemeClr val="bg1"/>
                </a:solidFill>
                <a:effectLst>
                  <a:outerShdw blurRad="38100" dist="38100" dir="2700000" algn="tl">
                    <a:srgbClr val="000000">
                      <a:alpha val="43137"/>
                    </a:srgbClr>
                  </a:outerShdw>
                </a:effectLst>
                <a:latin typeface="+mn-lt"/>
                <a:ea typeface="+mj-ea"/>
                <a:cs typeface="+mj-cs"/>
              </a:defRPr>
            </a:lvl1pPr>
          </a:lstStyle>
          <a:p>
            <a:pPr algn="l"/>
            <a:r>
              <a:rPr lang="es-BO" sz="3600" u="sng" dirty="0">
                <a:solidFill>
                  <a:srgbClr val="002060"/>
                </a:solidFill>
                <a:effectLst/>
              </a:rPr>
              <a:t>CARACTERÍSTICAS DE LA BOMBA SUMERGIBLE</a:t>
            </a:r>
          </a:p>
        </p:txBody>
      </p:sp>
      <p:pic>
        <p:nvPicPr>
          <p:cNvPr id="8" name="Imagen 7" descr="Recorte de pantalla"/>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13471" y="2448912"/>
            <a:ext cx="4982270" cy="2791215"/>
          </a:xfrm>
          <a:prstGeom prst="rect">
            <a:avLst/>
          </a:prstGeom>
        </p:spPr>
      </p:pic>
      <p:pic>
        <p:nvPicPr>
          <p:cNvPr id="9" name="Imagen 8"/>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006465" y="2070743"/>
            <a:ext cx="4567971" cy="2822394"/>
          </a:xfrm>
          <a:prstGeom prst="rect">
            <a:avLst/>
          </a:prstGeom>
        </p:spPr>
      </p:pic>
    </p:spTree>
    <p:extLst>
      <p:ext uri="{BB962C8B-B14F-4D97-AF65-F5344CB8AC3E}">
        <p14:creationId xmlns:p14="http://schemas.microsoft.com/office/powerpoint/2010/main" val="258737663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ángulo 1"/>
          <p:cNvSpPr/>
          <p:nvPr/>
        </p:nvSpPr>
        <p:spPr>
          <a:xfrm>
            <a:off x="0" y="0"/>
            <a:ext cx="10740979" cy="1200329"/>
          </a:xfrm>
          <a:prstGeom prst="rect">
            <a:avLst/>
          </a:prstGeom>
          <a:solidFill>
            <a:schemeClr val="accent6"/>
          </a:solidFill>
        </p:spPr>
        <p:txBody>
          <a:bodyPr wrap="square" lIns="91440" tIns="45720" rIns="91440" bIns="45720">
            <a:spAutoFit/>
          </a:bodyPr>
          <a:lstStyle/>
          <a:p>
            <a:pPr algn="ctr"/>
            <a:r>
              <a:rPr lang="es-ES" sz="4400" b="1" cap="none" spc="0" dirty="0">
                <a:ln w="0"/>
                <a:solidFill>
                  <a:schemeClr val="bg1"/>
                </a:solidFill>
                <a:effectLst>
                  <a:outerShdw blurRad="50800" dist="38100" dir="2700000" algn="tl" rotWithShape="0">
                    <a:prstClr val="black">
                      <a:alpha val="40000"/>
                    </a:prstClr>
                  </a:outerShdw>
                </a:effectLst>
              </a:rPr>
              <a:t>INSTITUTO TECNOLOGICO SACABA (ITSa)</a:t>
            </a:r>
          </a:p>
          <a:p>
            <a:pPr algn="ctr"/>
            <a:r>
              <a:rPr lang="es-ES" sz="2800" b="1" dirty="0">
                <a:ln w="0"/>
                <a:solidFill>
                  <a:schemeClr val="bg1"/>
                </a:solidFill>
                <a:effectLst>
                  <a:outerShdw blurRad="50800" dist="38100" dir="2700000" algn="tl" rotWithShape="0">
                    <a:prstClr val="black">
                      <a:alpha val="40000"/>
                    </a:prstClr>
                  </a:outerShdw>
                </a:effectLst>
              </a:rPr>
              <a:t>CARRERA: INFORMATICA INDUSTRIAL I/2026</a:t>
            </a:r>
            <a:endParaRPr lang="es-ES" sz="2400" b="1" cap="none" spc="0" dirty="0">
              <a:ln w="0"/>
              <a:solidFill>
                <a:schemeClr val="bg1"/>
              </a:solidFill>
              <a:effectLst>
                <a:outerShdw blurRad="50800" dist="38100" dir="2700000" algn="tl" rotWithShape="0">
                  <a:prstClr val="black">
                    <a:alpha val="40000"/>
                  </a:prstClr>
                </a:outerShdw>
              </a:effectLst>
            </a:endParaRPr>
          </a:p>
        </p:txBody>
      </p:sp>
      <p:pic>
        <p:nvPicPr>
          <p:cNvPr id="3" name="Imagen 2"/>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802583" y="-5379"/>
            <a:ext cx="1321802" cy="1200329"/>
          </a:xfrm>
          <a:prstGeom prst="rect">
            <a:avLst/>
          </a:prstGeom>
        </p:spPr>
      </p:pic>
      <p:pic>
        <p:nvPicPr>
          <p:cNvPr id="4" name="Imagen 3"/>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740979" y="5553635"/>
            <a:ext cx="1334479" cy="1210235"/>
          </a:xfrm>
          <a:prstGeom prst="rect">
            <a:avLst/>
          </a:prstGeom>
        </p:spPr>
      </p:pic>
      <p:sp>
        <p:nvSpPr>
          <p:cNvPr id="7" name="Título 1">
            <a:extLst>
              <a:ext uri="{FF2B5EF4-FFF2-40B4-BE49-F238E27FC236}">
                <a16:creationId xmlns:a16="http://schemas.microsoft.com/office/drawing/2014/main" id="{6D3B085D-D1AD-4597-80AF-57AD660C8506}"/>
              </a:ext>
            </a:extLst>
          </p:cNvPr>
          <p:cNvSpPr txBox="1">
            <a:spLocks/>
          </p:cNvSpPr>
          <p:nvPr/>
        </p:nvSpPr>
        <p:spPr>
          <a:xfrm>
            <a:off x="235529" y="1488095"/>
            <a:ext cx="8164285" cy="588236"/>
          </a:xfrm>
          <a:prstGeom prst="rect">
            <a:avLst/>
          </a:prstGeom>
        </p:spPr>
        <p:txBody>
          <a:bodyPr anchor="b"/>
          <a:lstStyle>
            <a:lvl1pPr algn="ctr" defTabSz="914400" rtl="0" eaLnBrk="1" latinLnBrk="0" hangingPunct="1">
              <a:lnSpc>
                <a:spcPct val="90000"/>
              </a:lnSpc>
              <a:spcBef>
                <a:spcPct val="0"/>
              </a:spcBef>
              <a:buNone/>
              <a:defRPr sz="6000" b="1" kern="1200">
                <a:solidFill>
                  <a:schemeClr val="bg1"/>
                </a:solidFill>
                <a:effectLst>
                  <a:outerShdw blurRad="38100" dist="38100" dir="2700000" algn="tl">
                    <a:srgbClr val="000000">
                      <a:alpha val="43137"/>
                    </a:srgbClr>
                  </a:outerShdw>
                </a:effectLst>
                <a:latin typeface="+mn-lt"/>
                <a:ea typeface="+mj-ea"/>
                <a:cs typeface="+mj-cs"/>
              </a:defRPr>
            </a:lvl1pPr>
          </a:lstStyle>
          <a:p>
            <a:pPr algn="l"/>
            <a:r>
              <a:rPr lang="es-BO" sz="3600" u="sng" dirty="0">
                <a:solidFill>
                  <a:srgbClr val="002060"/>
                </a:solidFill>
                <a:effectLst/>
              </a:rPr>
              <a:t>CARACTERÍSTICAS DEL CONTROLADOR K-RAIN BL-KR</a:t>
            </a:r>
          </a:p>
        </p:txBody>
      </p:sp>
      <p:pic>
        <p:nvPicPr>
          <p:cNvPr id="10" name="Imagen 9"/>
          <p:cNvPicPr>
            <a:picLocks noChangeAspect="1"/>
          </p:cNvPicPr>
          <p:nvPr/>
        </p:nvPicPr>
        <p:blipFill rotWithShape="1">
          <a:blip r:embed="rId4">
            <a:extLst>
              <a:ext uri="{28A0092B-C50C-407E-A947-70E740481C1C}">
                <a14:useLocalDpi xmlns:a14="http://schemas.microsoft.com/office/drawing/2010/main" val="0"/>
              </a:ext>
            </a:extLst>
          </a:blip>
          <a:srcRect l="7885" t="3054" r="6401" b="1353"/>
          <a:stretch/>
        </p:blipFill>
        <p:spPr>
          <a:xfrm>
            <a:off x="7193099" y="2603607"/>
            <a:ext cx="4367519" cy="2873828"/>
          </a:xfrm>
          <a:prstGeom prst="rect">
            <a:avLst/>
          </a:prstGeom>
        </p:spPr>
      </p:pic>
      <p:pic>
        <p:nvPicPr>
          <p:cNvPr id="11" name="Imagen 10" descr="Recorte de pantalla"/>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42899" y="2152531"/>
            <a:ext cx="6220693" cy="4058216"/>
          </a:xfrm>
          <a:prstGeom prst="rect">
            <a:avLst/>
          </a:prstGeom>
        </p:spPr>
      </p:pic>
    </p:spTree>
    <p:extLst>
      <p:ext uri="{BB962C8B-B14F-4D97-AF65-F5344CB8AC3E}">
        <p14:creationId xmlns:p14="http://schemas.microsoft.com/office/powerpoint/2010/main" val="401054219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ángulo 1"/>
          <p:cNvSpPr/>
          <p:nvPr/>
        </p:nvSpPr>
        <p:spPr>
          <a:xfrm>
            <a:off x="0" y="0"/>
            <a:ext cx="10740979" cy="1200329"/>
          </a:xfrm>
          <a:prstGeom prst="rect">
            <a:avLst/>
          </a:prstGeom>
          <a:solidFill>
            <a:schemeClr val="accent6"/>
          </a:solidFill>
        </p:spPr>
        <p:txBody>
          <a:bodyPr wrap="square" lIns="91440" tIns="45720" rIns="91440" bIns="45720">
            <a:spAutoFit/>
          </a:bodyPr>
          <a:lstStyle/>
          <a:p>
            <a:pPr algn="ctr"/>
            <a:r>
              <a:rPr lang="es-ES" sz="4400" b="1" cap="none" spc="0" dirty="0">
                <a:ln w="0"/>
                <a:solidFill>
                  <a:schemeClr val="bg1"/>
                </a:solidFill>
                <a:effectLst>
                  <a:outerShdw blurRad="50800" dist="38100" dir="2700000" algn="tl" rotWithShape="0">
                    <a:prstClr val="black">
                      <a:alpha val="40000"/>
                    </a:prstClr>
                  </a:outerShdw>
                </a:effectLst>
              </a:rPr>
              <a:t>INSTITUTO TECNOLOGICO SACABA (ITSa)</a:t>
            </a:r>
          </a:p>
          <a:p>
            <a:pPr algn="ctr"/>
            <a:r>
              <a:rPr lang="es-ES" sz="2800" b="1" dirty="0">
                <a:ln w="0"/>
                <a:solidFill>
                  <a:schemeClr val="bg1"/>
                </a:solidFill>
                <a:effectLst>
                  <a:outerShdw blurRad="50800" dist="38100" dir="2700000" algn="tl" rotWithShape="0">
                    <a:prstClr val="black">
                      <a:alpha val="40000"/>
                    </a:prstClr>
                  </a:outerShdw>
                </a:effectLst>
              </a:rPr>
              <a:t>CARRERA: INFORMATICA INDUSTRIAL I/2026</a:t>
            </a:r>
            <a:endParaRPr lang="es-ES" sz="2400" b="1" cap="none" spc="0" dirty="0">
              <a:ln w="0"/>
              <a:solidFill>
                <a:schemeClr val="bg1"/>
              </a:solidFill>
              <a:effectLst>
                <a:outerShdw blurRad="50800" dist="38100" dir="2700000" algn="tl" rotWithShape="0">
                  <a:prstClr val="black">
                    <a:alpha val="40000"/>
                  </a:prstClr>
                </a:outerShdw>
              </a:effectLst>
            </a:endParaRPr>
          </a:p>
        </p:txBody>
      </p:sp>
      <p:pic>
        <p:nvPicPr>
          <p:cNvPr id="3" name="Imagen 2"/>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802583" y="-5379"/>
            <a:ext cx="1321802" cy="1200329"/>
          </a:xfrm>
          <a:prstGeom prst="rect">
            <a:avLst/>
          </a:prstGeom>
        </p:spPr>
      </p:pic>
      <p:pic>
        <p:nvPicPr>
          <p:cNvPr id="4" name="Imagen 3"/>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740979" y="5553635"/>
            <a:ext cx="1334479" cy="1210235"/>
          </a:xfrm>
          <a:prstGeom prst="rect">
            <a:avLst/>
          </a:prstGeom>
        </p:spPr>
      </p:pic>
      <p:sp>
        <p:nvSpPr>
          <p:cNvPr id="7" name="Título 1">
            <a:extLst>
              <a:ext uri="{FF2B5EF4-FFF2-40B4-BE49-F238E27FC236}">
                <a16:creationId xmlns:a16="http://schemas.microsoft.com/office/drawing/2014/main" id="{6D3B085D-D1AD-4597-80AF-57AD660C8506}"/>
              </a:ext>
            </a:extLst>
          </p:cNvPr>
          <p:cNvSpPr txBox="1">
            <a:spLocks/>
          </p:cNvSpPr>
          <p:nvPr/>
        </p:nvSpPr>
        <p:spPr>
          <a:xfrm>
            <a:off x="290945" y="1509401"/>
            <a:ext cx="8164285" cy="588236"/>
          </a:xfrm>
          <a:prstGeom prst="rect">
            <a:avLst/>
          </a:prstGeom>
        </p:spPr>
        <p:txBody>
          <a:bodyPr anchor="b"/>
          <a:lstStyle>
            <a:lvl1pPr algn="ctr" defTabSz="914400" rtl="0" eaLnBrk="1" latinLnBrk="0" hangingPunct="1">
              <a:lnSpc>
                <a:spcPct val="90000"/>
              </a:lnSpc>
              <a:spcBef>
                <a:spcPct val="0"/>
              </a:spcBef>
              <a:buNone/>
              <a:defRPr sz="6000" b="1" kern="1200">
                <a:solidFill>
                  <a:schemeClr val="bg1"/>
                </a:solidFill>
                <a:effectLst>
                  <a:outerShdw blurRad="38100" dist="38100" dir="2700000" algn="tl">
                    <a:srgbClr val="000000">
                      <a:alpha val="43137"/>
                    </a:srgbClr>
                  </a:outerShdw>
                </a:effectLst>
                <a:latin typeface="+mn-lt"/>
                <a:ea typeface="+mj-ea"/>
                <a:cs typeface="+mj-cs"/>
              </a:defRPr>
            </a:lvl1pPr>
          </a:lstStyle>
          <a:p>
            <a:pPr algn="l"/>
            <a:r>
              <a:rPr lang="es-BO" sz="3600" dirty="0">
                <a:solidFill>
                  <a:srgbClr val="002060"/>
                </a:solidFill>
                <a:effectLst/>
              </a:rPr>
              <a:t>VIABILIDAD ECONOMICA </a:t>
            </a:r>
          </a:p>
        </p:txBody>
      </p:sp>
      <p:graphicFrame>
        <p:nvGraphicFramePr>
          <p:cNvPr id="6" name="Tabla 5"/>
          <p:cNvGraphicFramePr>
            <a:graphicFrameLocks noGrp="1"/>
          </p:cNvGraphicFramePr>
          <p:nvPr>
            <p:extLst>
              <p:ext uri="{D42A27DB-BD31-4B8C-83A1-F6EECF244321}">
                <p14:modId xmlns:p14="http://schemas.microsoft.com/office/powerpoint/2010/main" val="2237204555"/>
              </p:ext>
            </p:extLst>
          </p:nvPr>
        </p:nvGraphicFramePr>
        <p:xfrm>
          <a:off x="2353235" y="2097637"/>
          <a:ext cx="6857999" cy="4412090"/>
        </p:xfrm>
        <a:graphic>
          <a:graphicData uri="http://schemas.openxmlformats.org/drawingml/2006/table">
            <a:tbl>
              <a:tblPr firstRow="1" firstCol="1" bandRow="1">
                <a:tableStyleId>{5C22544A-7EE6-4342-B048-85BDC9FD1C3A}</a:tableStyleId>
              </a:tblPr>
              <a:tblGrid>
                <a:gridCol w="1714499">
                  <a:extLst>
                    <a:ext uri="{9D8B030D-6E8A-4147-A177-3AD203B41FA5}">
                      <a16:colId xmlns:a16="http://schemas.microsoft.com/office/drawing/2014/main" val="20000"/>
                    </a:ext>
                  </a:extLst>
                </a:gridCol>
                <a:gridCol w="2906958">
                  <a:extLst>
                    <a:ext uri="{9D8B030D-6E8A-4147-A177-3AD203B41FA5}">
                      <a16:colId xmlns:a16="http://schemas.microsoft.com/office/drawing/2014/main" val="20001"/>
                    </a:ext>
                  </a:extLst>
                </a:gridCol>
                <a:gridCol w="1211104">
                  <a:extLst>
                    <a:ext uri="{9D8B030D-6E8A-4147-A177-3AD203B41FA5}">
                      <a16:colId xmlns:a16="http://schemas.microsoft.com/office/drawing/2014/main" val="20002"/>
                    </a:ext>
                  </a:extLst>
                </a:gridCol>
                <a:gridCol w="1025438">
                  <a:extLst>
                    <a:ext uri="{9D8B030D-6E8A-4147-A177-3AD203B41FA5}">
                      <a16:colId xmlns:a16="http://schemas.microsoft.com/office/drawing/2014/main" val="20003"/>
                    </a:ext>
                  </a:extLst>
                </a:gridCol>
              </a:tblGrid>
              <a:tr h="467321">
                <a:tc>
                  <a:txBody>
                    <a:bodyPr/>
                    <a:lstStyle/>
                    <a:p>
                      <a:pPr algn="ctr">
                        <a:lnSpc>
                          <a:spcPct val="150000"/>
                        </a:lnSpc>
                        <a:spcAft>
                          <a:spcPts val="0"/>
                        </a:spcAft>
                      </a:pPr>
                      <a:r>
                        <a:rPr lang="es-BO" sz="1200" dirty="0">
                          <a:effectLst/>
                          <a:latin typeface="Arial" panose="020B0604020202020204" pitchFamily="34" charset="0"/>
                          <a:cs typeface="Arial" panose="020B0604020202020204" pitchFamily="34" charset="0"/>
                        </a:rPr>
                        <a:t>CANTIDAD</a:t>
                      </a:r>
                      <a:endParaRPr lang="es-BO" sz="1200" dirty="0">
                        <a:effectLst/>
                        <a:latin typeface="Arial" panose="020B0604020202020204" pitchFamily="34" charset="0"/>
                        <a:ea typeface="Calibri" panose="020F0502020204030204" pitchFamily="34" charset="0"/>
                        <a:cs typeface="Arial" panose="020B0604020202020204" pitchFamily="34" charset="0"/>
                      </a:endParaRPr>
                    </a:p>
                  </a:txBody>
                  <a:tcPr marL="57254" marR="57254" marT="0" marB="0" anchor="ctr"/>
                </a:tc>
                <a:tc>
                  <a:txBody>
                    <a:bodyPr/>
                    <a:lstStyle/>
                    <a:p>
                      <a:pPr algn="ctr">
                        <a:lnSpc>
                          <a:spcPct val="150000"/>
                        </a:lnSpc>
                        <a:spcAft>
                          <a:spcPts val="0"/>
                        </a:spcAft>
                      </a:pPr>
                      <a:r>
                        <a:rPr lang="es-BO" sz="1200" dirty="0">
                          <a:effectLst/>
                          <a:latin typeface="Arial" panose="020B0604020202020204" pitchFamily="34" charset="0"/>
                          <a:cs typeface="Arial" panose="020B0604020202020204" pitchFamily="34" charset="0"/>
                        </a:rPr>
                        <a:t>DESCRIPCION</a:t>
                      </a:r>
                      <a:endParaRPr lang="es-BO" sz="1200" dirty="0">
                        <a:effectLst/>
                        <a:latin typeface="Arial" panose="020B0604020202020204" pitchFamily="34" charset="0"/>
                        <a:ea typeface="Calibri" panose="020F0502020204030204" pitchFamily="34" charset="0"/>
                        <a:cs typeface="Arial" panose="020B0604020202020204" pitchFamily="34" charset="0"/>
                      </a:endParaRPr>
                    </a:p>
                  </a:txBody>
                  <a:tcPr marL="57254" marR="57254" marT="0" marB="0" anchor="ctr"/>
                </a:tc>
                <a:tc>
                  <a:txBody>
                    <a:bodyPr/>
                    <a:lstStyle/>
                    <a:p>
                      <a:pPr algn="ctr">
                        <a:lnSpc>
                          <a:spcPct val="150000"/>
                        </a:lnSpc>
                        <a:spcAft>
                          <a:spcPts val="0"/>
                        </a:spcAft>
                      </a:pPr>
                      <a:r>
                        <a:rPr lang="es-BO" sz="1200">
                          <a:effectLst/>
                          <a:latin typeface="Arial" panose="020B0604020202020204" pitchFamily="34" charset="0"/>
                          <a:cs typeface="Arial" panose="020B0604020202020204" pitchFamily="34" charset="0"/>
                        </a:rPr>
                        <a:t>PRECIO</a:t>
                      </a:r>
                    </a:p>
                    <a:p>
                      <a:pPr algn="ctr">
                        <a:lnSpc>
                          <a:spcPct val="150000"/>
                        </a:lnSpc>
                        <a:spcAft>
                          <a:spcPts val="0"/>
                        </a:spcAft>
                      </a:pPr>
                      <a:r>
                        <a:rPr lang="es-BO" sz="1200">
                          <a:effectLst/>
                          <a:latin typeface="Arial" panose="020B0604020202020204" pitchFamily="34" charset="0"/>
                          <a:cs typeface="Arial" panose="020B0604020202020204" pitchFamily="34" charset="0"/>
                        </a:rPr>
                        <a:t>UNITARIO</a:t>
                      </a:r>
                      <a:endParaRPr lang="es-BO" sz="1200">
                        <a:effectLst/>
                        <a:latin typeface="Arial" panose="020B0604020202020204" pitchFamily="34" charset="0"/>
                        <a:ea typeface="Calibri" panose="020F0502020204030204" pitchFamily="34" charset="0"/>
                        <a:cs typeface="Arial" panose="020B0604020202020204" pitchFamily="34" charset="0"/>
                      </a:endParaRPr>
                    </a:p>
                  </a:txBody>
                  <a:tcPr marL="57254" marR="57254" marT="0" marB="0" anchor="ctr"/>
                </a:tc>
                <a:tc>
                  <a:txBody>
                    <a:bodyPr/>
                    <a:lstStyle/>
                    <a:p>
                      <a:pPr algn="ctr">
                        <a:lnSpc>
                          <a:spcPct val="150000"/>
                        </a:lnSpc>
                        <a:spcAft>
                          <a:spcPts val="0"/>
                        </a:spcAft>
                      </a:pPr>
                      <a:r>
                        <a:rPr lang="es-BO" sz="1200" dirty="0">
                          <a:effectLst/>
                          <a:latin typeface="Arial" panose="020B0604020202020204" pitchFamily="34" charset="0"/>
                          <a:cs typeface="Arial" panose="020B0604020202020204" pitchFamily="34" charset="0"/>
                        </a:rPr>
                        <a:t>MONTO (Bs.)</a:t>
                      </a:r>
                      <a:endParaRPr lang="es-BO" sz="1200" dirty="0">
                        <a:effectLst/>
                        <a:latin typeface="Arial" panose="020B0604020202020204" pitchFamily="34" charset="0"/>
                        <a:ea typeface="Calibri" panose="020F0502020204030204" pitchFamily="34" charset="0"/>
                        <a:cs typeface="Arial" panose="020B0604020202020204" pitchFamily="34" charset="0"/>
                      </a:endParaRPr>
                    </a:p>
                  </a:txBody>
                  <a:tcPr marL="57254" marR="57254" marT="0" marB="0" anchor="ctr"/>
                </a:tc>
                <a:extLst>
                  <a:ext uri="{0D108BD9-81ED-4DB2-BD59-A6C34878D82A}">
                    <a16:rowId xmlns:a16="http://schemas.microsoft.com/office/drawing/2014/main" val="10000"/>
                  </a:ext>
                </a:extLst>
              </a:tr>
              <a:tr h="467321">
                <a:tc>
                  <a:txBody>
                    <a:bodyPr/>
                    <a:lstStyle/>
                    <a:p>
                      <a:pPr algn="just">
                        <a:lnSpc>
                          <a:spcPct val="150000"/>
                        </a:lnSpc>
                        <a:spcAft>
                          <a:spcPts val="0"/>
                        </a:spcAft>
                      </a:pPr>
                      <a:r>
                        <a:rPr lang="es-BO" sz="1200">
                          <a:effectLst/>
                          <a:latin typeface="Arial" panose="020B0604020202020204" pitchFamily="34" charset="0"/>
                          <a:cs typeface="Arial" panose="020B0604020202020204" pitchFamily="34" charset="0"/>
                        </a:rPr>
                        <a:t>280</a:t>
                      </a:r>
                      <a:endParaRPr lang="es-BO" sz="1200">
                        <a:effectLst/>
                        <a:latin typeface="Arial" panose="020B0604020202020204" pitchFamily="34" charset="0"/>
                        <a:ea typeface="Calibri" panose="020F0502020204030204" pitchFamily="34" charset="0"/>
                        <a:cs typeface="Arial" panose="020B0604020202020204" pitchFamily="34" charset="0"/>
                      </a:endParaRPr>
                    </a:p>
                  </a:txBody>
                  <a:tcPr marL="57254" marR="57254" marT="0" marB="0" anchor="ctr"/>
                </a:tc>
                <a:tc>
                  <a:txBody>
                    <a:bodyPr/>
                    <a:lstStyle/>
                    <a:p>
                      <a:pPr algn="just">
                        <a:lnSpc>
                          <a:spcPct val="150000"/>
                        </a:lnSpc>
                        <a:spcAft>
                          <a:spcPts val="0"/>
                        </a:spcAft>
                      </a:pPr>
                      <a:r>
                        <a:rPr lang="es-ES" sz="1200" dirty="0">
                          <a:effectLst/>
                          <a:latin typeface="Arial" panose="020B0604020202020204" pitchFamily="34" charset="0"/>
                          <a:cs typeface="Arial" panose="020B0604020202020204" pitchFamily="34" charset="0"/>
                        </a:rPr>
                        <a:t>Hojas Impresas</a:t>
                      </a:r>
                      <a:endParaRPr lang="es-BO" sz="1200" dirty="0">
                        <a:effectLst/>
                        <a:latin typeface="Arial" panose="020B0604020202020204" pitchFamily="34" charset="0"/>
                        <a:cs typeface="Arial" panose="020B0604020202020204" pitchFamily="34" charset="0"/>
                      </a:endParaRPr>
                    </a:p>
                  </a:txBody>
                  <a:tcPr marL="57254" marR="57254" marT="0" marB="0" anchor="ctr"/>
                </a:tc>
                <a:tc>
                  <a:txBody>
                    <a:bodyPr/>
                    <a:lstStyle/>
                    <a:p>
                      <a:pPr algn="just">
                        <a:lnSpc>
                          <a:spcPct val="150000"/>
                        </a:lnSpc>
                        <a:spcAft>
                          <a:spcPts val="0"/>
                        </a:spcAft>
                      </a:pPr>
                      <a:r>
                        <a:rPr lang="es-BO" sz="1200">
                          <a:effectLst/>
                          <a:latin typeface="Arial" panose="020B0604020202020204" pitchFamily="34" charset="0"/>
                          <a:cs typeface="Arial" panose="020B0604020202020204" pitchFamily="34" charset="0"/>
                        </a:rPr>
                        <a:t> </a:t>
                      </a:r>
                      <a:endParaRPr lang="es-BO" sz="1200">
                        <a:effectLst/>
                        <a:latin typeface="Arial" panose="020B0604020202020204" pitchFamily="34" charset="0"/>
                        <a:ea typeface="Calibri" panose="020F0502020204030204" pitchFamily="34" charset="0"/>
                        <a:cs typeface="Arial" panose="020B0604020202020204" pitchFamily="34" charset="0"/>
                      </a:endParaRPr>
                    </a:p>
                  </a:txBody>
                  <a:tcPr marL="57254" marR="57254" marT="0" marB="0" anchor="ctr"/>
                </a:tc>
                <a:tc>
                  <a:txBody>
                    <a:bodyPr/>
                    <a:lstStyle/>
                    <a:p>
                      <a:pPr algn="just">
                        <a:lnSpc>
                          <a:spcPct val="150000"/>
                        </a:lnSpc>
                        <a:spcAft>
                          <a:spcPts val="0"/>
                        </a:spcAft>
                      </a:pPr>
                      <a:r>
                        <a:rPr lang="es-BO" sz="1200">
                          <a:effectLst/>
                          <a:latin typeface="Arial" panose="020B0604020202020204" pitchFamily="34" charset="0"/>
                          <a:cs typeface="Arial" panose="020B0604020202020204" pitchFamily="34" charset="0"/>
                        </a:rPr>
                        <a:t>80 Bs.</a:t>
                      </a:r>
                      <a:endParaRPr lang="es-BO" sz="1200">
                        <a:effectLst/>
                        <a:latin typeface="Arial" panose="020B0604020202020204" pitchFamily="34" charset="0"/>
                        <a:ea typeface="Calibri" panose="020F0502020204030204" pitchFamily="34" charset="0"/>
                        <a:cs typeface="Arial" panose="020B0604020202020204" pitchFamily="34" charset="0"/>
                      </a:endParaRPr>
                    </a:p>
                  </a:txBody>
                  <a:tcPr marL="57254" marR="57254" marT="0" marB="0" anchor="ctr"/>
                </a:tc>
                <a:extLst>
                  <a:ext uri="{0D108BD9-81ED-4DB2-BD59-A6C34878D82A}">
                    <a16:rowId xmlns:a16="http://schemas.microsoft.com/office/drawing/2014/main" val="10001"/>
                  </a:ext>
                </a:extLst>
              </a:tr>
              <a:tr h="467321">
                <a:tc>
                  <a:txBody>
                    <a:bodyPr/>
                    <a:lstStyle/>
                    <a:p>
                      <a:pPr algn="just">
                        <a:lnSpc>
                          <a:spcPct val="150000"/>
                        </a:lnSpc>
                        <a:spcAft>
                          <a:spcPts val="0"/>
                        </a:spcAft>
                      </a:pPr>
                      <a:r>
                        <a:rPr lang="es-BO" sz="1200">
                          <a:effectLst/>
                          <a:latin typeface="Arial" panose="020B0604020202020204" pitchFamily="34" charset="0"/>
                          <a:cs typeface="Arial" panose="020B0604020202020204" pitchFamily="34" charset="0"/>
                        </a:rPr>
                        <a:t>2</a:t>
                      </a:r>
                      <a:endParaRPr lang="es-BO" sz="1200">
                        <a:effectLst/>
                        <a:latin typeface="Arial" panose="020B0604020202020204" pitchFamily="34" charset="0"/>
                        <a:ea typeface="Calibri" panose="020F0502020204030204" pitchFamily="34" charset="0"/>
                        <a:cs typeface="Arial" panose="020B0604020202020204" pitchFamily="34" charset="0"/>
                      </a:endParaRPr>
                    </a:p>
                  </a:txBody>
                  <a:tcPr marL="57254" marR="57254" marT="0" marB="0" anchor="ctr"/>
                </a:tc>
                <a:tc>
                  <a:txBody>
                    <a:bodyPr/>
                    <a:lstStyle/>
                    <a:p>
                      <a:pPr algn="just">
                        <a:lnSpc>
                          <a:spcPct val="150000"/>
                        </a:lnSpc>
                        <a:spcAft>
                          <a:spcPts val="0"/>
                        </a:spcAft>
                      </a:pPr>
                      <a:r>
                        <a:rPr lang="es-ES" sz="1200" dirty="0">
                          <a:effectLst/>
                          <a:latin typeface="Arial" panose="020B0604020202020204" pitchFamily="34" charset="0"/>
                          <a:cs typeface="Arial" panose="020B0604020202020204" pitchFamily="34" charset="0"/>
                        </a:rPr>
                        <a:t>anillados</a:t>
                      </a:r>
                      <a:endParaRPr lang="es-BO" sz="1200" dirty="0">
                        <a:effectLst/>
                        <a:latin typeface="Arial" panose="020B0604020202020204" pitchFamily="34" charset="0"/>
                        <a:cs typeface="Arial" panose="020B0604020202020204" pitchFamily="34" charset="0"/>
                      </a:endParaRPr>
                    </a:p>
                  </a:txBody>
                  <a:tcPr marL="57254" marR="57254" marT="0" marB="0" anchor="ctr"/>
                </a:tc>
                <a:tc>
                  <a:txBody>
                    <a:bodyPr/>
                    <a:lstStyle/>
                    <a:p>
                      <a:pPr algn="just">
                        <a:lnSpc>
                          <a:spcPct val="150000"/>
                        </a:lnSpc>
                        <a:spcAft>
                          <a:spcPts val="0"/>
                        </a:spcAft>
                      </a:pPr>
                      <a:r>
                        <a:rPr lang="es-BO" sz="1200">
                          <a:effectLst/>
                          <a:latin typeface="Arial" panose="020B0604020202020204" pitchFamily="34" charset="0"/>
                          <a:cs typeface="Arial" panose="020B0604020202020204" pitchFamily="34" charset="0"/>
                        </a:rPr>
                        <a:t> </a:t>
                      </a:r>
                      <a:endParaRPr lang="es-BO" sz="1200">
                        <a:effectLst/>
                        <a:latin typeface="Arial" panose="020B0604020202020204" pitchFamily="34" charset="0"/>
                        <a:ea typeface="Calibri" panose="020F0502020204030204" pitchFamily="34" charset="0"/>
                        <a:cs typeface="Arial" panose="020B0604020202020204" pitchFamily="34" charset="0"/>
                      </a:endParaRPr>
                    </a:p>
                  </a:txBody>
                  <a:tcPr marL="57254" marR="57254" marT="0" marB="0" anchor="ctr"/>
                </a:tc>
                <a:tc>
                  <a:txBody>
                    <a:bodyPr/>
                    <a:lstStyle/>
                    <a:p>
                      <a:pPr algn="just">
                        <a:lnSpc>
                          <a:spcPct val="150000"/>
                        </a:lnSpc>
                        <a:spcAft>
                          <a:spcPts val="0"/>
                        </a:spcAft>
                      </a:pPr>
                      <a:r>
                        <a:rPr lang="es-BO" sz="1200">
                          <a:effectLst/>
                          <a:latin typeface="Arial" panose="020B0604020202020204" pitchFamily="34" charset="0"/>
                          <a:cs typeface="Arial" panose="020B0604020202020204" pitchFamily="34" charset="0"/>
                        </a:rPr>
                        <a:t>50 Bs. </a:t>
                      </a:r>
                      <a:endParaRPr lang="es-BO" sz="1200">
                        <a:effectLst/>
                        <a:latin typeface="Arial" panose="020B0604020202020204" pitchFamily="34" charset="0"/>
                        <a:ea typeface="Calibri" panose="020F0502020204030204" pitchFamily="34" charset="0"/>
                        <a:cs typeface="Arial" panose="020B0604020202020204" pitchFamily="34" charset="0"/>
                      </a:endParaRPr>
                    </a:p>
                  </a:txBody>
                  <a:tcPr marL="57254" marR="57254" marT="0" marB="0" anchor="ctr"/>
                </a:tc>
                <a:extLst>
                  <a:ext uri="{0D108BD9-81ED-4DB2-BD59-A6C34878D82A}">
                    <a16:rowId xmlns:a16="http://schemas.microsoft.com/office/drawing/2014/main" val="10002"/>
                  </a:ext>
                </a:extLst>
              </a:tr>
              <a:tr h="467321">
                <a:tc>
                  <a:txBody>
                    <a:bodyPr/>
                    <a:lstStyle/>
                    <a:p>
                      <a:pPr algn="just">
                        <a:lnSpc>
                          <a:spcPct val="150000"/>
                        </a:lnSpc>
                        <a:spcAft>
                          <a:spcPts val="0"/>
                        </a:spcAft>
                      </a:pPr>
                      <a:r>
                        <a:rPr lang="es-BO" sz="1200" dirty="0">
                          <a:effectLst/>
                          <a:latin typeface="Arial" panose="020B0604020202020204" pitchFamily="34" charset="0"/>
                          <a:cs typeface="Arial" panose="020B0604020202020204" pitchFamily="34" charset="0"/>
                        </a:rPr>
                        <a:t>1</a:t>
                      </a:r>
                      <a:endParaRPr lang="es-BO" sz="1200" dirty="0">
                        <a:effectLst/>
                        <a:latin typeface="Arial" panose="020B0604020202020204" pitchFamily="34" charset="0"/>
                        <a:ea typeface="Calibri" panose="020F0502020204030204" pitchFamily="34" charset="0"/>
                        <a:cs typeface="Arial" panose="020B0604020202020204" pitchFamily="34" charset="0"/>
                      </a:endParaRPr>
                    </a:p>
                  </a:txBody>
                  <a:tcPr marL="57254" marR="57254" marT="0" marB="0" anchor="ctr"/>
                </a:tc>
                <a:tc>
                  <a:txBody>
                    <a:bodyPr/>
                    <a:lstStyle/>
                    <a:p>
                      <a:pPr algn="just">
                        <a:lnSpc>
                          <a:spcPct val="150000"/>
                        </a:lnSpc>
                        <a:spcAft>
                          <a:spcPts val="0"/>
                        </a:spcAft>
                      </a:pPr>
                      <a:r>
                        <a:rPr lang="es-ES" sz="1200" dirty="0">
                          <a:effectLst/>
                          <a:latin typeface="Arial" panose="020B0604020202020204" pitchFamily="34" charset="0"/>
                          <a:cs typeface="Arial" panose="020B0604020202020204" pitchFamily="34" charset="0"/>
                        </a:rPr>
                        <a:t>Adquisición de Licencias</a:t>
                      </a:r>
                      <a:endParaRPr lang="es-BO" sz="1200" dirty="0">
                        <a:effectLst/>
                        <a:latin typeface="Arial" panose="020B0604020202020204" pitchFamily="34" charset="0"/>
                        <a:cs typeface="Arial" panose="020B0604020202020204" pitchFamily="34" charset="0"/>
                      </a:endParaRPr>
                    </a:p>
                  </a:txBody>
                  <a:tcPr marL="57254" marR="57254" marT="0" marB="0" anchor="ctr"/>
                </a:tc>
                <a:tc>
                  <a:txBody>
                    <a:bodyPr/>
                    <a:lstStyle/>
                    <a:p>
                      <a:pPr algn="just">
                        <a:lnSpc>
                          <a:spcPct val="150000"/>
                        </a:lnSpc>
                        <a:spcAft>
                          <a:spcPts val="0"/>
                        </a:spcAft>
                      </a:pPr>
                      <a:r>
                        <a:rPr lang="es-BO" sz="1200">
                          <a:effectLst/>
                          <a:latin typeface="Arial" panose="020B0604020202020204" pitchFamily="34" charset="0"/>
                          <a:cs typeface="Arial" panose="020B0604020202020204" pitchFamily="34" charset="0"/>
                        </a:rPr>
                        <a:t>0</a:t>
                      </a:r>
                      <a:endParaRPr lang="es-BO" sz="1200">
                        <a:effectLst/>
                        <a:latin typeface="Arial" panose="020B0604020202020204" pitchFamily="34" charset="0"/>
                        <a:ea typeface="Calibri" panose="020F0502020204030204" pitchFamily="34" charset="0"/>
                        <a:cs typeface="Arial" panose="020B0604020202020204" pitchFamily="34" charset="0"/>
                      </a:endParaRPr>
                    </a:p>
                  </a:txBody>
                  <a:tcPr marL="57254" marR="57254" marT="0" marB="0" anchor="ctr"/>
                </a:tc>
                <a:tc>
                  <a:txBody>
                    <a:bodyPr/>
                    <a:lstStyle/>
                    <a:p>
                      <a:pPr algn="just">
                        <a:lnSpc>
                          <a:spcPct val="150000"/>
                        </a:lnSpc>
                        <a:spcAft>
                          <a:spcPts val="0"/>
                        </a:spcAft>
                      </a:pPr>
                      <a:r>
                        <a:rPr lang="es-BO" sz="1200">
                          <a:effectLst/>
                          <a:latin typeface="Arial" panose="020B0604020202020204" pitchFamily="34" charset="0"/>
                          <a:cs typeface="Arial" panose="020B0604020202020204" pitchFamily="34" charset="0"/>
                        </a:rPr>
                        <a:t>0</a:t>
                      </a:r>
                      <a:endParaRPr lang="es-BO" sz="1200">
                        <a:effectLst/>
                        <a:latin typeface="Arial" panose="020B0604020202020204" pitchFamily="34" charset="0"/>
                        <a:ea typeface="Calibri" panose="020F0502020204030204" pitchFamily="34" charset="0"/>
                        <a:cs typeface="Arial" panose="020B0604020202020204" pitchFamily="34" charset="0"/>
                      </a:endParaRPr>
                    </a:p>
                  </a:txBody>
                  <a:tcPr marL="57254" marR="57254" marT="0" marB="0" anchor="ctr"/>
                </a:tc>
                <a:extLst>
                  <a:ext uri="{0D108BD9-81ED-4DB2-BD59-A6C34878D82A}">
                    <a16:rowId xmlns:a16="http://schemas.microsoft.com/office/drawing/2014/main" val="10003"/>
                  </a:ext>
                </a:extLst>
              </a:tr>
              <a:tr h="467321">
                <a:tc>
                  <a:txBody>
                    <a:bodyPr/>
                    <a:lstStyle/>
                    <a:p>
                      <a:pPr algn="just">
                        <a:lnSpc>
                          <a:spcPct val="150000"/>
                        </a:lnSpc>
                        <a:spcAft>
                          <a:spcPts val="0"/>
                        </a:spcAft>
                      </a:pPr>
                      <a:r>
                        <a:rPr lang="es-BO" sz="1200">
                          <a:effectLst/>
                          <a:latin typeface="Arial" panose="020B0604020202020204" pitchFamily="34" charset="0"/>
                          <a:cs typeface="Arial" panose="020B0604020202020204" pitchFamily="34" charset="0"/>
                        </a:rPr>
                        <a:t>2 meses</a:t>
                      </a:r>
                      <a:endParaRPr lang="es-BO" sz="1200">
                        <a:effectLst/>
                        <a:latin typeface="Arial" panose="020B0604020202020204" pitchFamily="34" charset="0"/>
                        <a:ea typeface="Calibri" panose="020F0502020204030204" pitchFamily="34" charset="0"/>
                        <a:cs typeface="Arial" panose="020B0604020202020204" pitchFamily="34" charset="0"/>
                      </a:endParaRPr>
                    </a:p>
                  </a:txBody>
                  <a:tcPr marL="57254" marR="57254" marT="0" marB="0" anchor="ctr"/>
                </a:tc>
                <a:tc>
                  <a:txBody>
                    <a:bodyPr/>
                    <a:lstStyle/>
                    <a:p>
                      <a:pPr algn="just">
                        <a:lnSpc>
                          <a:spcPct val="150000"/>
                        </a:lnSpc>
                        <a:spcAft>
                          <a:spcPts val="0"/>
                        </a:spcAft>
                      </a:pPr>
                      <a:r>
                        <a:rPr lang="es-BO" sz="1200" dirty="0">
                          <a:effectLst/>
                          <a:latin typeface="Arial" panose="020B0604020202020204" pitchFamily="34" charset="0"/>
                          <a:cs typeface="Arial" panose="020B0604020202020204" pitchFamily="34" charset="0"/>
                        </a:rPr>
                        <a:t>Servició de internet</a:t>
                      </a:r>
                    </a:p>
                  </a:txBody>
                  <a:tcPr marL="57254" marR="57254" marT="0" marB="0" anchor="ctr"/>
                </a:tc>
                <a:tc>
                  <a:txBody>
                    <a:bodyPr/>
                    <a:lstStyle/>
                    <a:p>
                      <a:pPr algn="just">
                        <a:lnSpc>
                          <a:spcPct val="150000"/>
                        </a:lnSpc>
                        <a:spcAft>
                          <a:spcPts val="0"/>
                        </a:spcAft>
                      </a:pPr>
                      <a:r>
                        <a:rPr lang="es-BO" sz="1200">
                          <a:effectLst/>
                          <a:latin typeface="Arial" panose="020B0604020202020204" pitchFamily="34" charset="0"/>
                          <a:cs typeface="Arial" panose="020B0604020202020204" pitchFamily="34" charset="0"/>
                        </a:rPr>
                        <a:t>150 Bs. mes</a:t>
                      </a:r>
                      <a:endParaRPr lang="es-BO" sz="1200">
                        <a:effectLst/>
                        <a:latin typeface="Arial" panose="020B0604020202020204" pitchFamily="34" charset="0"/>
                        <a:ea typeface="Calibri" panose="020F0502020204030204" pitchFamily="34" charset="0"/>
                        <a:cs typeface="Arial" panose="020B0604020202020204" pitchFamily="34" charset="0"/>
                      </a:endParaRPr>
                    </a:p>
                  </a:txBody>
                  <a:tcPr marL="57254" marR="57254" marT="0" marB="0" anchor="ctr"/>
                </a:tc>
                <a:tc>
                  <a:txBody>
                    <a:bodyPr/>
                    <a:lstStyle/>
                    <a:p>
                      <a:pPr algn="just">
                        <a:lnSpc>
                          <a:spcPct val="150000"/>
                        </a:lnSpc>
                        <a:spcAft>
                          <a:spcPts val="0"/>
                        </a:spcAft>
                      </a:pPr>
                      <a:r>
                        <a:rPr lang="es-BO" sz="1200">
                          <a:effectLst/>
                          <a:latin typeface="Arial" panose="020B0604020202020204" pitchFamily="34" charset="0"/>
                          <a:cs typeface="Arial" panose="020B0604020202020204" pitchFamily="34" charset="0"/>
                        </a:rPr>
                        <a:t>300 Bs.</a:t>
                      </a:r>
                      <a:endParaRPr lang="es-BO" sz="1200">
                        <a:effectLst/>
                        <a:latin typeface="Arial" panose="020B0604020202020204" pitchFamily="34" charset="0"/>
                        <a:ea typeface="Calibri" panose="020F0502020204030204" pitchFamily="34" charset="0"/>
                        <a:cs typeface="Arial" panose="020B0604020202020204" pitchFamily="34" charset="0"/>
                      </a:endParaRPr>
                    </a:p>
                  </a:txBody>
                  <a:tcPr marL="57254" marR="57254" marT="0" marB="0" anchor="ctr"/>
                </a:tc>
                <a:extLst>
                  <a:ext uri="{0D108BD9-81ED-4DB2-BD59-A6C34878D82A}">
                    <a16:rowId xmlns:a16="http://schemas.microsoft.com/office/drawing/2014/main" val="10004"/>
                  </a:ext>
                </a:extLst>
              </a:tr>
              <a:tr h="467321">
                <a:tc>
                  <a:txBody>
                    <a:bodyPr/>
                    <a:lstStyle/>
                    <a:p>
                      <a:pPr algn="just">
                        <a:lnSpc>
                          <a:spcPct val="150000"/>
                        </a:lnSpc>
                        <a:spcAft>
                          <a:spcPts val="0"/>
                        </a:spcAft>
                      </a:pPr>
                      <a:r>
                        <a:rPr lang="es-BO" sz="1200">
                          <a:effectLst/>
                          <a:latin typeface="Arial" panose="020B0604020202020204" pitchFamily="34" charset="0"/>
                          <a:cs typeface="Arial" panose="020B0604020202020204" pitchFamily="34" charset="0"/>
                        </a:rPr>
                        <a:t>2 meses</a:t>
                      </a:r>
                      <a:endParaRPr lang="es-BO" sz="1200">
                        <a:effectLst/>
                        <a:latin typeface="Arial" panose="020B0604020202020204" pitchFamily="34" charset="0"/>
                        <a:ea typeface="Calibri" panose="020F0502020204030204" pitchFamily="34" charset="0"/>
                        <a:cs typeface="Arial" panose="020B0604020202020204" pitchFamily="34" charset="0"/>
                      </a:endParaRPr>
                    </a:p>
                  </a:txBody>
                  <a:tcPr marL="57254" marR="57254" marT="0" marB="0" anchor="ctr"/>
                </a:tc>
                <a:tc>
                  <a:txBody>
                    <a:bodyPr/>
                    <a:lstStyle/>
                    <a:p>
                      <a:pPr algn="just">
                        <a:lnSpc>
                          <a:spcPct val="150000"/>
                        </a:lnSpc>
                        <a:spcAft>
                          <a:spcPts val="0"/>
                        </a:spcAft>
                      </a:pPr>
                      <a:r>
                        <a:rPr lang="es-BO" sz="1200" dirty="0">
                          <a:effectLst/>
                          <a:latin typeface="Arial" panose="020B0604020202020204" pitchFamily="34" charset="0"/>
                          <a:cs typeface="Arial" panose="020B0604020202020204" pitchFamily="34" charset="0"/>
                        </a:rPr>
                        <a:t>Gastos de electricidad</a:t>
                      </a:r>
                    </a:p>
                  </a:txBody>
                  <a:tcPr marL="57254" marR="57254" marT="0" marB="0" anchor="ctr"/>
                </a:tc>
                <a:tc>
                  <a:txBody>
                    <a:bodyPr/>
                    <a:lstStyle/>
                    <a:p>
                      <a:pPr algn="just">
                        <a:lnSpc>
                          <a:spcPct val="150000"/>
                        </a:lnSpc>
                        <a:spcAft>
                          <a:spcPts val="0"/>
                        </a:spcAft>
                      </a:pPr>
                      <a:r>
                        <a:rPr lang="es-BO" sz="1200">
                          <a:effectLst/>
                          <a:latin typeface="Arial" panose="020B0604020202020204" pitchFamily="34" charset="0"/>
                          <a:cs typeface="Arial" panose="020B0604020202020204" pitchFamily="34" charset="0"/>
                        </a:rPr>
                        <a:t>30 Bs. Mes</a:t>
                      </a:r>
                      <a:endParaRPr lang="es-BO" sz="1200">
                        <a:effectLst/>
                        <a:latin typeface="Arial" panose="020B0604020202020204" pitchFamily="34" charset="0"/>
                        <a:ea typeface="Calibri" panose="020F0502020204030204" pitchFamily="34" charset="0"/>
                        <a:cs typeface="Arial" panose="020B0604020202020204" pitchFamily="34" charset="0"/>
                      </a:endParaRPr>
                    </a:p>
                  </a:txBody>
                  <a:tcPr marL="57254" marR="57254" marT="0" marB="0" anchor="ctr"/>
                </a:tc>
                <a:tc>
                  <a:txBody>
                    <a:bodyPr/>
                    <a:lstStyle/>
                    <a:p>
                      <a:pPr algn="just">
                        <a:lnSpc>
                          <a:spcPct val="150000"/>
                        </a:lnSpc>
                        <a:spcAft>
                          <a:spcPts val="0"/>
                        </a:spcAft>
                      </a:pPr>
                      <a:r>
                        <a:rPr lang="es-BO" sz="1200">
                          <a:effectLst/>
                          <a:latin typeface="Arial" panose="020B0604020202020204" pitchFamily="34" charset="0"/>
                          <a:cs typeface="Arial" panose="020B0604020202020204" pitchFamily="34" charset="0"/>
                        </a:rPr>
                        <a:t>60 Bs.</a:t>
                      </a:r>
                      <a:endParaRPr lang="es-BO" sz="1200">
                        <a:effectLst/>
                        <a:latin typeface="Arial" panose="020B0604020202020204" pitchFamily="34" charset="0"/>
                        <a:ea typeface="Calibri" panose="020F0502020204030204" pitchFamily="34" charset="0"/>
                        <a:cs typeface="Arial" panose="020B0604020202020204" pitchFamily="34" charset="0"/>
                      </a:endParaRPr>
                    </a:p>
                  </a:txBody>
                  <a:tcPr marL="57254" marR="57254" marT="0" marB="0" anchor="ctr"/>
                </a:tc>
                <a:extLst>
                  <a:ext uri="{0D108BD9-81ED-4DB2-BD59-A6C34878D82A}">
                    <a16:rowId xmlns:a16="http://schemas.microsoft.com/office/drawing/2014/main" val="10005"/>
                  </a:ext>
                </a:extLst>
              </a:tr>
              <a:tr h="218299">
                <a:tc>
                  <a:txBody>
                    <a:bodyPr/>
                    <a:lstStyle/>
                    <a:p>
                      <a:pPr algn="just">
                        <a:lnSpc>
                          <a:spcPct val="150000"/>
                        </a:lnSpc>
                        <a:spcAft>
                          <a:spcPts val="0"/>
                        </a:spcAft>
                      </a:pPr>
                      <a:r>
                        <a:rPr lang="es-ES" sz="1200">
                          <a:effectLst/>
                          <a:latin typeface="Arial" panose="020B0604020202020204" pitchFamily="34" charset="0"/>
                          <a:cs typeface="Arial" panose="020B0604020202020204" pitchFamily="34" charset="0"/>
                        </a:rPr>
                        <a:t>1 mes </a:t>
                      </a:r>
                      <a:endParaRPr lang="es-BO" sz="1200">
                        <a:effectLst/>
                        <a:latin typeface="Arial" panose="020B0604020202020204" pitchFamily="34" charset="0"/>
                        <a:ea typeface="Calibri" panose="020F0502020204030204" pitchFamily="34" charset="0"/>
                        <a:cs typeface="Arial" panose="020B0604020202020204" pitchFamily="34" charset="0"/>
                      </a:endParaRPr>
                    </a:p>
                  </a:txBody>
                  <a:tcPr marL="57254" marR="57254" marT="0" marB="0" anchor="ctr"/>
                </a:tc>
                <a:tc>
                  <a:txBody>
                    <a:bodyPr/>
                    <a:lstStyle/>
                    <a:p>
                      <a:pPr algn="just">
                        <a:lnSpc>
                          <a:spcPct val="150000"/>
                        </a:lnSpc>
                        <a:spcAft>
                          <a:spcPts val="0"/>
                        </a:spcAft>
                      </a:pPr>
                      <a:r>
                        <a:rPr lang="es-ES" sz="1200" dirty="0">
                          <a:effectLst/>
                          <a:latin typeface="Arial" panose="020B0604020202020204" pitchFamily="34" charset="0"/>
                          <a:cs typeface="Arial" panose="020B0604020202020204" pitchFamily="34" charset="0"/>
                        </a:rPr>
                        <a:t>Costo de desarrollo de software</a:t>
                      </a:r>
                      <a:endParaRPr lang="es-BO" sz="1200" dirty="0">
                        <a:effectLst/>
                        <a:latin typeface="Arial" panose="020B0604020202020204" pitchFamily="34" charset="0"/>
                        <a:cs typeface="Arial" panose="020B0604020202020204" pitchFamily="34" charset="0"/>
                      </a:endParaRPr>
                    </a:p>
                  </a:txBody>
                  <a:tcPr marL="57254" marR="57254" marT="0" marB="0" anchor="ctr"/>
                </a:tc>
                <a:tc>
                  <a:txBody>
                    <a:bodyPr/>
                    <a:lstStyle/>
                    <a:p>
                      <a:pPr algn="just">
                        <a:lnSpc>
                          <a:spcPct val="150000"/>
                        </a:lnSpc>
                        <a:spcAft>
                          <a:spcPts val="0"/>
                        </a:spcAft>
                      </a:pPr>
                      <a:r>
                        <a:rPr lang="es-ES" sz="1200">
                          <a:effectLst/>
                          <a:latin typeface="Arial" panose="020B0604020202020204" pitchFamily="34" charset="0"/>
                          <a:cs typeface="Arial" panose="020B0604020202020204" pitchFamily="34" charset="0"/>
                        </a:rPr>
                        <a:t>30 Bs.hora</a:t>
                      </a:r>
                      <a:endParaRPr lang="es-BO" sz="1200">
                        <a:effectLst/>
                        <a:latin typeface="Arial" panose="020B0604020202020204" pitchFamily="34" charset="0"/>
                        <a:ea typeface="Calibri" panose="020F0502020204030204" pitchFamily="34" charset="0"/>
                        <a:cs typeface="Arial" panose="020B0604020202020204" pitchFamily="34" charset="0"/>
                      </a:endParaRPr>
                    </a:p>
                  </a:txBody>
                  <a:tcPr marL="57254" marR="57254" marT="0" marB="0" anchor="ctr"/>
                </a:tc>
                <a:tc>
                  <a:txBody>
                    <a:bodyPr/>
                    <a:lstStyle/>
                    <a:p>
                      <a:pPr algn="just">
                        <a:lnSpc>
                          <a:spcPct val="150000"/>
                        </a:lnSpc>
                        <a:spcAft>
                          <a:spcPts val="0"/>
                        </a:spcAft>
                      </a:pPr>
                      <a:r>
                        <a:rPr lang="es-ES" sz="1200">
                          <a:effectLst/>
                          <a:latin typeface="Arial" panose="020B0604020202020204" pitchFamily="34" charset="0"/>
                          <a:cs typeface="Arial" panose="020B0604020202020204" pitchFamily="34" charset="0"/>
                        </a:rPr>
                        <a:t>1200 Bs.</a:t>
                      </a:r>
                      <a:endParaRPr lang="es-BO" sz="1200">
                        <a:effectLst/>
                        <a:latin typeface="Arial" panose="020B0604020202020204" pitchFamily="34" charset="0"/>
                        <a:ea typeface="Calibri" panose="020F0502020204030204" pitchFamily="34" charset="0"/>
                        <a:cs typeface="Arial" panose="020B0604020202020204" pitchFamily="34" charset="0"/>
                      </a:endParaRPr>
                    </a:p>
                  </a:txBody>
                  <a:tcPr marL="57254" marR="57254" marT="0" marB="0" anchor="ctr"/>
                </a:tc>
                <a:extLst>
                  <a:ext uri="{0D108BD9-81ED-4DB2-BD59-A6C34878D82A}">
                    <a16:rowId xmlns:a16="http://schemas.microsoft.com/office/drawing/2014/main" val="10006"/>
                  </a:ext>
                </a:extLst>
              </a:tr>
              <a:tr h="467321">
                <a:tc>
                  <a:txBody>
                    <a:bodyPr/>
                    <a:lstStyle/>
                    <a:p>
                      <a:pPr algn="just">
                        <a:lnSpc>
                          <a:spcPct val="150000"/>
                        </a:lnSpc>
                        <a:spcAft>
                          <a:spcPts val="0"/>
                        </a:spcAft>
                      </a:pPr>
                      <a:r>
                        <a:rPr lang="es-BO" sz="1200">
                          <a:effectLst/>
                          <a:latin typeface="Arial" panose="020B0604020202020204" pitchFamily="34" charset="0"/>
                          <a:cs typeface="Arial" panose="020B0604020202020204" pitchFamily="34" charset="0"/>
                        </a:rPr>
                        <a:t>21</a:t>
                      </a:r>
                      <a:endParaRPr lang="es-BO" sz="1200">
                        <a:effectLst/>
                        <a:latin typeface="Arial" panose="020B0604020202020204" pitchFamily="34" charset="0"/>
                        <a:ea typeface="Calibri" panose="020F0502020204030204" pitchFamily="34" charset="0"/>
                        <a:cs typeface="Arial" panose="020B0604020202020204" pitchFamily="34" charset="0"/>
                      </a:endParaRPr>
                    </a:p>
                  </a:txBody>
                  <a:tcPr marL="57254" marR="57254" marT="0" marB="0" anchor="ctr"/>
                </a:tc>
                <a:tc>
                  <a:txBody>
                    <a:bodyPr/>
                    <a:lstStyle/>
                    <a:p>
                      <a:pPr algn="just">
                        <a:lnSpc>
                          <a:spcPct val="150000"/>
                        </a:lnSpc>
                        <a:spcAft>
                          <a:spcPts val="0"/>
                        </a:spcAft>
                      </a:pPr>
                      <a:r>
                        <a:rPr lang="es-ES" sz="1200" dirty="0">
                          <a:effectLst/>
                          <a:latin typeface="Arial" panose="020B0604020202020204" pitchFamily="34" charset="0"/>
                          <a:cs typeface="Arial" panose="020B0604020202020204" pitchFamily="34" charset="0"/>
                        </a:rPr>
                        <a:t>Adquisición de equipos</a:t>
                      </a:r>
                      <a:endParaRPr lang="es-BO" sz="1200" dirty="0">
                        <a:effectLst/>
                        <a:latin typeface="Arial" panose="020B0604020202020204" pitchFamily="34" charset="0"/>
                        <a:cs typeface="Arial" panose="020B0604020202020204" pitchFamily="34" charset="0"/>
                      </a:endParaRPr>
                    </a:p>
                    <a:p>
                      <a:pPr algn="just">
                        <a:lnSpc>
                          <a:spcPct val="150000"/>
                        </a:lnSpc>
                        <a:spcAft>
                          <a:spcPts val="0"/>
                        </a:spcAft>
                      </a:pPr>
                      <a:endParaRPr lang="es-BO" sz="1200" dirty="0">
                        <a:effectLst/>
                        <a:latin typeface="Arial" panose="020B0604020202020204" pitchFamily="34" charset="0"/>
                        <a:ea typeface="Calibri" panose="020F0502020204030204" pitchFamily="34" charset="0"/>
                        <a:cs typeface="Arial" panose="020B0604020202020204" pitchFamily="34" charset="0"/>
                      </a:endParaRPr>
                    </a:p>
                  </a:txBody>
                  <a:tcPr marL="57254" marR="57254" marT="0" marB="0" anchor="ctr"/>
                </a:tc>
                <a:tc>
                  <a:txBody>
                    <a:bodyPr/>
                    <a:lstStyle/>
                    <a:p>
                      <a:pPr algn="just">
                        <a:lnSpc>
                          <a:spcPct val="150000"/>
                        </a:lnSpc>
                        <a:spcAft>
                          <a:spcPts val="0"/>
                        </a:spcAft>
                      </a:pPr>
                      <a:r>
                        <a:rPr lang="es-BO" sz="1200">
                          <a:effectLst/>
                          <a:latin typeface="Arial" panose="020B0604020202020204" pitchFamily="34" charset="0"/>
                          <a:cs typeface="Arial" panose="020B0604020202020204" pitchFamily="34" charset="0"/>
                        </a:rPr>
                        <a:t>1153 Bs.</a:t>
                      </a:r>
                      <a:endParaRPr lang="es-BO" sz="1200">
                        <a:effectLst/>
                        <a:latin typeface="Arial" panose="020B0604020202020204" pitchFamily="34" charset="0"/>
                        <a:ea typeface="Calibri" panose="020F0502020204030204" pitchFamily="34" charset="0"/>
                        <a:cs typeface="Arial" panose="020B0604020202020204" pitchFamily="34" charset="0"/>
                      </a:endParaRPr>
                    </a:p>
                  </a:txBody>
                  <a:tcPr marL="57254" marR="57254" marT="0" marB="0" anchor="ctr"/>
                </a:tc>
                <a:tc>
                  <a:txBody>
                    <a:bodyPr/>
                    <a:lstStyle/>
                    <a:p>
                      <a:pPr algn="just">
                        <a:lnSpc>
                          <a:spcPct val="150000"/>
                        </a:lnSpc>
                        <a:spcAft>
                          <a:spcPts val="0"/>
                        </a:spcAft>
                      </a:pPr>
                      <a:r>
                        <a:rPr lang="es-BO" sz="1200">
                          <a:effectLst/>
                          <a:latin typeface="Arial" panose="020B0604020202020204" pitchFamily="34" charset="0"/>
                          <a:cs typeface="Arial" panose="020B0604020202020204" pitchFamily="34" charset="0"/>
                        </a:rPr>
                        <a:t>1153 Bs.</a:t>
                      </a:r>
                      <a:endParaRPr lang="es-BO" sz="1200">
                        <a:effectLst/>
                        <a:latin typeface="Arial" panose="020B0604020202020204" pitchFamily="34" charset="0"/>
                        <a:ea typeface="Calibri" panose="020F0502020204030204" pitchFamily="34" charset="0"/>
                        <a:cs typeface="Arial" panose="020B0604020202020204" pitchFamily="34" charset="0"/>
                      </a:endParaRPr>
                    </a:p>
                  </a:txBody>
                  <a:tcPr marL="57254" marR="57254" marT="0" marB="0" anchor="ctr"/>
                </a:tc>
                <a:extLst>
                  <a:ext uri="{0D108BD9-81ED-4DB2-BD59-A6C34878D82A}">
                    <a16:rowId xmlns:a16="http://schemas.microsoft.com/office/drawing/2014/main" val="10007"/>
                  </a:ext>
                </a:extLst>
              </a:tr>
              <a:tr h="338099">
                <a:tc gridSpan="3">
                  <a:txBody>
                    <a:bodyPr/>
                    <a:lstStyle/>
                    <a:p>
                      <a:pPr algn="just">
                        <a:lnSpc>
                          <a:spcPct val="150000"/>
                        </a:lnSpc>
                        <a:spcAft>
                          <a:spcPts val="0"/>
                        </a:spcAft>
                      </a:pPr>
                      <a:r>
                        <a:rPr lang="es-BO" sz="1200" dirty="0">
                          <a:effectLst/>
                          <a:latin typeface="Arial" panose="020B0604020202020204" pitchFamily="34" charset="0"/>
                          <a:cs typeface="Arial" panose="020B0604020202020204" pitchFamily="34" charset="0"/>
                        </a:rPr>
                        <a:t>SUBTOTAL</a:t>
                      </a:r>
                    </a:p>
                  </a:txBody>
                  <a:tcPr marL="57254" marR="57254" marT="0" marB="0" anchor="ctr"/>
                </a:tc>
                <a:tc hMerge="1">
                  <a:txBody>
                    <a:bodyPr/>
                    <a:lstStyle/>
                    <a:p>
                      <a:endParaRPr lang="es-BO"/>
                    </a:p>
                  </a:txBody>
                  <a:tcPr/>
                </a:tc>
                <a:tc hMerge="1">
                  <a:txBody>
                    <a:bodyPr/>
                    <a:lstStyle/>
                    <a:p>
                      <a:endParaRPr lang="es-BO"/>
                    </a:p>
                  </a:txBody>
                  <a:tcPr/>
                </a:tc>
                <a:tc>
                  <a:txBody>
                    <a:bodyPr/>
                    <a:lstStyle/>
                    <a:p>
                      <a:pPr algn="just">
                        <a:lnSpc>
                          <a:spcPct val="150000"/>
                        </a:lnSpc>
                        <a:spcAft>
                          <a:spcPts val="0"/>
                        </a:spcAft>
                      </a:pPr>
                      <a:r>
                        <a:rPr lang="es-BO" sz="1200">
                          <a:effectLst/>
                          <a:latin typeface="Arial" panose="020B0604020202020204" pitchFamily="34" charset="0"/>
                          <a:cs typeface="Arial" panose="020B0604020202020204" pitchFamily="34" charset="0"/>
                        </a:rPr>
                        <a:t>2843 Bs.</a:t>
                      </a:r>
                      <a:endParaRPr lang="es-BO" sz="1200">
                        <a:effectLst/>
                        <a:latin typeface="Arial" panose="020B0604020202020204" pitchFamily="34" charset="0"/>
                        <a:ea typeface="Calibri" panose="020F0502020204030204" pitchFamily="34" charset="0"/>
                        <a:cs typeface="Arial" panose="020B0604020202020204" pitchFamily="34" charset="0"/>
                      </a:endParaRPr>
                    </a:p>
                  </a:txBody>
                  <a:tcPr marL="57254" marR="57254" marT="0" marB="0" anchor="ctr"/>
                </a:tc>
                <a:extLst>
                  <a:ext uri="{0D108BD9-81ED-4DB2-BD59-A6C34878D82A}">
                    <a16:rowId xmlns:a16="http://schemas.microsoft.com/office/drawing/2014/main" val="10008"/>
                  </a:ext>
                </a:extLst>
              </a:tr>
              <a:tr h="467321">
                <a:tc gridSpan="3">
                  <a:txBody>
                    <a:bodyPr/>
                    <a:lstStyle/>
                    <a:p>
                      <a:pPr algn="just">
                        <a:lnSpc>
                          <a:spcPct val="150000"/>
                        </a:lnSpc>
                        <a:spcAft>
                          <a:spcPts val="0"/>
                        </a:spcAft>
                      </a:pPr>
                      <a:r>
                        <a:rPr lang="es-BO" sz="1200" dirty="0">
                          <a:effectLst/>
                          <a:latin typeface="Arial" panose="020B0604020202020204" pitchFamily="34" charset="0"/>
                          <a:cs typeface="Arial" panose="020B0604020202020204" pitchFamily="34" charset="0"/>
                        </a:rPr>
                        <a:t>TOTAL BOLIOVIANOS</a:t>
                      </a:r>
                    </a:p>
                  </a:txBody>
                  <a:tcPr marL="57254" marR="57254" marT="0" marB="0" anchor="ctr"/>
                </a:tc>
                <a:tc hMerge="1">
                  <a:txBody>
                    <a:bodyPr/>
                    <a:lstStyle/>
                    <a:p>
                      <a:endParaRPr lang="es-BO"/>
                    </a:p>
                  </a:txBody>
                  <a:tcPr/>
                </a:tc>
                <a:tc hMerge="1">
                  <a:txBody>
                    <a:bodyPr/>
                    <a:lstStyle/>
                    <a:p>
                      <a:endParaRPr lang="es-BO"/>
                    </a:p>
                  </a:txBody>
                  <a:tcPr/>
                </a:tc>
                <a:tc>
                  <a:txBody>
                    <a:bodyPr/>
                    <a:lstStyle/>
                    <a:p>
                      <a:pPr algn="just">
                        <a:lnSpc>
                          <a:spcPct val="150000"/>
                        </a:lnSpc>
                        <a:spcAft>
                          <a:spcPts val="0"/>
                        </a:spcAft>
                      </a:pPr>
                      <a:r>
                        <a:rPr lang="es-BO" sz="1200" dirty="0">
                          <a:effectLst/>
                          <a:latin typeface="Arial" panose="020B0604020202020204" pitchFamily="34" charset="0"/>
                          <a:cs typeface="Arial" panose="020B0604020202020204" pitchFamily="34" charset="0"/>
                        </a:rPr>
                        <a:t>2843 Bs.</a:t>
                      </a:r>
                      <a:endParaRPr lang="es-BO" sz="1200" dirty="0">
                        <a:effectLst/>
                        <a:latin typeface="Arial" panose="020B0604020202020204" pitchFamily="34" charset="0"/>
                        <a:ea typeface="Calibri" panose="020F0502020204030204" pitchFamily="34" charset="0"/>
                        <a:cs typeface="Arial" panose="020B0604020202020204" pitchFamily="34" charset="0"/>
                      </a:endParaRPr>
                    </a:p>
                  </a:txBody>
                  <a:tcPr marL="57254" marR="57254" marT="0" marB="0" anchor="ctr"/>
                </a:tc>
                <a:extLst>
                  <a:ext uri="{0D108BD9-81ED-4DB2-BD59-A6C34878D82A}">
                    <a16:rowId xmlns:a16="http://schemas.microsoft.com/office/drawing/2014/main" val="10009"/>
                  </a:ext>
                </a:extLst>
              </a:tr>
            </a:tbl>
          </a:graphicData>
        </a:graphic>
      </p:graphicFrame>
    </p:spTree>
    <p:extLst>
      <p:ext uri="{BB962C8B-B14F-4D97-AF65-F5344CB8AC3E}">
        <p14:creationId xmlns:p14="http://schemas.microsoft.com/office/powerpoint/2010/main" val="364083308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Imagen 10"/>
          <p:cNvPicPr>
            <a:picLocks noChangeAspect="1"/>
          </p:cNvPicPr>
          <p:nvPr/>
        </p:nvPicPr>
        <p:blipFill>
          <a:blip r:embed="rId2">
            <a:lum bright="70000" contrast="-70000"/>
            <a:extLst>
              <a:ext uri="{28A0092B-C50C-407E-A947-70E740481C1C}">
                <a14:useLocalDpi xmlns:a14="http://schemas.microsoft.com/office/drawing/2010/main" val="0"/>
              </a:ext>
            </a:extLst>
          </a:blip>
          <a:stretch>
            <a:fillRect/>
          </a:stretch>
        </p:blipFill>
        <p:spPr>
          <a:xfrm>
            <a:off x="3626272" y="1888268"/>
            <a:ext cx="3786310" cy="4006096"/>
          </a:xfrm>
          <a:prstGeom prst="rect">
            <a:avLst/>
          </a:prstGeom>
        </p:spPr>
      </p:pic>
      <p:sp>
        <p:nvSpPr>
          <p:cNvPr id="2" name="Rectángulo 1"/>
          <p:cNvSpPr/>
          <p:nvPr/>
        </p:nvSpPr>
        <p:spPr>
          <a:xfrm>
            <a:off x="0" y="0"/>
            <a:ext cx="10779617" cy="1200329"/>
          </a:xfrm>
          <a:prstGeom prst="rect">
            <a:avLst/>
          </a:prstGeom>
          <a:solidFill>
            <a:schemeClr val="accent6"/>
          </a:solidFill>
        </p:spPr>
        <p:txBody>
          <a:bodyPr wrap="square" lIns="91440" tIns="45720" rIns="91440" bIns="45720">
            <a:spAutoFit/>
          </a:bodyPr>
          <a:lstStyle/>
          <a:p>
            <a:pPr algn="ctr"/>
            <a:r>
              <a:rPr lang="es-ES" sz="4400" b="1" cap="none" spc="0" dirty="0">
                <a:ln w="0"/>
                <a:solidFill>
                  <a:schemeClr val="bg1"/>
                </a:solidFill>
                <a:effectLst>
                  <a:outerShdw blurRad="50800" dist="38100" dir="2700000" algn="tl" rotWithShape="0">
                    <a:prstClr val="black">
                      <a:alpha val="40000"/>
                    </a:prstClr>
                  </a:outerShdw>
                </a:effectLst>
              </a:rPr>
              <a:t>INSTITUTO TECNOLOGICO SACABA (ITSa)</a:t>
            </a:r>
          </a:p>
          <a:p>
            <a:pPr algn="ctr"/>
            <a:r>
              <a:rPr lang="es-ES" sz="2800" b="1" dirty="0">
                <a:ln w="0"/>
                <a:solidFill>
                  <a:schemeClr val="bg1"/>
                </a:solidFill>
                <a:effectLst>
                  <a:outerShdw blurRad="50800" dist="38100" dir="2700000" algn="tl" rotWithShape="0">
                    <a:prstClr val="black">
                      <a:alpha val="40000"/>
                    </a:prstClr>
                  </a:outerShdw>
                </a:effectLst>
              </a:rPr>
              <a:t>CARRERA: INFORMATICA INDUSTRIAL I/2026</a:t>
            </a:r>
            <a:endParaRPr lang="es-ES" sz="2400" b="1" cap="none" spc="0" dirty="0">
              <a:ln w="0"/>
              <a:solidFill>
                <a:schemeClr val="bg1"/>
              </a:solidFill>
              <a:effectLst>
                <a:outerShdw blurRad="50800" dist="38100" dir="2700000" algn="tl" rotWithShape="0">
                  <a:prstClr val="black">
                    <a:alpha val="40000"/>
                  </a:prstClr>
                </a:outerShdw>
              </a:effectLst>
            </a:endParaRPr>
          </a:p>
        </p:txBody>
      </p:sp>
      <p:sp>
        <p:nvSpPr>
          <p:cNvPr id="4" name="Título 1">
            <a:extLst>
              <a:ext uri="{FF2B5EF4-FFF2-40B4-BE49-F238E27FC236}">
                <a16:creationId xmlns:a16="http://schemas.microsoft.com/office/drawing/2014/main" id="{6D3B085D-D1AD-4597-80AF-57AD660C8506}"/>
              </a:ext>
            </a:extLst>
          </p:cNvPr>
          <p:cNvSpPr txBox="1">
            <a:spLocks/>
          </p:cNvSpPr>
          <p:nvPr/>
        </p:nvSpPr>
        <p:spPr>
          <a:xfrm>
            <a:off x="316402" y="1426508"/>
            <a:ext cx="3309870" cy="588236"/>
          </a:xfrm>
          <a:prstGeom prst="rect">
            <a:avLst/>
          </a:prstGeom>
        </p:spPr>
        <p:txBody>
          <a:bodyPr anchor="b"/>
          <a:lstStyle>
            <a:lvl1pPr algn="ctr" defTabSz="914400" rtl="0" eaLnBrk="1" latinLnBrk="0" hangingPunct="1">
              <a:lnSpc>
                <a:spcPct val="90000"/>
              </a:lnSpc>
              <a:spcBef>
                <a:spcPct val="0"/>
              </a:spcBef>
              <a:buNone/>
              <a:defRPr sz="6000" b="1" kern="1200">
                <a:solidFill>
                  <a:schemeClr val="bg1"/>
                </a:solidFill>
                <a:effectLst>
                  <a:outerShdw blurRad="38100" dist="38100" dir="2700000" algn="tl">
                    <a:srgbClr val="000000">
                      <a:alpha val="43137"/>
                    </a:srgbClr>
                  </a:outerShdw>
                </a:effectLst>
                <a:latin typeface="+mn-lt"/>
                <a:ea typeface="+mj-ea"/>
                <a:cs typeface="+mj-cs"/>
              </a:defRPr>
            </a:lvl1pPr>
          </a:lstStyle>
          <a:p>
            <a:pPr algn="l"/>
            <a:r>
              <a:rPr lang="es-BO" sz="3600" u="sng" dirty="0">
                <a:solidFill>
                  <a:srgbClr val="002060"/>
                </a:solidFill>
                <a:effectLst/>
              </a:rPr>
              <a:t>CONCLUSIONES</a:t>
            </a:r>
          </a:p>
        </p:txBody>
      </p:sp>
      <p:sp>
        <p:nvSpPr>
          <p:cNvPr id="7" name="CuadroTexto 6"/>
          <p:cNvSpPr txBox="1"/>
          <p:nvPr/>
        </p:nvSpPr>
        <p:spPr>
          <a:xfrm>
            <a:off x="605307" y="1900911"/>
            <a:ext cx="10004422" cy="958660"/>
          </a:xfrm>
          <a:prstGeom prst="rect">
            <a:avLst/>
          </a:prstGeom>
          <a:noFill/>
        </p:spPr>
        <p:txBody>
          <a:bodyPr wrap="square" rtlCol="0">
            <a:spAutoFit/>
          </a:bodyPr>
          <a:lstStyle/>
          <a:p>
            <a:pPr algn="just">
              <a:lnSpc>
                <a:spcPct val="150000"/>
              </a:lnSpc>
            </a:pPr>
            <a:r>
              <a:rPr lang="es-ES" sz="2000" dirty="0">
                <a:latin typeface="Arial" panose="020B0604020202020204" pitchFamily="34" charset="0"/>
                <a:cs typeface="Arial" panose="020B0604020202020204" pitchFamily="34" charset="0"/>
              </a:rPr>
              <a:t>Con el proyecto SARQUE se logró diseñar e implementar un sistema automatizado de riego para el Parque Ecoturístico Quinta Estación, eliminando el control manual de 41 llaves de paso y reemplazándolo por 22 electroválvulas controladas por 6 controladores K-Rain BL-KR.</a:t>
            </a:r>
            <a:endParaRPr lang="es-BO" sz="2000" dirty="0">
              <a:latin typeface="Arial" panose="020B0604020202020204" pitchFamily="34" charset="0"/>
              <a:cs typeface="Arial" panose="020B0604020202020204" pitchFamily="34" charset="0"/>
            </a:endParaRPr>
          </a:p>
        </p:txBody>
      </p:sp>
      <p:sp>
        <p:nvSpPr>
          <p:cNvPr id="8" name="CuadroTexto 7"/>
          <p:cNvSpPr txBox="1"/>
          <p:nvPr/>
        </p:nvSpPr>
        <p:spPr>
          <a:xfrm>
            <a:off x="605307" y="2949238"/>
            <a:ext cx="10004422" cy="3908762"/>
          </a:xfrm>
          <a:prstGeom prst="rect">
            <a:avLst/>
          </a:prstGeom>
          <a:noFill/>
        </p:spPr>
        <p:txBody>
          <a:bodyPr wrap="square" rtlCol="0">
            <a:spAutoFit/>
          </a:bodyPr>
          <a:lstStyle/>
          <a:p>
            <a:r>
              <a:rPr lang="es-ES" sz="2000" b="1" dirty="0">
                <a:latin typeface="Arial" panose="020B0604020202020204" pitchFamily="34" charset="0"/>
                <a:cs typeface="Arial" panose="020B0604020202020204" pitchFamily="34" charset="0"/>
              </a:rPr>
              <a:t>Se obtienen las siguientes conclusiones:</a:t>
            </a:r>
            <a:endParaRPr lang="es-BO" sz="2000" b="1" dirty="0">
              <a:latin typeface="Arial" panose="020B0604020202020204" pitchFamily="34" charset="0"/>
              <a:cs typeface="Arial" panose="020B0604020202020204" pitchFamily="34" charset="0"/>
            </a:endParaRPr>
          </a:p>
          <a:p>
            <a:pPr marL="285750" lvl="0" indent="-285750">
              <a:lnSpc>
                <a:spcPct val="150000"/>
              </a:lnSpc>
              <a:buFont typeface="Arial" panose="020B0604020202020204" pitchFamily="34" charset="0"/>
              <a:buChar char="•"/>
            </a:pPr>
            <a:r>
              <a:rPr lang="es-ES" sz="2000" dirty="0">
                <a:latin typeface="Arial" panose="020B0604020202020204" pitchFamily="34" charset="0"/>
                <a:cs typeface="Arial" panose="020B0604020202020204" pitchFamily="34" charset="0"/>
              </a:rPr>
              <a:t>Una plataforma web intuitiva (React + TypeScript + Supabase) para gestión digital del cronograma semanal y visualización en tiempo real del sector activo.</a:t>
            </a:r>
            <a:endParaRPr lang="es-BO" sz="2000" dirty="0">
              <a:latin typeface="Arial" panose="020B0604020202020204" pitchFamily="34" charset="0"/>
              <a:cs typeface="Arial" panose="020B0604020202020204" pitchFamily="34" charset="0"/>
            </a:endParaRPr>
          </a:p>
          <a:p>
            <a:pPr marL="285750" lvl="0" indent="-285750">
              <a:lnSpc>
                <a:spcPct val="150000"/>
              </a:lnSpc>
              <a:buFont typeface="Arial" panose="020B0604020202020204" pitchFamily="34" charset="0"/>
              <a:buChar char="•"/>
            </a:pPr>
            <a:r>
              <a:rPr lang="es-ES" sz="2000" dirty="0">
                <a:latin typeface="Arial" panose="020B0604020202020204" pitchFamily="34" charset="0"/>
                <a:cs typeface="Arial" panose="020B0604020202020204" pitchFamily="34" charset="0"/>
              </a:rPr>
              <a:t>Base de datos PostgreSQL en la nube (Supabase) con catálogo de 20 sectores precargados del Parque Quinta Estación y cronograma editable.</a:t>
            </a:r>
            <a:endParaRPr lang="es-BO" sz="2000" dirty="0">
              <a:latin typeface="Arial" panose="020B0604020202020204" pitchFamily="34" charset="0"/>
              <a:cs typeface="Arial" panose="020B0604020202020204" pitchFamily="34" charset="0"/>
            </a:endParaRPr>
          </a:p>
          <a:p>
            <a:pPr marL="285750" lvl="0" indent="-285750">
              <a:lnSpc>
                <a:spcPct val="150000"/>
              </a:lnSpc>
              <a:buFont typeface="Arial" panose="020B0604020202020204" pitchFamily="34" charset="0"/>
              <a:buChar char="•"/>
            </a:pPr>
            <a:r>
              <a:rPr lang="es-ES" sz="2000" dirty="0">
                <a:latin typeface="Arial" panose="020B0604020202020204" pitchFamily="34" charset="0"/>
                <a:cs typeface="Arial" panose="020B0604020202020204" pitchFamily="34" charset="0"/>
              </a:rPr>
              <a:t>Se logró completar la instalación física: red de PVC (2" matriz, 1½" cuelleras), 22 electroválvulas K-Rain BSPT en cajas de hormigón 40×40×30 cm y cableado 20 AWG en politubo 3/4".</a:t>
            </a:r>
            <a:endParaRPr lang="es-BO" sz="2000" dirty="0">
              <a:latin typeface="Arial" panose="020B0604020202020204" pitchFamily="34" charset="0"/>
              <a:cs typeface="Arial" panose="020B0604020202020204" pitchFamily="34" charset="0"/>
            </a:endParaRPr>
          </a:p>
          <a:p>
            <a:pPr marL="285750" lvl="0" indent="-285750">
              <a:lnSpc>
                <a:spcPct val="150000"/>
              </a:lnSpc>
              <a:buFont typeface="Arial" panose="020B0604020202020204" pitchFamily="34" charset="0"/>
              <a:buChar char="•"/>
            </a:pPr>
            <a:r>
              <a:rPr lang="es-ES" sz="2000" dirty="0">
                <a:latin typeface="Arial" panose="020B0604020202020204" pitchFamily="34" charset="0"/>
                <a:cs typeface="Arial" panose="020B0604020202020204" pitchFamily="34" charset="0"/>
              </a:rPr>
              <a:t>Programación de los 6 controladores BL-KR mediante la app oficial K-RainBL, </a:t>
            </a:r>
            <a:r>
              <a:rPr lang="es-ES" sz="2000" dirty="0" err="1">
                <a:latin typeface="Arial" panose="020B0604020202020204" pitchFamily="34" charset="0"/>
                <a:cs typeface="Arial" panose="020B0604020202020204" pitchFamily="34" charset="0"/>
              </a:rPr>
              <a:t>eliminando</a:t>
            </a:r>
            <a:r>
              <a:rPr lang="es-ES" sz="2000" dirty="0">
                <a:latin typeface="Arial" panose="020B0604020202020204" pitchFamily="34" charset="0"/>
                <a:cs typeface="Arial" panose="020B0604020202020204" pitchFamily="34" charset="0"/>
              </a:rPr>
              <a:t> los 30 minutos diarios de desplazamientos del personal y los riesgos por olvido de apertura/cierre de llaves manuales.</a:t>
            </a:r>
            <a:endParaRPr lang="es-BO" sz="2000" dirty="0">
              <a:latin typeface="Arial" panose="020B0604020202020204" pitchFamily="34" charset="0"/>
              <a:cs typeface="Arial" panose="020B0604020202020204" pitchFamily="34" charset="0"/>
            </a:endParaRPr>
          </a:p>
          <a:p>
            <a:endParaRPr lang="es-BO" dirty="0">
              <a:latin typeface="Arial" panose="020B0604020202020204" pitchFamily="34" charset="0"/>
              <a:cs typeface="Arial" panose="020B0604020202020204" pitchFamily="34" charset="0"/>
            </a:endParaRPr>
          </a:p>
        </p:txBody>
      </p:sp>
      <p:pic>
        <p:nvPicPr>
          <p:cNvPr id="6" name="Imagen 5"/>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740979" y="5553635"/>
            <a:ext cx="1334479" cy="1210235"/>
          </a:xfrm>
          <a:prstGeom prst="rect">
            <a:avLst/>
          </a:prstGeom>
        </p:spPr>
      </p:pic>
      <p:pic>
        <p:nvPicPr>
          <p:cNvPr id="10" name="Imagen 9"/>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0802583" y="-5379"/>
            <a:ext cx="1321802" cy="1200329"/>
          </a:xfrm>
          <a:prstGeom prst="rect">
            <a:avLst/>
          </a:prstGeom>
        </p:spPr>
      </p:pic>
    </p:spTree>
    <p:extLst>
      <p:ext uri="{BB962C8B-B14F-4D97-AF65-F5344CB8AC3E}">
        <p14:creationId xmlns:p14="http://schemas.microsoft.com/office/powerpoint/2010/main" val="119918411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Imagen 8"/>
          <p:cNvPicPr>
            <a:picLocks noChangeAspect="1"/>
          </p:cNvPicPr>
          <p:nvPr/>
        </p:nvPicPr>
        <p:blipFill>
          <a:blip r:embed="rId2">
            <a:lum bright="70000" contrast="-70000"/>
            <a:extLst>
              <a:ext uri="{28A0092B-C50C-407E-A947-70E740481C1C}">
                <a14:useLocalDpi xmlns:a14="http://schemas.microsoft.com/office/drawing/2010/main" val="0"/>
              </a:ext>
            </a:extLst>
          </a:blip>
          <a:stretch>
            <a:fillRect/>
          </a:stretch>
        </p:blipFill>
        <p:spPr>
          <a:xfrm>
            <a:off x="3490214" y="2006348"/>
            <a:ext cx="3786310" cy="4006096"/>
          </a:xfrm>
          <a:prstGeom prst="rect">
            <a:avLst/>
          </a:prstGeom>
        </p:spPr>
      </p:pic>
      <p:sp>
        <p:nvSpPr>
          <p:cNvPr id="2" name="Rectángulo 1"/>
          <p:cNvSpPr/>
          <p:nvPr/>
        </p:nvSpPr>
        <p:spPr>
          <a:xfrm>
            <a:off x="0" y="0"/>
            <a:ext cx="10766738" cy="1200329"/>
          </a:xfrm>
          <a:prstGeom prst="rect">
            <a:avLst/>
          </a:prstGeom>
          <a:solidFill>
            <a:schemeClr val="accent6"/>
          </a:solidFill>
        </p:spPr>
        <p:txBody>
          <a:bodyPr wrap="square" lIns="91440" tIns="45720" rIns="91440" bIns="45720">
            <a:spAutoFit/>
          </a:bodyPr>
          <a:lstStyle/>
          <a:p>
            <a:pPr algn="ctr"/>
            <a:r>
              <a:rPr lang="es-ES" sz="4400" b="1" cap="none" spc="0" dirty="0">
                <a:ln w="0"/>
                <a:solidFill>
                  <a:schemeClr val="bg1"/>
                </a:solidFill>
                <a:effectLst>
                  <a:outerShdw blurRad="50800" dist="38100" dir="2700000" algn="tl" rotWithShape="0">
                    <a:prstClr val="black">
                      <a:alpha val="40000"/>
                    </a:prstClr>
                  </a:outerShdw>
                </a:effectLst>
              </a:rPr>
              <a:t>INSTITUTO TECNOLOGICO SACABA (ITSa)</a:t>
            </a:r>
          </a:p>
          <a:p>
            <a:pPr algn="ctr"/>
            <a:r>
              <a:rPr lang="es-ES" sz="2800" b="1" dirty="0">
                <a:ln w="0"/>
                <a:solidFill>
                  <a:schemeClr val="bg1"/>
                </a:solidFill>
                <a:effectLst>
                  <a:outerShdw blurRad="50800" dist="38100" dir="2700000" algn="tl" rotWithShape="0">
                    <a:prstClr val="black">
                      <a:alpha val="40000"/>
                    </a:prstClr>
                  </a:outerShdw>
                </a:effectLst>
              </a:rPr>
              <a:t>CARRERA: INFORMATICA INDUSTRIAL I/2026</a:t>
            </a:r>
            <a:endParaRPr lang="es-ES" sz="2400" b="1" cap="none" spc="0" dirty="0">
              <a:ln w="0"/>
              <a:solidFill>
                <a:schemeClr val="bg1"/>
              </a:solidFill>
              <a:effectLst>
                <a:outerShdw blurRad="50800" dist="38100" dir="2700000" algn="tl" rotWithShape="0">
                  <a:prstClr val="black">
                    <a:alpha val="40000"/>
                  </a:prstClr>
                </a:outerShdw>
              </a:effectLst>
            </a:endParaRPr>
          </a:p>
        </p:txBody>
      </p:sp>
      <p:sp>
        <p:nvSpPr>
          <p:cNvPr id="3" name="Título 1">
            <a:extLst>
              <a:ext uri="{FF2B5EF4-FFF2-40B4-BE49-F238E27FC236}">
                <a16:creationId xmlns:a16="http://schemas.microsoft.com/office/drawing/2014/main" id="{6D3B085D-D1AD-4597-80AF-57AD660C8506}"/>
              </a:ext>
            </a:extLst>
          </p:cNvPr>
          <p:cNvSpPr txBox="1">
            <a:spLocks/>
          </p:cNvSpPr>
          <p:nvPr/>
        </p:nvSpPr>
        <p:spPr>
          <a:xfrm>
            <a:off x="334850" y="1428682"/>
            <a:ext cx="4288665" cy="588236"/>
          </a:xfrm>
          <a:prstGeom prst="rect">
            <a:avLst/>
          </a:prstGeom>
        </p:spPr>
        <p:txBody>
          <a:bodyPr anchor="b"/>
          <a:lstStyle>
            <a:lvl1pPr algn="ctr" defTabSz="914400" rtl="0" eaLnBrk="1" latinLnBrk="0" hangingPunct="1">
              <a:lnSpc>
                <a:spcPct val="90000"/>
              </a:lnSpc>
              <a:spcBef>
                <a:spcPct val="0"/>
              </a:spcBef>
              <a:buNone/>
              <a:defRPr sz="6000" b="1" kern="1200">
                <a:solidFill>
                  <a:schemeClr val="bg1"/>
                </a:solidFill>
                <a:effectLst>
                  <a:outerShdw blurRad="38100" dist="38100" dir="2700000" algn="tl">
                    <a:srgbClr val="000000">
                      <a:alpha val="43137"/>
                    </a:srgbClr>
                  </a:outerShdw>
                </a:effectLst>
                <a:latin typeface="+mn-lt"/>
                <a:ea typeface="+mj-ea"/>
                <a:cs typeface="+mj-cs"/>
              </a:defRPr>
            </a:lvl1pPr>
          </a:lstStyle>
          <a:p>
            <a:pPr algn="l"/>
            <a:r>
              <a:rPr lang="es-BO" sz="3600" u="sng" dirty="0">
                <a:solidFill>
                  <a:srgbClr val="002060"/>
                </a:solidFill>
                <a:effectLst/>
              </a:rPr>
              <a:t>RECOMENDACIONES</a:t>
            </a:r>
          </a:p>
        </p:txBody>
      </p:sp>
      <p:sp>
        <p:nvSpPr>
          <p:cNvPr id="4" name="CuadroTexto 3"/>
          <p:cNvSpPr txBox="1"/>
          <p:nvPr/>
        </p:nvSpPr>
        <p:spPr>
          <a:xfrm>
            <a:off x="437882" y="3031171"/>
            <a:ext cx="10328856" cy="2805320"/>
          </a:xfrm>
          <a:prstGeom prst="rect">
            <a:avLst/>
          </a:prstGeom>
          <a:noFill/>
        </p:spPr>
        <p:txBody>
          <a:bodyPr wrap="square" rtlCol="0">
            <a:spAutoFit/>
          </a:bodyPr>
          <a:lstStyle/>
          <a:p>
            <a:pPr marL="285750" lvl="0" indent="-285750" algn="just">
              <a:lnSpc>
                <a:spcPct val="150000"/>
              </a:lnSpc>
              <a:buFont typeface="Arial" panose="020B0604020202020204" pitchFamily="34" charset="0"/>
              <a:buChar char="•"/>
            </a:pPr>
            <a:r>
              <a:rPr lang="es-ES" sz="2000" dirty="0">
                <a:latin typeface="Arial" panose="020B0604020202020204" pitchFamily="34" charset="0"/>
                <a:cs typeface="Arial" panose="020B0604020202020204" pitchFamily="34" charset="0"/>
              </a:rPr>
              <a:t>Instalar un sensor de lluvia normalmente cerrado en cada controlador BL-KR (terminal amarillo) para suspender automáticamente el riego ante precipitación detectada, sin necesidad de intervención manual del administrador.</a:t>
            </a:r>
          </a:p>
          <a:p>
            <a:pPr lvl="0" algn="just">
              <a:lnSpc>
                <a:spcPct val="150000"/>
              </a:lnSpc>
            </a:pPr>
            <a:endParaRPr lang="es-ES" sz="2000" dirty="0">
              <a:latin typeface="Arial" panose="020B0604020202020204" pitchFamily="34" charset="0"/>
              <a:cs typeface="Arial" panose="020B0604020202020204" pitchFamily="34" charset="0"/>
            </a:endParaRPr>
          </a:p>
          <a:p>
            <a:pPr marL="285750" lvl="0" indent="-285750" algn="just">
              <a:lnSpc>
                <a:spcPct val="150000"/>
              </a:lnSpc>
              <a:buFont typeface="Arial" panose="020B0604020202020204" pitchFamily="34" charset="0"/>
              <a:buChar char="•"/>
            </a:pPr>
            <a:r>
              <a:rPr lang="es-ES" sz="2000" dirty="0">
                <a:latin typeface="Arial" panose="020B0604020202020204" pitchFamily="34" charset="0"/>
                <a:cs typeface="Arial" panose="020B0604020202020204" pitchFamily="34" charset="0"/>
              </a:rPr>
              <a:t>Establecer un calendario anual de reemplazo de baterías 9V de los 6 controladores y capacitar al menos a 2 jardineros en el uso básico de la app K-RainBL para tener respaldo operativo.</a:t>
            </a:r>
            <a:endParaRPr lang="es-BO" sz="2000" dirty="0">
              <a:latin typeface="Arial" panose="020B0604020202020204" pitchFamily="34" charset="0"/>
              <a:cs typeface="Arial" panose="020B0604020202020204" pitchFamily="34" charset="0"/>
            </a:endParaRPr>
          </a:p>
        </p:txBody>
      </p:sp>
      <p:sp>
        <p:nvSpPr>
          <p:cNvPr id="5" name="CuadroTexto 4"/>
          <p:cNvSpPr txBox="1"/>
          <p:nvPr/>
        </p:nvSpPr>
        <p:spPr>
          <a:xfrm>
            <a:off x="334850" y="1918034"/>
            <a:ext cx="10431888" cy="1384995"/>
          </a:xfrm>
          <a:prstGeom prst="rect">
            <a:avLst/>
          </a:prstGeom>
          <a:noFill/>
        </p:spPr>
        <p:txBody>
          <a:bodyPr wrap="square" rtlCol="0">
            <a:spAutoFit/>
          </a:bodyPr>
          <a:lstStyle/>
          <a:p>
            <a:pPr algn="just">
              <a:lnSpc>
                <a:spcPct val="150000"/>
              </a:lnSpc>
            </a:pPr>
            <a:r>
              <a:rPr lang="es-ES" sz="2000" dirty="0">
                <a:latin typeface="Arial" panose="020B0604020202020204" pitchFamily="34" charset="0"/>
                <a:cs typeface="Arial" panose="020B0604020202020204" pitchFamily="34" charset="0"/>
              </a:rPr>
              <a:t>Documentar fotográficamente la ubicación de cada caja de válvula en la plataforma SARQUE para facilitar la localización durante mantenimientos, especialmente cuando la vegetación oculte los puntos de control en época seca.</a:t>
            </a:r>
          </a:p>
          <a:p>
            <a:pPr algn="just"/>
            <a:endParaRPr lang="es-BO" sz="2400" dirty="0">
              <a:latin typeface="Arial" panose="020B0604020202020204" pitchFamily="34" charset="0"/>
              <a:cs typeface="Arial" panose="020B0604020202020204" pitchFamily="34" charset="0"/>
            </a:endParaRPr>
          </a:p>
        </p:txBody>
      </p:sp>
      <p:pic>
        <p:nvPicPr>
          <p:cNvPr id="6" name="Imagen 5"/>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740979" y="5553635"/>
            <a:ext cx="1334479" cy="1210235"/>
          </a:xfrm>
          <a:prstGeom prst="rect">
            <a:avLst/>
          </a:prstGeom>
        </p:spPr>
      </p:pic>
      <p:pic>
        <p:nvPicPr>
          <p:cNvPr id="7" name="Imagen 6"/>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786979" y="0"/>
            <a:ext cx="1323384" cy="979064"/>
          </a:xfrm>
          <a:prstGeom prst="rect">
            <a:avLst/>
          </a:prstGeom>
        </p:spPr>
      </p:pic>
      <p:pic>
        <p:nvPicPr>
          <p:cNvPr id="8" name="Imagen 7"/>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0802583" y="-5379"/>
            <a:ext cx="1321802" cy="1200329"/>
          </a:xfrm>
          <a:prstGeom prst="rect">
            <a:avLst/>
          </a:prstGeom>
        </p:spPr>
      </p:pic>
    </p:spTree>
    <p:extLst>
      <p:ext uri="{BB962C8B-B14F-4D97-AF65-F5344CB8AC3E}">
        <p14:creationId xmlns:p14="http://schemas.microsoft.com/office/powerpoint/2010/main" val="14870724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Imagen 6"/>
          <p:cNvPicPr>
            <a:picLocks noChangeAspect="1"/>
          </p:cNvPicPr>
          <p:nvPr/>
        </p:nvPicPr>
        <p:blipFill>
          <a:blip r:embed="rId2">
            <a:lum bright="70000" contrast="-70000"/>
            <a:extLst>
              <a:ext uri="{28A0092B-C50C-407E-A947-70E740481C1C}">
                <a14:useLocalDpi xmlns:a14="http://schemas.microsoft.com/office/drawing/2010/main" val="0"/>
              </a:ext>
            </a:extLst>
          </a:blip>
          <a:stretch>
            <a:fillRect/>
          </a:stretch>
        </p:blipFill>
        <p:spPr>
          <a:xfrm>
            <a:off x="3626272" y="1888268"/>
            <a:ext cx="3786310" cy="4006096"/>
          </a:xfrm>
          <a:prstGeom prst="rect">
            <a:avLst/>
          </a:prstGeom>
        </p:spPr>
      </p:pic>
      <p:sp>
        <p:nvSpPr>
          <p:cNvPr id="2" name="Rectángulo 1"/>
          <p:cNvSpPr/>
          <p:nvPr/>
        </p:nvSpPr>
        <p:spPr>
          <a:xfrm>
            <a:off x="0" y="0"/>
            <a:ext cx="10753859" cy="1200329"/>
          </a:xfrm>
          <a:prstGeom prst="rect">
            <a:avLst/>
          </a:prstGeom>
          <a:solidFill>
            <a:schemeClr val="accent6"/>
          </a:solidFill>
        </p:spPr>
        <p:txBody>
          <a:bodyPr wrap="square" lIns="91440" tIns="45720" rIns="91440" bIns="45720">
            <a:spAutoFit/>
          </a:bodyPr>
          <a:lstStyle/>
          <a:p>
            <a:pPr algn="ctr"/>
            <a:r>
              <a:rPr lang="es-ES" sz="4400" b="1" cap="none" spc="0" dirty="0">
                <a:ln w="0"/>
                <a:solidFill>
                  <a:schemeClr val="bg1"/>
                </a:solidFill>
                <a:effectLst>
                  <a:outerShdw blurRad="50800" dist="38100" dir="2700000" algn="tl" rotWithShape="0">
                    <a:prstClr val="black">
                      <a:alpha val="40000"/>
                    </a:prstClr>
                  </a:outerShdw>
                </a:effectLst>
              </a:rPr>
              <a:t>INSTITUTO TECNOLOGICO SACABA (ITSa)</a:t>
            </a:r>
          </a:p>
          <a:p>
            <a:pPr algn="ctr"/>
            <a:r>
              <a:rPr lang="es-ES" sz="2800" b="1" dirty="0">
                <a:ln w="0"/>
                <a:solidFill>
                  <a:schemeClr val="bg1"/>
                </a:solidFill>
                <a:effectLst>
                  <a:outerShdw blurRad="50800" dist="38100" dir="2700000" algn="tl" rotWithShape="0">
                    <a:prstClr val="black">
                      <a:alpha val="40000"/>
                    </a:prstClr>
                  </a:outerShdw>
                </a:effectLst>
              </a:rPr>
              <a:t>CARRERA: INFORMATICA INDUSTRIAL I/2026</a:t>
            </a:r>
            <a:endParaRPr lang="es-ES" sz="2400" b="1" cap="none" spc="0" dirty="0">
              <a:ln w="0"/>
              <a:solidFill>
                <a:schemeClr val="bg1"/>
              </a:solidFill>
              <a:effectLst>
                <a:outerShdw blurRad="50800" dist="38100" dir="2700000" algn="tl" rotWithShape="0">
                  <a:prstClr val="black">
                    <a:alpha val="40000"/>
                  </a:prstClr>
                </a:outerShdw>
              </a:effectLst>
            </a:endParaRPr>
          </a:p>
        </p:txBody>
      </p:sp>
      <p:sp>
        <p:nvSpPr>
          <p:cNvPr id="3" name="Rectángulo 2"/>
          <p:cNvSpPr/>
          <p:nvPr/>
        </p:nvSpPr>
        <p:spPr>
          <a:xfrm>
            <a:off x="-298536" y="2967335"/>
            <a:ext cx="12789078" cy="2646878"/>
          </a:xfrm>
          <a:prstGeom prst="rect">
            <a:avLst/>
          </a:prstGeom>
          <a:noFill/>
          <a:scene3d>
            <a:camera prst="isometricOffAxis1Right"/>
            <a:lightRig rig="threePt" dir="t"/>
          </a:scene3d>
        </p:spPr>
        <p:txBody>
          <a:bodyPr wrap="none" lIns="91440" tIns="45720" rIns="91440" bIns="45720">
            <a:prstTxWarp prst="textCascadeUp">
              <a:avLst/>
            </a:prstTxWarp>
            <a:spAutoFit/>
          </a:bodyPr>
          <a:lstStyle/>
          <a:p>
            <a:pPr algn="ctr"/>
            <a:r>
              <a:rPr lang="es-ES" sz="16600" b="1" cap="none" spc="0" dirty="0">
                <a:ln w="0">
                  <a:solidFill>
                    <a:schemeClr val="tx2">
                      <a:lumMod val="50000"/>
                    </a:schemeClr>
                  </a:solidFill>
                </a:ln>
                <a:gradFill>
                  <a:gsLst>
                    <a:gs pos="0">
                      <a:schemeClr val="accent5">
                        <a:lumMod val="50000"/>
                      </a:schemeClr>
                    </a:gs>
                    <a:gs pos="50000">
                      <a:schemeClr val="accent5"/>
                    </a:gs>
                    <a:gs pos="100000">
                      <a:schemeClr val="accent5">
                        <a:lumMod val="60000"/>
                        <a:lumOff val="40000"/>
                      </a:schemeClr>
                    </a:gs>
                  </a:gsLst>
                  <a:lin ang="5400000"/>
                </a:gradFill>
                <a:effectLst>
                  <a:reflection blurRad="6350" stA="53000" endA="300" endPos="35500" dir="5400000" sy="-90000" algn="bl" rotWithShape="0"/>
                </a:effectLst>
                <a:latin typeface="Engravers MT" panose="02090707080505020304" pitchFamily="18" charset="0"/>
              </a:rPr>
              <a:t>GRACIAS</a:t>
            </a:r>
          </a:p>
        </p:txBody>
      </p:sp>
      <p:pic>
        <p:nvPicPr>
          <p:cNvPr id="4" name="Imagen 3"/>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740979" y="5553635"/>
            <a:ext cx="1334479" cy="1210235"/>
          </a:xfrm>
          <a:prstGeom prst="rect">
            <a:avLst/>
          </a:prstGeom>
        </p:spPr>
      </p:pic>
      <p:pic>
        <p:nvPicPr>
          <p:cNvPr id="6" name="Imagen 5"/>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0802583" y="-5379"/>
            <a:ext cx="1321802" cy="1200329"/>
          </a:xfrm>
          <a:prstGeom prst="rect">
            <a:avLst/>
          </a:prstGeom>
        </p:spPr>
      </p:pic>
    </p:spTree>
    <p:extLst>
      <p:ext uri="{BB962C8B-B14F-4D97-AF65-F5344CB8AC3E}">
        <p14:creationId xmlns:p14="http://schemas.microsoft.com/office/powerpoint/2010/main" val="1506753606"/>
      </p:ext>
    </p:extLst>
  </p:cSld>
  <p:clrMapOvr>
    <a:masterClrMapping/>
  </p:clrMapOvr>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817</TotalTime>
  <Words>1282</Words>
  <Application>Microsoft Office PowerPoint</Application>
  <PresentationFormat>Panorámica</PresentationFormat>
  <Paragraphs>188</Paragraphs>
  <Slides>22</Slides>
  <Notes>0</Notes>
  <HiddenSlides>0</HiddenSlides>
  <MMClips>0</MMClips>
  <ScaleCrop>false</ScaleCrop>
  <HeadingPairs>
    <vt:vector size="6" baseType="variant">
      <vt:variant>
        <vt:lpstr>Fuentes usadas</vt:lpstr>
      </vt:variant>
      <vt:variant>
        <vt:i4>5</vt:i4>
      </vt:variant>
      <vt:variant>
        <vt:lpstr>Tema</vt:lpstr>
      </vt:variant>
      <vt:variant>
        <vt:i4>1</vt:i4>
      </vt:variant>
      <vt:variant>
        <vt:lpstr>Títulos de diapositiva</vt:lpstr>
      </vt:variant>
      <vt:variant>
        <vt:i4>22</vt:i4>
      </vt:variant>
    </vt:vector>
  </HeadingPairs>
  <TitlesOfParts>
    <vt:vector size="28" baseType="lpstr">
      <vt:lpstr>Arial</vt:lpstr>
      <vt:lpstr>Calibri</vt:lpstr>
      <vt:lpstr>Calibri Light</vt:lpstr>
      <vt:lpstr>Engravers MT</vt:lpstr>
      <vt:lpstr>Wingdings</vt:lpstr>
      <vt:lpstr>Tema de Office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creator>I3</dc:creator>
  <cp:lastModifiedBy>win</cp:lastModifiedBy>
  <cp:revision>55</cp:revision>
  <dcterms:created xsi:type="dcterms:W3CDTF">2021-06-17T17:05:04Z</dcterms:created>
  <dcterms:modified xsi:type="dcterms:W3CDTF">2026-05-27T12:40:01Z</dcterms:modified>
</cp:coreProperties>
</file>