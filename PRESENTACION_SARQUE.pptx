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tmp" ContentType="image/png"/>
  <Override PartName="/ppt/media/image12.tmp" ContentType="image/png"/>
  <Override PartName="/ppt/media/image14.tmp" ContentType="image/png"/>
  <Override PartName="/ppt/media/image17.tmp" ContentType="image/png"/>
  <Override PartName="/ppt/media/image5.tmp" ContentType="image/png"/>
  <Override PartName="/ppt/media/image6.tmp" ContentType="image/png"/>
  <Override PartName="/ppt/media/image7.tmp" ContentType="image/png"/>
  <Override PartName="/ppt/media/image8.tmp" ContentType="image/png"/>
  <Override PartName="/ppt/media/image9.tmp" ContentType="image/png"/>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3" r:id="rId3"/>
    <p:sldId id="258" r:id="rId4"/>
    <p:sldId id="260" r:id="rId5"/>
    <p:sldId id="261" r:id="rId6"/>
    <p:sldId id="281" r:id="rId7"/>
    <p:sldId id="282" r:id="rId8"/>
    <p:sldId id="262" r:id="rId9"/>
    <p:sldId id="274" r:id="rId10"/>
    <p:sldId id="277" r:id="rId11"/>
    <p:sldId id="283" r:id="rId12"/>
    <p:sldId id="279" r:id="rId13"/>
    <p:sldId id="280" r:id="rId14"/>
    <p:sldId id="284" r:id="rId15"/>
    <p:sldId id="266" r:id="rId16"/>
    <p:sldId id="271" r:id="rId17"/>
    <p:sldId id="272" r:id="rId18"/>
    <p:sldId id="275" r:id="rId19"/>
    <p:sldId id="276" r:id="rId20"/>
    <p:sldId id="267" r:id="rId21"/>
    <p:sldId id="268" r:id="rId22"/>
    <p:sldId id="270" r:id="rId23"/>
  </p:sldIdLst>
  <p:sldSz cx="12192000" cy="6858000"/>
  <p:notesSz cx="6858000" cy="9144000"/>
  <p:defaultTextStyle>
    <a:defPPr>
      <a:defRPr lang="es-B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Estilo medio 2 - Énfasis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8FB837D-C827-4EFA-A057-4D05807E0F7C}" styleName="Estilo temático 1 - Énfasis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10A1B5D5-9B99-4C35-A422-299274C87663}" styleName="Estilo medio 1 - Énfasis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52" d="100"/>
          <a:sy n="52" d="100"/>
        </p:scale>
        <p:origin x="108"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BO"/>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BO"/>
          </a:p>
        </p:txBody>
      </p:sp>
      <p:sp>
        <p:nvSpPr>
          <p:cNvPr id="4" name="Marcador de fecha 3"/>
          <p:cNvSpPr>
            <a:spLocks noGrp="1"/>
          </p:cNvSpPr>
          <p:nvPr>
            <p:ph type="dt" sz="half" idx="10"/>
          </p:nvPr>
        </p:nvSpPr>
        <p:spPr/>
        <p:txBody>
          <a:bodyPr/>
          <a:lstStyle/>
          <a:p>
            <a:fld id="{6291A825-A15C-480D-BFFC-E412A7A98F7B}" type="datetimeFigureOut">
              <a:rPr lang="es-BO" smtClean="0"/>
              <a:t>27/5/2026</a:t>
            </a:fld>
            <a:endParaRPr lang="es-BO"/>
          </a:p>
        </p:txBody>
      </p:sp>
      <p:sp>
        <p:nvSpPr>
          <p:cNvPr id="5" name="Marcador de pie de página 4"/>
          <p:cNvSpPr>
            <a:spLocks noGrp="1"/>
          </p:cNvSpPr>
          <p:nvPr>
            <p:ph type="ftr" sz="quarter" idx="11"/>
          </p:nvPr>
        </p:nvSpPr>
        <p:spPr/>
        <p:txBody>
          <a:bodyPr/>
          <a:lstStyle/>
          <a:p>
            <a:endParaRPr lang="es-BO"/>
          </a:p>
        </p:txBody>
      </p:sp>
      <p:sp>
        <p:nvSpPr>
          <p:cNvPr id="6" name="Marcador de número de diapositiva 5"/>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15350136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BO"/>
          </a:p>
        </p:txBody>
      </p:sp>
      <p:sp>
        <p:nvSpPr>
          <p:cNvPr id="3" name="Marcador de contenido 2"/>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fecha 3"/>
          <p:cNvSpPr>
            <a:spLocks noGrp="1"/>
          </p:cNvSpPr>
          <p:nvPr>
            <p:ph type="dt" sz="half" idx="10"/>
          </p:nvPr>
        </p:nvSpPr>
        <p:spPr/>
        <p:txBody>
          <a:bodyPr/>
          <a:lstStyle/>
          <a:p>
            <a:fld id="{6291A825-A15C-480D-BFFC-E412A7A98F7B}" type="datetimeFigureOut">
              <a:rPr lang="es-BO" smtClean="0"/>
              <a:t>27/5/2026</a:t>
            </a:fld>
            <a:endParaRPr lang="es-BO"/>
          </a:p>
        </p:txBody>
      </p:sp>
      <p:sp>
        <p:nvSpPr>
          <p:cNvPr id="5" name="Marcador de pie de página 4"/>
          <p:cNvSpPr>
            <a:spLocks noGrp="1"/>
          </p:cNvSpPr>
          <p:nvPr>
            <p:ph type="ftr" sz="quarter" idx="11"/>
          </p:nvPr>
        </p:nvSpPr>
        <p:spPr/>
        <p:txBody>
          <a:bodyPr/>
          <a:lstStyle/>
          <a:p>
            <a:endParaRPr lang="es-BO"/>
          </a:p>
        </p:txBody>
      </p:sp>
      <p:sp>
        <p:nvSpPr>
          <p:cNvPr id="6" name="Marcador de número de diapositiva 5"/>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26710908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BO"/>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el estilo de texto del patrón</a:t>
            </a:r>
          </a:p>
        </p:txBody>
      </p:sp>
      <p:sp>
        <p:nvSpPr>
          <p:cNvPr id="4" name="Marcador de fecha 3"/>
          <p:cNvSpPr>
            <a:spLocks noGrp="1"/>
          </p:cNvSpPr>
          <p:nvPr>
            <p:ph type="dt" sz="half" idx="10"/>
          </p:nvPr>
        </p:nvSpPr>
        <p:spPr/>
        <p:txBody>
          <a:bodyPr/>
          <a:lstStyle/>
          <a:p>
            <a:fld id="{6291A825-A15C-480D-BFFC-E412A7A98F7B}" type="datetimeFigureOut">
              <a:rPr lang="es-BO" smtClean="0"/>
              <a:t>27/5/2026</a:t>
            </a:fld>
            <a:endParaRPr lang="es-BO"/>
          </a:p>
        </p:txBody>
      </p:sp>
      <p:sp>
        <p:nvSpPr>
          <p:cNvPr id="5" name="Marcador de pie de página 4"/>
          <p:cNvSpPr>
            <a:spLocks noGrp="1"/>
          </p:cNvSpPr>
          <p:nvPr>
            <p:ph type="ftr" sz="quarter" idx="11"/>
          </p:nvPr>
        </p:nvSpPr>
        <p:spPr/>
        <p:txBody>
          <a:bodyPr/>
          <a:lstStyle/>
          <a:p>
            <a:endParaRPr lang="es-BO"/>
          </a:p>
        </p:txBody>
      </p:sp>
      <p:sp>
        <p:nvSpPr>
          <p:cNvPr id="6" name="Marcador de número de diapositiva 5"/>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27994620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BO"/>
          </a:p>
        </p:txBody>
      </p:sp>
      <p:sp>
        <p:nvSpPr>
          <p:cNvPr id="3" name="Marcador de contenido 2"/>
          <p:cNvSpPr>
            <a:spLocks noGrp="1"/>
          </p:cNvSpPr>
          <p:nvPr>
            <p:ph sz="half" idx="1"/>
          </p:nvPr>
        </p:nvSpPr>
        <p:spPr>
          <a:xfrm>
            <a:off x="838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contenido 3"/>
          <p:cNvSpPr>
            <a:spLocks noGrp="1"/>
          </p:cNvSpPr>
          <p:nvPr>
            <p:ph sz="half" idx="2"/>
          </p:nvPr>
        </p:nvSpPr>
        <p:spPr>
          <a:xfrm>
            <a:off x="6172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5" name="Marcador de fecha 4"/>
          <p:cNvSpPr>
            <a:spLocks noGrp="1"/>
          </p:cNvSpPr>
          <p:nvPr>
            <p:ph type="dt" sz="half" idx="10"/>
          </p:nvPr>
        </p:nvSpPr>
        <p:spPr/>
        <p:txBody>
          <a:bodyPr/>
          <a:lstStyle/>
          <a:p>
            <a:fld id="{6291A825-A15C-480D-BFFC-E412A7A98F7B}" type="datetimeFigureOut">
              <a:rPr lang="es-BO" smtClean="0"/>
              <a:t>27/5/2026</a:t>
            </a:fld>
            <a:endParaRPr lang="es-BO"/>
          </a:p>
        </p:txBody>
      </p:sp>
      <p:sp>
        <p:nvSpPr>
          <p:cNvPr id="6" name="Marcador de pie de página 5"/>
          <p:cNvSpPr>
            <a:spLocks noGrp="1"/>
          </p:cNvSpPr>
          <p:nvPr>
            <p:ph type="ftr" sz="quarter" idx="11"/>
          </p:nvPr>
        </p:nvSpPr>
        <p:spPr/>
        <p:txBody>
          <a:bodyPr/>
          <a:lstStyle/>
          <a:p>
            <a:endParaRPr lang="es-BO"/>
          </a:p>
        </p:txBody>
      </p:sp>
      <p:sp>
        <p:nvSpPr>
          <p:cNvPr id="7" name="Marcador de número de diapositiva 6"/>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21245927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a:t>Haga clic para modificar el estilo de título del patrón</a:t>
            </a:r>
            <a:endParaRPr lang="es-BO"/>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7" name="Marcador de fecha 6"/>
          <p:cNvSpPr>
            <a:spLocks noGrp="1"/>
          </p:cNvSpPr>
          <p:nvPr>
            <p:ph type="dt" sz="half" idx="10"/>
          </p:nvPr>
        </p:nvSpPr>
        <p:spPr/>
        <p:txBody>
          <a:bodyPr/>
          <a:lstStyle/>
          <a:p>
            <a:fld id="{6291A825-A15C-480D-BFFC-E412A7A98F7B}" type="datetimeFigureOut">
              <a:rPr lang="es-BO" smtClean="0"/>
              <a:t>27/5/2026</a:t>
            </a:fld>
            <a:endParaRPr lang="es-BO"/>
          </a:p>
        </p:txBody>
      </p:sp>
      <p:sp>
        <p:nvSpPr>
          <p:cNvPr id="8" name="Marcador de pie de página 7"/>
          <p:cNvSpPr>
            <a:spLocks noGrp="1"/>
          </p:cNvSpPr>
          <p:nvPr>
            <p:ph type="ftr" sz="quarter" idx="11"/>
          </p:nvPr>
        </p:nvSpPr>
        <p:spPr/>
        <p:txBody>
          <a:bodyPr/>
          <a:lstStyle/>
          <a:p>
            <a:endParaRPr lang="es-BO"/>
          </a:p>
        </p:txBody>
      </p:sp>
      <p:sp>
        <p:nvSpPr>
          <p:cNvPr id="9" name="Marcador de número de diapositiva 8"/>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27881561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BO"/>
          </a:p>
        </p:txBody>
      </p:sp>
      <p:sp>
        <p:nvSpPr>
          <p:cNvPr id="3" name="Marcador de fecha 2"/>
          <p:cNvSpPr>
            <a:spLocks noGrp="1"/>
          </p:cNvSpPr>
          <p:nvPr>
            <p:ph type="dt" sz="half" idx="10"/>
          </p:nvPr>
        </p:nvSpPr>
        <p:spPr/>
        <p:txBody>
          <a:bodyPr/>
          <a:lstStyle/>
          <a:p>
            <a:fld id="{6291A825-A15C-480D-BFFC-E412A7A98F7B}" type="datetimeFigureOut">
              <a:rPr lang="es-BO" smtClean="0"/>
              <a:t>27/5/2026</a:t>
            </a:fld>
            <a:endParaRPr lang="es-BO"/>
          </a:p>
        </p:txBody>
      </p:sp>
      <p:sp>
        <p:nvSpPr>
          <p:cNvPr id="4" name="Marcador de pie de página 3"/>
          <p:cNvSpPr>
            <a:spLocks noGrp="1"/>
          </p:cNvSpPr>
          <p:nvPr>
            <p:ph type="ftr" sz="quarter" idx="11"/>
          </p:nvPr>
        </p:nvSpPr>
        <p:spPr/>
        <p:txBody>
          <a:bodyPr/>
          <a:lstStyle/>
          <a:p>
            <a:endParaRPr lang="es-BO"/>
          </a:p>
        </p:txBody>
      </p:sp>
      <p:sp>
        <p:nvSpPr>
          <p:cNvPr id="5" name="Marcador de número de diapositiva 4"/>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19728116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6291A825-A15C-480D-BFFC-E412A7A98F7B}" type="datetimeFigureOut">
              <a:rPr lang="es-BO" smtClean="0"/>
              <a:t>27/5/2026</a:t>
            </a:fld>
            <a:endParaRPr lang="es-BO"/>
          </a:p>
        </p:txBody>
      </p:sp>
      <p:sp>
        <p:nvSpPr>
          <p:cNvPr id="3" name="Marcador de pie de página 2"/>
          <p:cNvSpPr>
            <a:spLocks noGrp="1"/>
          </p:cNvSpPr>
          <p:nvPr>
            <p:ph type="ftr" sz="quarter" idx="11"/>
          </p:nvPr>
        </p:nvSpPr>
        <p:spPr/>
        <p:txBody>
          <a:bodyPr/>
          <a:lstStyle/>
          <a:p>
            <a:endParaRPr lang="es-BO"/>
          </a:p>
        </p:txBody>
      </p:sp>
      <p:sp>
        <p:nvSpPr>
          <p:cNvPr id="4" name="Marcador de número de diapositiva 3"/>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33878247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BO"/>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Marcador de fecha 4"/>
          <p:cNvSpPr>
            <a:spLocks noGrp="1"/>
          </p:cNvSpPr>
          <p:nvPr>
            <p:ph type="dt" sz="half" idx="10"/>
          </p:nvPr>
        </p:nvSpPr>
        <p:spPr/>
        <p:txBody>
          <a:bodyPr/>
          <a:lstStyle/>
          <a:p>
            <a:fld id="{6291A825-A15C-480D-BFFC-E412A7A98F7B}" type="datetimeFigureOut">
              <a:rPr lang="es-BO" smtClean="0"/>
              <a:t>27/5/2026</a:t>
            </a:fld>
            <a:endParaRPr lang="es-BO"/>
          </a:p>
        </p:txBody>
      </p:sp>
      <p:sp>
        <p:nvSpPr>
          <p:cNvPr id="6" name="Marcador de pie de página 5"/>
          <p:cNvSpPr>
            <a:spLocks noGrp="1"/>
          </p:cNvSpPr>
          <p:nvPr>
            <p:ph type="ftr" sz="quarter" idx="11"/>
          </p:nvPr>
        </p:nvSpPr>
        <p:spPr/>
        <p:txBody>
          <a:bodyPr/>
          <a:lstStyle/>
          <a:p>
            <a:endParaRPr lang="es-BO"/>
          </a:p>
        </p:txBody>
      </p:sp>
      <p:sp>
        <p:nvSpPr>
          <p:cNvPr id="7" name="Marcador de número de diapositiva 6"/>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19725160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BO"/>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BO"/>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Marcador de fecha 4"/>
          <p:cNvSpPr>
            <a:spLocks noGrp="1"/>
          </p:cNvSpPr>
          <p:nvPr>
            <p:ph type="dt" sz="half" idx="10"/>
          </p:nvPr>
        </p:nvSpPr>
        <p:spPr/>
        <p:txBody>
          <a:bodyPr/>
          <a:lstStyle/>
          <a:p>
            <a:fld id="{6291A825-A15C-480D-BFFC-E412A7A98F7B}" type="datetimeFigureOut">
              <a:rPr lang="es-BO" smtClean="0"/>
              <a:t>27/5/2026</a:t>
            </a:fld>
            <a:endParaRPr lang="es-BO"/>
          </a:p>
        </p:txBody>
      </p:sp>
      <p:sp>
        <p:nvSpPr>
          <p:cNvPr id="6" name="Marcador de pie de página 5"/>
          <p:cNvSpPr>
            <a:spLocks noGrp="1"/>
          </p:cNvSpPr>
          <p:nvPr>
            <p:ph type="ftr" sz="quarter" idx="11"/>
          </p:nvPr>
        </p:nvSpPr>
        <p:spPr/>
        <p:txBody>
          <a:bodyPr/>
          <a:lstStyle/>
          <a:p>
            <a:endParaRPr lang="es-BO"/>
          </a:p>
        </p:txBody>
      </p:sp>
      <p:sp>
        <p:nvSpPr>
          <p:cNvPr id="7" name="Marcador de número de diapositiva 6"/>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17399734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BO"/>
          </a:p>
        </p:txBody>
      </p:sp>
      <p:sp>
        <p:nvSpPr>
          <p:cNvPr id="3" name="Marcador de texto vertical 2"/>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fecha 3"/>
          <p:cNvSpPr>
            <a:spLocks noGrp="1"/>
          </p:cNvSpPr>
          <p:nvPr>
            <p:ph type="dt" sz="half" idx="10"/>
          </p:nvPr>
        </p:nvSpPr>
        <p:spPr/>
        <p:txBody>
          <a:bodyPr/>
          <a:lstStyle/>
          <a:p>
            <a:fld id="{6291A825-A15C-480D-BFFC-E412A7A98F7B}" type="datetimeFigureOut">
              <a:rPr lang="es-BO" smtClean="0"/>
              <a:t>27/5/2026</a:t>
            </a:fld>
            <a:endParaRPr lang="es-BO"/>
          </a:p>
        </p:txBody>
      </p:sp>
      <p:sp>
        <p:nvSpPr>
          <p:cNvPr id="5" name="Marcador de pie de página 4"/>
          <p:cNvSpPr>
            <a:spLocks noGrp="1"/>
          </p:cNvSpPr>
          <p:nvPr>
            <p:ph type="ftr" sz="quarter" idx="11"/>
          </p:nvPr>
        </p:nvSpPr>
        <p:spPr/>
        <p:txBody>
          <a:bodyPr/>
          <a:lstStyle/>
          <a:p>
            <a:endParaRPr lang="es-BO"/>
          </a:p>
        </p:txBody>
      </p:sp>
      <p:sp>
        <p:nvSpPr>
          <p:cNvPr id="6" name="Marcador de número de diapositiva 5"/>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13810376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BO"/>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fecha 3"/>
          <p:cNvSpPr>
            <a:spLocks noGrp="1"/>
          </p:cNvSpPr>
          <p:nvPr>
            <p:ph type="dt" sz="half" idx="10"/>
          </p:nvPr>
        </p:nvSpPr>
        <p:spPr/>
        <p:txBody>
          <a:bodyPr/>
          <a:lstStyle/>
          <a:p>
            <a:fld id="{6291A825-A15C-480D-BFFC-E412A7A98F7B}" type="datetimeFigureOut">
              <a:rPr lang="es-BO" smtClean="0"/>
              <a:t>27/5/2026</a:t>
            </a:fld>
            <a:endParaRPr lang="es-BO"/>
          </a:p>
        </p:txBody>
      </p:sp>
      <p:sp>
        <p:nvSpPr>
          <p:cNvPr id="5" name="Marcador de pie de página 4"/>
          <p:cNvSpPr>
            <a:spLocks noGrp="1"/>
          </p:cNvSpPr>
          <p:nvPr>
            <p:ph type="ftr" sz="quarter" idx="11"/>
          </p:nvPr>
        </p:nvSpPr>
        <p:spPr/>
        <p:txBody>
          <a:bodyPr/>
          <a:lstStyle/>
          <a:p>
            <a:endParaRPr lang="es-BO"/>
          </a:p>
        </p:txBody>
      </p:sp>
      <p:sp>
        <p:nvSpPr>
          <p:cNvPr id="6" name="Marcador de número de diapositiva 5"/>
          <p:cNvSpPr>
            <a:spLocks noGrp="1"/>
          </p:cNvSpPr>
          <p:nvPr>
            <p:ph type="sldNum" sz="quarter" idx="12"/>
          </p:nvPr>
        </p:nvSpPr>
        <p:spPr/>
        <p:txBody>
          <a:bodyPr/>
          <a:lstStyle/>
          <a:p>
            <a:fld id="{287B3789-D181-473C-B9EE-CEDDAB1877C4}" type="slidenum">
              <a:rPr lang="es-BO" smtClean="0"/>
              <a:t>‹Nº›</a:t>
            </a:fld>
            <a:endParaRPr lang="es-BO"/>
          </a:p>
        </p:txBody>
      </p:sp>
    </p:spTree>
    <p:extLst>
      <p:ext uri="{BB962C8B-B14F-4D97-AF65-F5344CB8AC3E}">
        <p14:creationId xmlns:p14="http://schemas.microsoft.com/office/powerpoint/2010/main" val="17697638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BO"/>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BO"/>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91A825-A15C-480D-BFFC-E412A7A98F7B}" type="datetimeFigureOut">
              <a:rPr lang="es-BO" smtClean="0"/>
              <a:t>27/5/2026</a:t>
            </a:fld>
            <a:endParaRPr lang="es-BO"/>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BO"/>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7B3789-D181-473C-B9EE-CEDDAB1877C4}" type="slidenum">
              <a:rPr lang="es-BO" smtClean="0"/>
              <a:t>‹Nº›</a:t>
            </a:fld>
            <a:endParaRPr lang="es-BO"/>
          </a:p>
        </p:txBody>
      </p:sp>
    </p:spTree>
    <p:extLst>
      <p:ext uri="{BB962C8B-B14F-4D97-AF65-F5344CB8AC3E}">
        <p14:creationId xmlns:p14="http://schemas.microsoft.com/office/powerpoint/2010/main" val="41986047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B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tmp"/></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tm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7.tmp"/></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8.tmp"/></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9.tmp"/><Relationship Id="rId6"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0.tmp"/><Relationship Id="rId6"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tmp"/><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3.jpeg"/><Relationship Id="rId5"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4.tmp"/><Relationship Id="rId5" Type="http://schemas.openxmlformats.org/officeDocument/2006/relationships/image" Target="../media/image15.jpg"/><Relationship Id="rId6"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6.jpg"/><Relationship Id="rId5" Type="http://schemas.openxmlformats.org/officeDocument/2006/relationships/image" Target="../media/image17.tmp"/><Relationship Id="rId6"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ángulo 5"/>
          <p:cNvSpPr/>
          <p:nvPr/>
        </p:nvSpPr>
        <p:spPr>
          <a:xfrm>
            <a:off x="0" y="0"/>
            <a:ext cx="10740980" cy="1200329"/>
          </a:xfrm>
          <a:prstGeom prst="rect">
            <a:avLst/>
          </a:prstGeom>
        </p:spPr>
        <p:style>
          <a:lnRef idx="0">
            <a:schemeClr val="accent6"/>
          </a:lnRef>
          <a:fillRef idx="3">
            <a:schemeClr val="accent6"/>
          </a:fillRef>
          <a:effectRef idx="3">
            <a:schemeClr val="accent6"/>
          </a:effectRef>
          <a:fontRef idx="minor">
            <a:schemeClr val="lt1"/>
          </a:fontRef>
        </p:style>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7" name="Rectángulo 6"/>
          <p:cNvSpPr/>
          <p:nvPr/>
        </p:nvSpPr>
        <p:spPr>
          <a:xfrm>
            <a:off x="457200" y="1280160"/>
            <a:ext cx="11277600" cy="640080"/>
          </a:xfrm>
          <a:prstGeom prst="rect">
            <a:avLst/>
          </a:prstGeom>
          <a:noFill/>
        </p:spPr>
        <p:txBody>
          <a:bodyPr wrap="none" lIns="91440" tIns="45720" rIns="91440" bIns="45720">
            <a:spAutoFit/>
          </a:bodyPr>
          <a:lstStyle/>
          <a:p>
            <a:pPr algn="ctr"/>
            <a:r>
              <a:rPr lang="es-ES" sz="3600" b="1" u="sng" cap="none" spc="0" dirty="0">
                <a:ln w="0"/>
                <a:solidFill>
                  <a:srgbClr val="002060"/>
                </a:solidFill>
              </a:rPr>
              <a:t>INTRODUCCIÓN</a:t>
            </a:r>
          </a:p>
        </p:txBody>
      </p:sp>
      <p:sp>
        <p:nvSpPr>
          <p:cNvPr id="11" name="CuadroTexto 10"/>
          <p:cNvSpPr txBox="1"/>
          <p:nvPr/>
        </p:nvSpPr>
        <p:spPr>
          <a:xfrm>
            <a:off x="548640" y="2377440"/>
            <a:ext cx="11064240" cy="4114800"/>
          </a:xfrm>
          <a:prstGeom prst="rect">
            <a:avLst/>
          </a:prstGeom>
          <a:noFill/>
        </p:spPr>
        <p:txBody>
          <a:bodyPr wrap="square" rtlCol="0">
            <a:spAutoFit/>
          </a:bodyPr>
          <a:lstStyle/>
          <a:p>
            <a:pPr algn="just"/>
            <a:r>
              <a:rPr lang="es-MX" dirty="0">
                <a:latin typeface="Arial" panose="020B0604020202020204" pitchFamily="34" charset="0"/>
                <a:cs typeface="Arial" panose="020B0604020202020204" pitchFamily="34" charset="0"/>
              </a:rPr>
              <a:t>La propuesta de este proyecto consiste en la implementación de un sistema automatizado de riego con electroválvulas K-Rain BSPT de 9V DC y 6 controladores Bluetooth K-Rain BL-KR (2 BL-KR2 + 3 BL-KR4 + 1 BL-KR6, totalizando 22 estaciones) para el Parque Ecoturístico Quinta Estación de 5 hectáreas en Cochabamba, complementado con una plataforma web SARQUE desarrollada en React + Supabase para la visualización del cronograma de riego y reportes simulados.</a:t>
            </a:r>
            <a:endParaRPr lang="es-BO" dirty="0">
              <a:latin typeface="Arial" panose="020B0604020202020204" pitchFamily="34" charset="0"/>
              <a:cs typeface="Arial" panose="020B0604020202020204" pitchFamily="34" charset="0"/>
            </a:endParaRPr>
          </a:p>
        </p:txBody>
      </p:sp>
      <p:pic>
        <p:nvPicPr>
          <p:cNvPr id="2" name="Imagen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Tree>
    <p:extLst>
      <p:ext uri="{BB962C8B-B14F-4D97-AF65-F5344CB8AC3E}">
        <p14:creationId xmlns:p14="http://schemas.microsoft.com/office/powerpoint/2010/main" val="36685526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40980"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PLANTEAMIENTO DEL PROBLEMA</a:t>
            </a:r>
          </a:p>
        </p:txBody>
      </p:sp>
      <p:pic>
        <p:nvPicPr>
          <p:cNvPr id="6" name="Imagen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80" y="5520681"/>
            <a:ext cx="1369383" cy="1210235"/>
          </a:xfrm>
          <a:prstGeom prst="rect">
            <a:avLst/>
          </a:prstGeom>
        </p:spPr>
      </p:pic>
      <p:pic>
        <p:nvPicPr>
          <p:cNvPr id="8" name="Imagen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
        <p:nvSpPr>
          <p:cNvPr id="9" name="TextBox 8"/>
          <p:cNvSpPr txBox="1"/>
          <p:nvPr/>
        </p:nvSpPr>
        <p:spPr>
          <a:xfrm>
            <a:off x="548640" y="2103120"/>
            <a:ext cx="11064240" cy="4297680"/>
          </a:xfrm>
          <a:prstGeom prst="rect">
            <a:avLst/>
          </a:prstGeom>
          <a:noFill/>
        </p:spPr>
        <p:txBody>
          <a:bodyPr wrap="square">
            <a:spAutoFit/>
          </a:bodyPr>
          <a:lstStyle/>
          <a:p>
            <a:pPr algn="just"/>
            <a:r>
              <a:rPr sz="1600">
                <a:solidFill>
                  <a:srgbClr val="212121"/>
                </a:solidFill>
                <a:latin typeface="Calibri"/>
              </a:rPr>
              <a:t>El Parque Ecoturístico Quinta Estación, de 5 hectáreas, opera actualmente con riego manual mediante 41 llaves de paso distribuidas en el predio. Este sistema manual genera múltiples problemas operativos:
• Tiempo improductivo de mínimo 30 minutos diarios en desplazamientos del personal (6 jardineros) entre las llaves de paso.
• Fugas en cañerías por olvido de cierre de llaves al finalizar el turno de riego, lo que desperdicia hasta 28.800 litros por incidente.
• Sectores sin riego por olvido de apertura de llaves, comprometiendo la salud de las especies vegetales.
• Cronograma semanal complejo mantenido únicamente en papel, vulnerable a pérdida y desactualización, sin documentación digital del sistema.</a:t>
            </a:r>
          </a:p>
        </p:txBody>
      </p:sp>
    </p:spTree>
    <p:extLst>
      <p:ext uri="{BB962C8B-B14F-4D97-AF65-F5344CB8AC3E}">
        <p14:creationId xmlns:p14="http://schemas.microsoft.com/office/powerpoint/2010/main" val="3390456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79617"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OBJETIVO GENERAL</a:t>
            </a:r>
          </a:p>
        </p:txBody>
      </p:sp>
      <p:sp>
        <p:nvSpPr>
          <p:cNvPr id="5" name="CuadroTexto 4"/>
          <p:cNvSpPr txBox="1"/>
          <p:nvPr/>
        </p:nvSpPr>
        <p:spPr>
          <a:xfrm>
            <a:off x="731520" y="2560320"/>
            <a:ext cx="10698480" cy="36576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just"/>
            <a:r>
              <a:rPr lang="es-MX" sz="2400" dirty="0">
                <a:latin typeface="Arial" panose="020B0604020202020204" pitchFamily="34" charset="0"/>
                <a:cs typeface="Arial" panose="020B0604020202020204" pitchFamily="34" charset="0"/>
              </a:rPr>
              <a:t>Diseñar, implementar y poner en marcha un sistema automatizado de riego con electroválvulas y controladores Bluetooth K-Rain BL-KR programables mediante la app móvil K-RainBL, complementado con una plataforma web de visualización y reportes simulados, para la gestión eficiente del recurso hídrico en el Parque Ecoturístico Quinta Estación de Cochabamba.</a:t>
            </a:r>
            <a:endParaRPr lang="es-BO" sz="2400" dirty="0">
              <a:latin typeface="Arial" panose="020B0604020202020204" pitchFamily="34" charset="0"/>
              <a:cs typeface="Arial" panose="020B0604020202020204" pitchFamily="34" charset="0"/>
            </a:endParaRPr>
          </a:p>
        </p:txBody>
      </p:sp>
      <p:pic>
        <p:nvPicPr>
          <p:cNvPr id="6" name="Imagen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7" name="Imagen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Tree>
    <p:extLst>
      <p:ext uri="{BB962C8B-B14F-4D97-AF65-F5344CB8AC3E}">
        <p14:creationId xmlns:p14="http://schemas.microsoft.com/office/powerpoint/2010/main" val="11856417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1" y="0"/>
            <a:ext cx="10753859"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OBJETIVOS ESPECÍFICOS</a:t>
            </a:r>
          </a:p>
        </p:txBody>
      </p:sp>
      <p:sp>
        <p:nvSpPr>
          <p:cNvPr id="5" name="CuadroTexto 4"/>
          <p:cNvSpPr txBox="1"/>
          <p:nvPr/>
        </p:nvSpPr>
        <p:spPr>
          <a:xfrm>
            <a:off x="365760" y="2194560"/>
            <a:ext cx="11430000" cy="438912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marL="285750" indent="-285750" algn="just">
              <a:buFont typeface="Wingdings" panose="05000000000000000000" pitchFamily="2" charset="2"/>
              <a:buChar char="ü"/>
            </a:pPr>
            <a:r>
              <a:rPr lang="es-MX" sz="2400" dirty="0">
                <a:latin typeface="Arial" panose="020B0604020202020204" pitchFamily="34" charset="0"/>
                <a:cs typeface="Arial" panose="020B0604020202020204" pitchFamily="34" charset="0"/>
              </a:rPr>
              <a:t>Diagnosticar la situación actual del sistema de riego manual del parque, identificando sectores, cronograma y problemas operativos.</a:t>
            </a:r>
          </a:p>
          <a:p>
            <a:pPr marL="285750" indent="-285750" algn="just">
              <a:buFont typeface="Wingdings" panose="05000000000000000000" pitchFamily="2" charset="2"/>
              <a:buChar char="ü"/>
            </a:pPr>
            <a:endParaRPr lang="es-MX" sz="2400" dirty="0">
              <a:latin typeface="Arial" panose="020B0604020202020204" pitchFamily="34" charset="0"/>
              <a:cs typeface="Arial" panose="020B0604020202020204" pitchFamily="34" charset="0"/>
            </a:endParaRPr>
          </a:p>
          <a:p>
            <a:pPr marL="285750" indent="-285750" algn="just">
              <a:buFont typeface="Wingdings" panose="05000000000000000000" pitchFamily="2" charset="2"/>
              <a:buChar char="ü"/>
            </a:pPr>
            <a:r>
              <a:rPr lang="es-MX" sz="2400" dirty="0">
                <a:latin typeface="Arial" panose="020B0604020202020204" pitchFamily="34" charset="0"/>
                <a:cs typeface="Arial" panose="020B0604020202020204" pitchFamily="34" charset="0"/>
              </a:rPr>
              <a:t>Diseñar la arquitectura del sistema consolidando 41 puntos en 22 estaciones controladas por 6 controladores BL-KR optimizados para cable ≤30 m por solenoide.</a:t>
            </a:r>
          </a:p>
          <a:p>
            <a:pPr marL="285750" indent="-285750" algn="just">
              <a:buFont typeface="Wingdings" panose="05000000000000000000" pitchFamily="2" charset="2"/>
              <a:buChar char="ü"/>
            </a:pPr>
            <a:endParaRPr lang="es-MX" sz="2400" dirty="0">
              <a:latin typeface="Arial" panose="020B0604020202020204" pitchFamily="34" charset="0"/>
              <a:cs typeface="Arial" panose="020B0604020202020204" pitchFamily="34" charset="0"/>
            </a:endParaRPr>
          </a:p>
          <a:p>
            <a:pPr marL="285750" lvl="0" indent="-285750">
              <a:buFont typeface="Wingdings" panose="05000000000000000000" pitchFamily="2" charset="2"/>
              <a:buChar char="ü"/>
            </a:pPr>
            <a:r>
              <a:rPr lang="es-ES" sz="2400" dirty="0">
                <a:latin typeface="Arial" panose="020B0604020202020204" pitchFamily="34" charset="0"/>
                <a:cs typeface="Arial" panose="020B0604020202020204" pitchFamily="34" charset="0"/>
              </a:rPr>
              <a:t>Instalar la red hidráulica (PVC 2" matriz, 1½" cuelleras) y eléctrica (cable 20 AWG monofilar en politubo 3/4"), incluyendo cajas de hormigón 40×40×30 cm para las electroválvulas.</a:t>
            </a:r>
          </a:p>
          <a:p>
            <a:pPr lvl="0"/>
            <a:endParaRPr lang="es-BO" sz="2400" dirty="0">
              <a:latin typeface="Arial" panose="020B0604020202020204" pitchFamily="34" charset="0"/>
              <a:cs typeface="Arial" panose="020B0604020202020204" pitchFamily="34" charset="0"/>
            </a:endParaRPr>
          </a:p>
          <a:p>
            <a:pPr marL="285750" lvl="0" indent="-285750">
              <a:buFont typeface="Wingdings" panose="05000000000000000000" pitchFamily="2" charset="2"/>
              <a:buChar char="ü"/>
            </a:pPr>
            <a:r>
              <a:rPr lang="es-ES" sz="2400" dirty="0">
                <a:latin typeface="Arial" panose="020B0604020202020204" pitchFamily="34" charset="0"/>
                <a:cs typeface="Arial" panose="020B0604020202020204" pitchFamily="34" charset="0"/>
              </a:rPr>
              <a:t>Desarrollar la plataforma web SARQUE en React + TypeScript + Supabase con catálogo de sectores, cronograma editable y reportes simulados de consumo hídrico.</a:t>
            </a:r>
            <a:endParaRPr lang="es-BO" sz="2400" dirty="0">
              <a:latin typeface="Arial" panose="020B0604020202020204" pitchFamily="34" charset="0"/>
              <a:cs typeface="Arial" panose="020B0604020202020204" pitchFamily="34" charset="0"/>
            </a:endParaRPr>
          </a:p>
          <a:p>
            <a:endParaRPr lang="es-BO" dirty="0"/>
          </a:p>
        </p:txBody>
      </p:sp>
      <p:pic>
        <p:nvPicPr>
          <p:cNvPr id="6" name="Imagen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8" name="Imagen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Tree>
    <p:extLst>
      <p:ext uri="{BB962C8B-B14F-4D97-AF65-F5344CB8AC3E}">
        <p14:creationId xmlns:p14="http://schemas.microsoft.com/office/powerpoint/2010/main" val="114199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40980"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ANÁLISIS DE REQUERIMIENTOS</a:t>
            </a:r>
          </a:p>
        </p:txBody>
      </p:sp>
      <p:graphicFrame>
        <p:nvGraphicFramePr>
          <p:cNvPr id="5" name="Tabla 4"/>
          <p:cNvGraphicFramePr>
            <a:graphicFrameLocks noGrp="1"/>
          </p:cNvGraphicFramePr>
          <p:nvPr>
            <p:extLst>
              <p:ext uri="{D42A27DB-BD31-4B8C-83A1-F6EECF244321}">
                <p14:modId xmlns:p14="http://schemas.microsoft.com/office/powerpoint/2010/main" val="3759829937"/>
              </p:ext>
            </p:extLst>
          </p:nvPr>
        </p:nvGraphicFramePr>
        <p:xfrm>
          <a:off x="1205753" y="1936093"/>
          <a:ext cx="9212600" cy="4668370"/>
        </p:xfrm>
        <a:graphic>
          <a:graphicData uri="http://schemas.openxmlformats.org/drawingml/2006/table">
            <a:tbl>
              <a:tblPr firstRow="1" firstCol="1" bandRow="1">
                <a:tableStyleId>{93296810-A885-4BE3-A3E7-6D5BEEA58F35}</a:tableStyleId>
              </a:tblPr>
              <a:tblGrid>
                <a:gridCol w="4606300">
                  <a:extLst>
                    <a:ext uri="{9D8B030D-6E8A-4147-A177-3AD203B41FA5}">
                      <a16:colId xmlns:a16="http://schemas.microsoft.com/office/drawing/2014/main" val="20000"/>
                    </a:ext>
                  </a:extLst>
                </a:gridCol>
                <a:gridCol w="4606300">
                  <a:extLst>
                    <a:ext uri="{9D8B030D-6E8A-4147-A177-3AD203B41FA5}">
                      <a16:colId xmlns:a16="http://schemas.microsoft.com/office/drawing/2014/main" val="20001"/>
                    </a:ext>
                  </a:extLst>
                </a:gridCol>
              </a:tblGrid>
              <a:tr h="750999">
                <a:tc>
                  <a:txBody>
                    <a:bodyPr/>
                    <a:lstStyle/>
                    <a:p>
                      <a:pPr algn="ctr">
                        <a:lnSpc>
                          <a:spcPct val="150000"/>
                        </a:lnSpc>
                        <a:spcBef>
                          <a:spcPts val="1200"/>
                        </a:spcBef>
                        <a:spcAft>
                          <a:spcPts val="0"/>
                        </a:spcAft>
                      </a:pPr>
                      <a:r>
                        <a:rPr lang="es-ES" sz="1800" b="1" spc="25" dirty="0">
                          <a:solidFill>
                            <a:schemeClr val="tx1"/>
                          </a:solidFill>
                          <a:effectLst/>
                          <a:latin typeface="Arial" panose="020B0604020202020204" pitchFamily="34" charset="0"/>
                          <a:cs typeface="Arial" panose="020B0604020202020204" pitchFamily="34" charset="0"/>
                        </a:rPr>
                        <a:t> FUNCIONALES </a:t>
                      </a:r>
                      <a:endParaRPr lang="es-BO" sz="1800" b="1" dirty="0">
                        <a:solidFill>
                          <a:schemeClr val="tx1"/>
                        </a:solidFill>
                        <a:effectLst/>
                        <a:latin typeface="Arial" panose="020B0604020202020204" pitchFamily="34" charset="0"/>
                        <a:ea typeface="Arial" panose="020B0604020202020204" pitchFamily="34" charset="0"/>
                        <a:cs typeface="Arial" panose="020B0604020202020204" pitchFamily="34" charset="0"/>
                      </a:endParaRPr>
                    </a:p>
                  </a:txBody>
                  <a:tcPr marL="42567" marR="42567" marT="0" marB="0" anchor="ctr"/>
                </a:tc>
                <a:tc>
                  <a:txBody>
                    <a:bodyPr/>
                    <a:lstStyle/>
                    <a:p>
                      <a:pPr algn="ctr">
                        <a:lnSpc>
                          <a:spcPct val="150000"/>
                        </a:lnSpc>
                        <a:spcBef>
                          <a:spcPts val="1200"/>
                        </a:spcBef>
                        <a:spcAft>
                          <a:spcPts val="0"/>
                        </a:spcAft>
                      </a:pPr>
                      <a:r>
                        <a:rPr lang="es-ES" sz="1800" b="1" spc="25" dirty="0">
                          <a:solidFill>
                            <a:schemeClr val="tx1"/>
                          </a:solidFill>
                          <a:effectLst/>
                          <a:latin typeface="Arial" panose="020B0604020202020204" pitchFamily="34" charset="0"/>
                          <a:cs typeface="Arial" panose="020B0604020202020204" pitchFamily="34" charset="0"/>
                        </a:rPr>
                        <a:t> NO FUNCIONALES</a:t>
                      </a:r>
                      <a:endParaRPr lang="es-BO" sz="1800" b="1" dirty="0">
                        <a:solidFill>
                          <a:schemeClr val="tx1"/>
                        </a:solidFill>
                        <a:effectLst/>
                        <a:latin typeface="Arial" panose="020B0604020202020204" pitchFamily="34" charset="0"/>
                        <a:ea typeface="Arial" panose="020B0604020202020204" pitchFamily="34" charset="0"/>
                        <a:cs typeface="Arial" panose="020B0604020202020204" pitchFamily="34" charset="0"/>
                      </a:endParaRPr>
                    </a:p>
                  </a:txBody>
                  <a:tcPr marL="42567" marR="42567" marT="0" marB="0" anchor="ctr"/>
                </a:tc>
                <a:extLst>
                  <a:ext uri="{0D108BD9-81ED-4DB2-BD59-A6C34878D82A}">
                    <a16:rowId xmlns:a16="http://schemas.microsoft.com/office/drawing/2014/main" val="10000"/>
                  </a:ext>
                </a:extLst>
              </a:tr>
              <a:tr h="3917371">
                <a:tc>
                  <a:txBody>
                    <a:bodyPr/>
                    <a:lstStyle/>
                    <a:p>
                      <a:pPr marL="342900" lvl="0" indent="-342900" algn="just">
                        <a:lnSpc>
                          <a:spcPct val="150000"/>
                        </a:lnSpc>
                        <a:spcBef>
                          <a:spcPts val="1200"/>
                        </a:spcBef>
                        <a:spcAft>
                          <a:spcPts val="0"/>
                        </a:spcAft>
                        <a:buFont typeface="Wingdings" panose="05000000000000000000" pitchFamily="2" charset="2"/>
                        <a:buChar char=""/>
                      </a:pPr>
                      <a:endParaRPr lang="es-BO" sz="1800" b="0" dirty="0">
                        <a:solidFill>
                          <a:schemeClr val="tx1"/>
                        </a:solidFill>
                        <a:effectLst/>
                        <a:latin typeface="Arial" panose="020B0604020202020204" pitchFamily="34" charset="0"/>
                        <a:cs typeface="Arial" panose="020B0604020202020204" pitchFamily="34" charset="0"/>
                      </a:endParaRPr>
                      <a:r>
                        <a:rPr lang="es-ES" sz="1600">
                          <a:solidFill>
                            <a:srgbClr val="212121"/>
                          </a:solidFill>
                        </a:rPr>
                        <a:t>Gestionar catálogo de sectores del parque</a:t>
                      </a:r>
                    </a:p>
                    <a:p>
                      <a:pPr marL="342900" lvl="0" indent="-342900" algn="just">
                        <a:lnSpc>
                          <a:spcPct val="150000"/>
                        </a:lnSpc>
                        <a:spcBef>
                          <a:spcPts val="1200"/>
                        </a:spcBef>
                        <a:spcAft>
                          <a:spcPts val="0"/>
                        </a:spcAft>
                        <a:buFont typeface="Wingdings" panose="05000000000000000000" pitchFamily="2" charset="2"/>
                        <a:buChar char=""/>
                      </a:pPr>
                      <a:endParaRPr lang="es-BO" sz="1800" b="0" dirty="0">
                        <a:solidFill>
                          <a:schemeClr val="tx1"/>
                        </a:solidFill>
                        <a:effectLst/>
                        <a:latin typeface="Arial" panose="020B0604020202020204" pitchFamily="34" charset="0"/>
                        <a:cs typeface="Arial" panose="020B0604020202020204" pitchFamily="34" charset="0"/>
                      </a:endParaRPr>
                      <a:r>
                        <a:rPr lang="es-ES" sz="1600">
                          <a:solidFill>
                            <a:srgbClr val="212121"/>
                          </a:solidFill>
                        </a:rPr>
                        <a:t>Gestionar 6 controladores BL-KR y 22 estaciones</a:t>
                      </a:r>
                    </a:p>
                    <a:p>
                      <a:pPr marL="342900" lvl="0" indent="-342900" algn="just">
                        <a:lnSpc>
                          <a:spcPct val="150000"/>
                        </a:lnSpc>
                        <a:spcBef>
                          <a:spcPts val="1200"/>
                        </a:spcBef>
                        <a:spcAft>
                          <a:spcPts val="0"/>
                        </a:spcAft>
                        <a:buFont typeface="Wingdings" panose="05000000000000000000" pitchFamily="2" charset="2"/>
                        <a:buChar char=""/>
                      </a:pPr>
                      <a:endParaRPr lang="es-BO" sz="1800" b="0" dirty="0">
                        <a:solidFill>
                          <a:schemeClr val="tx1"/>
                        </a:solidFill>
                        <a:effectLst/>
                        <a:latin typeface="Arial" panose="020B0604020202020204" pitchFamily="34" charset="0"/>
                        <a:cs typeface="Arial" panose="020B0604020202020204" pitchFamily="34" charset="0"/>
                      </a:endParaRPr>
                      <a:r>
                        <a:rPr lang="es-ES" sz="1600">
                          <a:solidFill>
                            <a:srgbClr val="212121"/>
                          </a:solidFill>
                        </a:rPr>
                        <a:t>Programar cronograma semanal por sector</a:t>
                      </a:r>
                    </a:p>
                    <a:p>
                      <a:pPr marL="342900" lvl="0" indent="-342900" algn="just">
                        <a:lnSpc>
                          <a:spcPct val="150000"/>
                        </a:lnSpc>
                        <a:spcBef>
                          <a:spcPts val="1200"/>
                        </a:spcBef>
                        <a:spcAft>
                          <a:spcPts val="0"/>
                        </a:spcAft>
                        <a:buFont typeface="Wingdings" panose="05000000000000000000" pitchFamily="2" charset="2"/>
                        <a:buChar char=""/>
                      </a:pPr>
                      <a:endParaRPr lang="es-BO" sz="1800" b="0" dirty="0">
                        <a:solidFill>
                          <a:schemeClr val="tx1"/>
                        </a:solidFill>
                        <a:effectLst/>
                        <a:latin typeface="Arial" panose="020B0604020202020204" pitchFamily="34" charset="0"/>
                        <a:cs typeface="Arial" panose="020B0604020202020204" pitchFamily="34" charset="0"/>
                      </a:endParaRPr>
                      <a:r>
                        <a:rPr lang="es-ES" sz="1600">
                          <a:solidFill>
                            <a:srgbClr val="212121"/>
                          </a:solidFill>
                        </a:rPr>
                        <a:t>Visualizar sector activo en tiempo real</a:t>
                      </a:r>
                    </a:p>
                    <a:p>
                      <a:pPr marL="342900" lvl="0" indent="-342900" algn="just">
                        <a:lnSpc>
                          <a:spcPct val="150000"/>
                        </a:lnSpc>
                        <a:spcBef>
                          <a:spcPts val="1200"/>
                        </a:spcBef>
                        <a:spcAft>
                          <a:spcPts val="0"/>
                        </a:spcAft>
                        <a:buFont typeface="Wingdings" panose="05000000000000000000" pitchFamily="2" charset="2"/>
                        <a:buChar char=""/>
                      </a:pPr>
                      <a:endParaRPr lang="es-BO" sz="1800" b="0" dirty="0">
                        <a:solidFill>
                          <a:schemeClr val="tx1"/>
                        </a:solidFill>
                        <a:effectLst/>
                        <a:latin typeface="Arial" panose="020B0604020202020204" pitchFamily="34" charset="0"/>
                        <a:cs typeface="Arial" panose="020B0604020202020204" pitchFamily="34" charset="0"/>
                      </a:endParaRPr>
                      <a:r>
                        <a:rPr lang="es-ES" sz="1600">
                          <a:solidFill>
                            <a:srgbClr val="212121"/>
                          </a:solidFill>
                        </a:rPr>
                        <a:t>Generar reportes simulados (diario, semanal, mensual)</a:t>
                      </a:r>
                    </a:p>
                    <a:p>
                      <a:pPr marL="342900" lvl="0" indent="-342900" algn="just">
                        <a:lnSpc>
                          <a:spcPct val="150000"/>
                        </a:lnSpc>
                        <a:spcBef>
                          <a:spcPts val="1200"/>
                        </a:spcBef>
                        <a:spcAft>
                          <a:spcPts val="0"/>
                        </a:spcAft>
                        <a:buFont typeface="Wingdings" panose="05000000000000000000" pitchFamily="2" charset="2"/>
                        <a:buChar char=""/>
                      </a:pPr>
                      <a:endParaRPr lang="es-BO" sz="1800" b="0" dirty="0">
                        <a:solidFill>
                          <a:schemeClr val="tx1"/>
                        </a:solidFill>
                        <a:effectLst/>
                        <a:latin typeface="Arial" panose="020B0604020202020204" pitchFamily="34" charset="0"/>
                        <a:cs typeface="Arial" panose="020B0604020202020204" pitchFamily="34" charset="0"/>
                      </a:endParaRPr>
                      <a:r>
                        <a:rPr lang="es-ES" sz="1600">
                          <a:solidFill>
                            <a:srgbClr val="212121"/>
                          </a:solidFill>
                        </a:rPr>
                        <a:t>Mostrar estadísticas por sector con consumo estimado</a:t>
                      </a:r>
                    </a:p>
                  </a:txBody>
                  <a:tcPr marL="42567" marR="42567" marT="0" marB="0"/>
                </a:tc>
                <a:tc>
                  <a:txBody>
                    <a:bodyPr/>
                    <a:lstStyle/>
                    <a:p>
                      <a:pPr marL="342900" lvl="0" indent="-342900" algn="just">
                        <a:lnSpc>
                          <a:spcPct val="150000"/>
                        </a:lnSpc>
                        <a:spcBef>
                          <a:spcPts val="1200"/>
                        </a:spcBef>
                        <a:spcAft>
                          <a:spcPts val="0"/>
                        </a:spcAft>
                        <a:buFont typeface="Wingdings" panose="05000000000000000000" pitchFamily="2" charset="2"/>
                        <a:buChar char=""/>
                      </a:pPr>
                      <a:endParaRPr lang="es-BO" sz="1500" dirty="0">
                        <a:effectLst/>
                        <a:latin typeface="Arial" panose="020B0604020202020204" pitchFamily="34" charset="0"/>
                        <a:cs typeface="Arial" panose="020B0604020202020204" pitchFamily="34" charset="0"/>
                      </a:endParaRPr>
                      <a:r>
                        <a:rPr lang="es-ES" sz="1600">
                          <a:solidFill>
                            <a:srgbClr val="212121"/>
                          </a:solidFill>
                        </a:rPr>
                        <a:t>Interfaz web responsiva (PC, tablet, móvil)</a:t>
                      </a:r>
                    </a:p>
                    <a:p>
                      <a:pPr marL="342900" lvl="0" indent="-342900" algn="just">
                        <a:lnSpc>
                          <a:spcPct val="150000"/>
                        </a:lnSpc>
                        <a:spcBef>
                          <a:spcPts val="1200"/>
                        </a:spcBef>
                        <a:spcAft>
                          <a:spcPts val="0"/>
                        </a:spcAft>
                        <a:buFont typeface="Wingdings" panose="05000000000000000000" pitchFamily="2" charset="2"/>
                        <a:buChar char=""/>
                      </a:pPr>
                      <a:endParaRPr lang="es-BO" sz="1500" dirty="0">
                        <a:effectLst/>
                        <a:latin typeface="Arial" panose="020B0604020202020204" pitchFamily="34" charset="0"/>
                        <a:cs typeface="Arial" panose="020B0604020202020204" pitchFamily="34" charset="0"/>
                      </a:endParaRPr>
                      <a:r>
                        <a:rPr lang="es-ES" sz="1600">
                          <a:solidFill>
                            <a:srgbClr val="212121"/>
                          </a:solidFill>
                        </a:rPr>
                        <a:t>Latencia de carga menor a 3 segundos</a:t>
                      </a:r>
                    </a:p>
                    <a:p>
                      <a:pPr marL="342900" lvl="0" indent="-342900" algn="just">
                        <a:lnSpc>
                          <a:spcPct val="150000"/>
                        </a:lnSpc>
                        <a:spcBef>
                          <a:spcPts val="1200"/>
                        </a:spcBef>
                        <a:spcAft>
                          <a:spcPts val="0"/>
                        </a:spcAft>
                        <a:buFont typeface="Wingdings" panose="05000000000000000000" pitchFamily="2" charset="2"/>
                        <a:buChar char=""/>
                      </a:pPr>
                      <a:endParaRPr lang="es-BO" sz="1500" dirty="0">
                        <a:effectLst/>
                        <a:latin typeface="Arial" panose="020B0604020202020204" pitchFamily="34" charset="0"/>
                        <a:cs typeface="Arial" panose="020B0604020202020204" pitchFamily="34" charset="0"/>
                      </a:endParaRPr>
                      <a:r>
                        <a:rPr lang="es-ES" sz="1600">
                          <a:solidFill>
                            <a:srgbClr val="212121"/>
                          </a:solidFill>
                        </a:rPr>
                        <a:t>Stack React + TypeScript + Vite</a:t>
                      </a:r>
                    </a:p>
                    <a:p>
                      <a:pPr marL="342900" lvl="0" indent="-342900" algn="just">
                        <a:lnSpc>
                          <a:spcPct val="150000"/>
                        </a:lnSpc>
                        <a:spcBef>
                          <a:spcPts val="1200"/>
                        </a:spcBef>
                        <a:spcAft>
                          <a:spcPts val="0"/>
                        </a:spcAft>
                        <a:buFont typeface="Wingdings" panose="05000000000000000000" pitchFamily="2" charset="2"/>
                        <a:buChar char=""/>
                      </a:pPr>
                      <a:endParaRPr lang="es-BO" sz="1500" dirty="0">
                        <a:effectLst/>
                        <a:latin typeface="Arial" panose="020B0604020202020204" pitchFamily="34" charset="0"/>
                        <a:cs typeface="Arial" panose="020B0604020202020204" pitchFamily="34" charset="0"/>
                      </a:endParaRPr>
                      <a:r>
                        <a:rPr lang="es-ES" sz="1600">
                          <a:solidFill>
                            <a:srgbClr val="212121"/>
                          </a:solidFill>
                        </a:rPr>
                        <a:t>Base de datos PostgreSQL en Supabase (nube)</a:t>
                      </a:r>
                    </a:p>
                    <a:p>
                      <a:pPr marL="342900" lvl="0" indent="-342900" algn="just">
                        <a:lnSpc>
                          <a:spcPct val="150000"/>
                        </a:lnSpc>
                        <a:spcBef>
                          <a:spcPts val="1200"/>
                        </a:spcBef>
                        <a:spcAft>
                          <a:spcPts val="0"/>
                        </a:spcAft>
                        <a:buFont typeface="Wingdings" panose="05000000000000000000" pitchFamily="2" charset="2"/>
                        <a:buChar char=""/>
                      </a:pPr>
                      <a:endParaRPr lang="es-BO" sz="1500" dirty="0">
                        <a:effectLst/>
                        <a:latin typeface="Arial" panose="020B0604020202020204" pitchFamily="34" charset="0"/>
                        <a:cs typeface="Arial" panose="020B0604020202020204" pitchFamily="34" charset="0"/>
                      </a:endParaRPr>
                      <a:r>
                        <a:rPr lang="es-ES" sz="1600">
                          <a:solidFill>
                            <a:srgbClr val="212121"/>
                          </a:solidFill>
                        </a:rPr>
                        <a:t>Cumplimiento de la Norma Boliviana NB 777</a:t>
                      </a:r>
                    </a:p>
                    <a:p>
                      <a:pPr marL="342900" lvl="0" indent="-342900" algn="just">
                        <a:lnSpc>
                          <a:spcPct val="150000"/>
                        </a:lnSpc>
                        <a:spcBef>
                          <a:spcPts val="1200"/>
                        </a:spcBef>
                        <a:spcAft>
                          <a:spcPts val="0"/>
                        </a:spcAft>
                        <a:buFont typeface="Wingdings" panose="05000000000000000000" pitchFamily="2" charset="2"/>
                        <a:buChar char=""/>
                      </a:pPr>
                      <a:endParaRPr lang="es-BO" sz="1500" dirty="0">
                        <a:effectLst/>
                        <a:latin typeface="Arial" panose="020B0604020202020204" pitchFamily="34" charset="0"/>
                        <a:cs typeface="Arial" panose="020B0604020202020204" pitchFamily="34" charset="0"/>
                      </a:endParaRPr>
                      <a:r>
                        <a:rPr lang="es-ES" sz="1600">
                          <a:solidFill>
                            <a:srgbClr val="212121"/>
                          </a:solidFill>
                        </a:rPr>
                        <a:t>Cable 20 AWG sin caída de tensión hasta 30 metros</a:t>
                      </a:r>
                    </a:p>
                  </a:txBody>
                  <a:tcPr marL="42567" marR="42567" marT="0" marB="0"/>
                </a:tc>
                <a:extLst>
                  <a:ext uri="{0D108BD9-81ED-4DB2-BD59-A6C34878D82A}">
                    <a16:rowId xmlns:a16="http://schemas.microsoft.com/office/drawing/2014/main" val="10001"/>
                  </a:ext>
                </a:extLst>
              </a:tr>
            </a:tbl>
          </a:graphicData>
        </a:graphic>
      </p:graphicFrame>
      <p:pic>
        <p:nvPicPr>
          <p:cNvPr id="7" name="Imagen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Tree>
    <p:extLst>
      <p:ext uri="{BB962C8B-B14F-4D97-AF65-F5344CB8AC3E}">
        <p14:creationId xmlns:p14="http://schemas.microsoft.com/office/powerpoint/2010/main" val="8292566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40980"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METODOLOGÍA DE DESARROLLO RÁPIDO (DRA / RAD)</a:t>
            </a:r>
          </a:p>
        </p:txBody>
      </p:sp>
      <p:pic>
        <p:nvPicPr>
          <p:cNvPr id="7" name="Imagen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
        <p:nvSpPr>
          <p:cNvPr id="6" name="Rectángulo 5"/>
          <p:cNvSpPr/>
          <p:nvPr/>
        </p:nvSpPr>
        <p:spPr>
          <a:xfrm>
            <a:off x="548640" y="2194560"/>
            <a:ext cx="11064240" cy="438912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just">
              <a:lnSpc>
                <a:spcPct val="150000"/>
              </a:lnSpc>
            </a:pPr>
            <a:r>
              <a:rPr lang="es-BO" sz="2400" dirty="0">
                <a:latin typeface="Arial" panose="020B0604020202020204" pitchFamily="34" charset="0"/>
                <a:cs typeface="Arial" panose="020B0604020202020204" pitchFamily="34" charset="0"/>
              </a:rPr>
              <a:t>El Desarrollo Rápido de Aplicaciones (DRA), propuesto por James Martin en 1991, es una metodología orientada a la entrega iterativa de prototipos funcionales en ciclos cortos. Comprende cuatro fases: Planificación de Requisitos, Diseño del Usuario, Construcción y Transición.</a:t>
            </a:r>
          </a:p>
          <a:p>
            <a:pPr marL="342900" indent="-342900" algn="just">
              <a:lnSpc>
                <a:spcPct val="150000"/>
              </a:lnSpc>
              <a:buFont typeface="Wingdings" panose="05000000000000000000" pitchFamily="2" charset="2"/>
              <a:buChar char="Ø"/>
            </a:pPr>
            <a:r>
              <a:rPr lang="es-MX" sz="2400" dirty="0">
                <a:latin typeface="Arial" panose="020B0604020202020204" pitchFamily="34" charset="0"/>
                <a:cs typeface="Arial" panose="020B0604020202020204" pitchFamily="34" charset="0"/>
              </a:rPr>
              <a:t>Permite obtener un producto operativo desde las primeras iteraciones, con retroalimentación directa del usuario final.</a:t>
            </a:r>
          </a:p>
          <a:p>
            <a:pPr marL="342900" indent="-342900" algn="just">
              <a:lnSpc>
                <a:spcPct val="150000"/>
              </a:lnSpc>
              <a:buFont typeface="Wingdings" panose="05000000000000000000" pitchFamily="2" charset="2"/>
              <a:buChar char="Ø"/>
            </a:pPr>
            <a:r>
              <a:rPr lang="es-MX" sz="2400" dirty="0">
                <a:latin typeface="Arial" panose="020B0604020202020204" pitchFamily="34" charset="0"/>
                <a:cs typeface="Arial" panose="020B0604020202020204" pitchFamily="34" charset="0"/>
              </a:rPr>
              <a:t>En SARQUE se aplicó para el desarrollo de la plataforma web, combinándola con metodología Top-Down para el diseño del sistema hidráulico-eléctrico en campo.</a:t>
            </a:r>
          </a:p>
        </p:txBody>
      </p:sp>
    </p:spTree>
    <p:extLst>
      <p:ext uri="{BB962C8B-B14F-4D97-AF65-F5344CB8AC3E}">
        <p14:creationId xmlns:p14="http://schemas.microsoft.com/office/powerpoint/2010/main" val="30065281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40980"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LENGUAJE UNIFICADO DE MODELADO (UML)</a:t>
            </a:r>
          </a:p>
        </p:txBody>
      </p:sp>
      <p:pic>
        <p:nvPicPr>
          <p:cNvPr id="7" name="Imagen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
        <p:nvSpPr>
          <p:cNvPr id="3" name="Rectángulo 2"/>
          <p:cNvSpPr/>
          <p:nvPr/>
        </p:nvSpPr>
        <p:spPr>
          <a:xfrm>
            <a:off x="548640" y="2286000"/>
            <a:ext cx="11064240" cy="41148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just">
              <a:lnSpc>
                <a:spcPct val="150000"/>
              </a:lnSpc>
            </a:pPr>
            <a:r>
              <a:rPr lang="es-MX" sz="2400" dirty="0">
                <a:latin typeface="Arial" panose="020B0604020202020204" pitchFamily="34" charset="0"/>
                <a:cs typeface="Arial" panose="020B0604020202020204" pitchFamily="34" charset="0"/>
              </a:rPr>
              <a:t>El </a:t>
            </a:r>
            <a:r>
              <a:rPr lang="es-BO" sz="2400" dirty="0">
                <a:latin typeface="Arial" panose="020B0604020202020204" pitchFamily="34" charset="0"/>
                <a:cs typeface="Arial" panose="020B0604020202020204" pitchFamily="34" charset="0"/>
              </a:rPr>
              <a:t>Lenguaje Unificado de Modelado (UML) es un lenguaje visual estándar para especificar, construir y documentar los artefactos de los sistemas de software. En SARQUE se utilizó para los diagramas de Casos de Uso, Componentes y Modelo Entidad-Relación de la base de datos.</a:t>
            </a:r>
            <a:r>
              <a:rPr lang="es-MX" sz="2400" dirty="0">
                <a:latin typeface="Arial" panose="020B0604020202020204" pitchFamily="34" charset="0"/>
                <a:cs typeface="Arial" panose="020B0604020202020204" pitchFamily="34" charset="0"/>
              </a:rPr>
              <a:t> UML facilita la comunicación entre desarrolladores y usuarios finales no técnicos.</a:t>
            </a:r>
            <a:endParaRPr lang="es-BO"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48403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53859"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DESCRIPCIÓN DE ACTORES</a:t>
            </a:r>
          </a:p>
        </p:txBody>
      </p:sp>
      <p:sp>
        <p:nvSpPr>
          <p:cNvPr id="5" name="CuadroTexto 4"/>
          <p:cNvSpPr txBox="1"/>
          <p:nvPr/>
        </p:nvSpPr>
        <p:spPr>
          <a:xfrm>
            <a:off x="548640" y="2103120"/>
            <a:ext cx="11064240" cy="1828800"/>
          </a:xfrm>
          <a:prstGeom prst="rect">
            <a:avLst/>
          </a:prstGeom>
          <a:noFill/>
        </p:spPr>
        <p:txBody>
          <a:bodyPr wrap="square" rtlCol="0">
            <a:spAutoFit/>
          </a:bodyPr>
          <a:lstStyle/>
          <a:p>
            <a:pPr algn="just"/>
            <a:r>
              <a:rPr lang="es-MX" dirty="0" sz="1300">
                <a:latin typeface="Arial" panose="020B0604020202020204" pitchFamily="34" charset="0"/>
                <a:cs typeface="Arial" panose="020B0604020202020204" pitchFamily="34" charset="0"/>
              </a:rPr>
              <a:t>Administrador: Es la máxima autoridad del sistema. En SARQUE corresponde a la propietaria del Parque Quinta Estación, Sra. Eliana Soria Yapur. Tiene acceso completo a la plataforma web para: gestionar el catálogo de sectores, registrar los 6 controladores BL-KR, definir y modificar el cronograma semanal, y consultar todos los reportes simulados de consumo hídrico. También es responsable de programar los controladores BL-KR físicos mediante la app móvil K-RainBL.</a:t>
            </a:r>
            <a:endParaRPr lang="es-BO" dirty="0"/>
          </a:p>
        </p:txBody>
      </p:sp>
      <p:pic>
        <p:nvPicPr>
          <p:cNvPr id="10" name="Imagen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12" name="Imagen 1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graphicFrame>
        <p:nvGraphicFramePr>
          <p:cNvPr id="17" name="Tabla 16"/>
          <p:cNvGraphicFramePr>
            <a:graphicFrameLocks noGrp="1"/>
          </p:cNvGraphicFramePr>
          <p:nvPr>
            <p:extLst>
              <p:ext uri="{D42A27DB-BD31-4B8C-83A1-F6EECF244321}">
                <p14:modId xmlns:p14="http://schemas.microsoft.com/office/powerpoint/2010/main" val="2186343548"/>
              </p:ext>
            </p:extLst>
          </p:nvPr>
        </p:nvGraphicFramePr>
        <p:xfrm>
          <a:off x="2286000" y="4114800"/>
          <a:ext cx="7589520" cy="2468880"/>
        </p:xfrm>
        <a:graphic>
          <a:graphicData uri="http://schemas.openxmlformats.org/drawingml/2006/table">
            <a:tbl>
              <a:tblPr firstRow="1" firstCol="1" bandRow="1">
                <a:tableStyleId>{93296810-A885-4BE3-A3E7-6D5BEEA58F35}</a:tableStyleId>
              </a:tblPr>
              <a:tblGrid>
                <a:gridCol w="1682879">
                  <a:extLst>
                    <a:ext uri="{9D8B030D-6E8A-4147-A177-3AD203B41FA5}">
                      <a16:colId xmlns:a16="http://schemas.microsoft.com/office/drawing/2014/main" val="20000"/>
                    </a:ext>
                  </a:extLst>
                </a:gridCol>
                <a:gridCol w="5617045">
                  <a:extLst>
                    <a:ext uri="{9D8B030D-6E8A-4147-A177-3AD203B41FA5}">
                      <a16:colId xmlns:a16="http://schemas.microsoft.com/office/drawing/2014/main" val="20001"/>
                    </a:ext>
                  </a:extLst>
                </a:gridCol>
              </a:tblGrid>
              <a:tr h="247414">
                <a:tc>
                  <a:txBody>
                    <a:bodyPr/>
                    <a:lstStyle/>
                    <a:p>
                      <a:pPr algn="ctr">
                        <a:lnSpc>
                          <a:spcPct val="107000"/>
                        </a:lnSpc>
                        <a:spcAft>
                          <a:spcPts val="0"/>
                        </a:spcAft>
                      </a:pPr>
                      <a:r>
                        <a:rPr lang="es-ES" sz="1400" dirty="0">
                          <a:effectLst/>
                          <a:latin typeface="Arial" panose="020B0604020202020204" pitchFamily="34" charset="0"/>
                          <a:cs typeface="Arial" panose="020B0604020202020204" pitchFamily="34" charset="0"/>
                        </a:rPr>
                        <a:t>ACTOR</a:t>
                      </a:r>
                      <a:endParaRPr lang="es-BO" sz="12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07000"/>
                        </a:lnSpc>
                        <a:spcAft>
                          <a:spcPts val="0"/>
                        </a:spcAft>
                      </a:pPr>
                      <a:r>
                        <a:rPr lang="es-ES" sz="1400" dirty="0">
                          <a:effectLst/>
                          <a:latin typeface="Arial" panose="020B0604020202020204" pitchFamily="34" charset="0"/>
                          <a:cs typeface="Arial" panose="020B0604020202020204" pitchFamily="34" charset="0"/>
                        </a:rPr>
                        <a:t>Administrador (Propietaria)</a:t>
                      </a:r>
                      <a:endParaRPr lang="es-BO" sz="12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000"/>
                  </a:ext>
                </a:extLst>
              </a:tr>
              <a:tr h="2793183">
                <a:tc>
                  <a:txBody>
                    <a:bodyPr/>
                    <a:lstStyle/>
                    <a:p>
                      <a:pPr algn="ctr">
                        <a:lnSpc>
                          <a:spcPct val="107000"/>
                        </a:lnSpc>
                        <a:spcAft>
                          <a:spcPts val="0"/>
                        </a:spcAft>
                      </a:pPr>
                      <a:r>
                        <a:rPr lang="es-ES" sz="1600">
                          <a:effectLst/>
                          <a:latin typeface="Arial" panose="020B0604020202020204" pitchFamily="34" charset="0"/>
                          <a:cs typeface="Arial" panose="020B0604020202020204" pitchFamily="34" charset="0"/>
                        </a:rPr>
                        <a:t>CASO DE USO</a:t>
                      </a:r>
                      <a:endParaRPr lang="es-BO" sz="140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7000"/>
                        </a:lnSpc>
                        <a:spcAft>
                          <a:spcPts val="0"/>
                        </a:spcAft>
                      </a:pPr>
                      <a:r>
                        <a:rPr lang="es-ES" sz="1600" dirty="0">
                          <a:effectLst/>
                          <a:latin typeface="Arial" panose="020B0604020202020204" pitchFamily="34" charset="0"/>
                          <a:cs typeface="Arial" panose="020B0604020202020204" pitchFamily="34" charset="0"/>
                        </a:rPr>
                        <a:t>Gestionar catálogo de sectores</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pPr>
                      <a:r>
                        <a:rPr lang="es-ES" sz="1600" dirty="0">
                          <a:effectLst/>
                          <a:latin typeface="Arial" panose="020B0604020202020204" pitchFamily="34" charset="0"/>
                          <a:cs typeface="Arial" panose="020B0604020202020204" pitchFamily="34" charset="0"/>
                        </a:rPr>
                        <a:t> </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pPr>
                      <a:r>
                        <a:rPr lang="es-ES" sz="1600" dirty="0">
                          <a:effectLst/>
                          <a:latin typeface="Arial" panose="020B0604020202020204" pitchFamily="34" charset="0"/>
                          <a:cs typeface="Arial" panose="020B0604020202020204" pitchFamily="34" charset="0"/>
                        </a:rPr>
                        <a:t>Gestionar 6 controladores BL-KR</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pPr>
                      <a:r>
                        <a:rPr lang="es-ES" sz="1600" dirty="0">
                          <a:effectLst/>
                          <a:latin typeface="Arial" panose="020B0604020202020204" pitchFamily="34" charset="0"/>
                          <a:cs typeface="Arial" panose="020B0604020202020204" pitchFamily="34" charset="0"/>
                        </a:rPr>
                        <a:t> </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pPr>
                      <a:r>
                        <a:rPr lang="es-ES" sz="1600" dirty="0">
                          <a:effectLst/>
                          <a:latin typeface="Arial" panose="020B0604020202020204" pitchFamily="34" charset="0"/>
                          <a:cs typeface="Arial" panose="020B0604020202020204" pitchFamily="34" charset="0"/>
                        </a:rPr>
                        <a:t>Definir cronograma semanal</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pPr>
                      <a:r>
                        <a:rPr lang="es-ES" sz="1600" dirty="0">
                          <a:effectLst/>
                          <a:latin typeface="Arial" panose="020B0604020202020204" pitchFamily="34" charset="0"/>
                          <a:cs typeface="Arial" panose="020B0604020202020204" pitchFamily="34" charset="0"/>
                        </a:rPr>
                        <a:t> </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pPr>
                      <a:r>
                        <a:rPr lang="es-ES" sz="1600" dirty="0">
                          <a:effectLst/>
                          <a:latin typeface="Arial" panose="020B0604020202020204" pitchFamily="34" charset="0"/>
                          <a:cs typeface="Arial" panose="020B0604020202020204" pitchFamily="34" charset="0"/>
                        </a:rPr>
                        <a:t>Visualizar sector activo en tiempo real</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tabLst>
                          <a:tab pos="1243965" algn="l"/>
                        </a:tabLst>
                      </a:pPr>
                      <a:r>
                        <a:rPr lang="es-ES" sz="1600" dirty="0">
                          <a:effectLst/>
                          <a:latin typeface="Arial" panose="020B0604020202020204" pitchFamily="34" charset="0"/>
                          <a:cs typeface="Arial" panose="020B0604020202020204" pitchFamily="34" charset="0"/>
                        </a:rPr>
                        <a:t>	</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pPr>
                      <a:r>
                        <a:rPr lang="es-ES" sz="1600" dirty="0">
                          <a:effectLst/>
                          <a:latin typeface="Arial" panose="020B0604020202020204" pitchFamily="34" charset="0"/>
                          <a:cs typeface="Arial" panose="020B0604020202020204" pitchFamily="34" charset="0"/>
                        </a:rPr>
                        <a:t>Consultar reportes simulados</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pPr>
                      <a:r>
                        <a:rPr lang="es-ES" sz="1600" dirty="0">
                          <a:effectLst/>
                          <a:latin typeface="Arial" panose="020B0604020202020204" pitchFamily="34" charset="0"/>
                          <a:cs typeface="Arial" panose="020B0604020202020204" pitchFamily="34" charset="0"/>
                        </a:rPr>
                        <a:t> </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pPr>
                      <a:r>
                        <a:rPr lang="es-ES" sz="1600" dirty="0">
                          <a:effectLst/>
                          <a:latin typeface="Arial" panose="020B0604020202020204" pitchFamily="34" charset="0"/>
                          <a:cs typeface="Arial" panose="020B0604020202020204" pitchFamily="34" charset="0"/>
                        </a:rPr>
                        <a:t>Programar BL-KR vía app K-RainBL</a:t>
                      </a:r>
                      <a:endParaRPr lang="es-BO" sz="14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001"/>
                  </a:ext>
                </a:extLst>
              </a:tr>
              <a:tr h="258669">
                <a:tc>
                  <a:txBody>
                    <a:bodyPr/>
                    <a:lstStyle/>
                    <a:p>
                      <a:pPr algn="ctr">
                        <a:lnSpc>
                          <a:spcPct val="107000"/>
                        </a:lnSpc>
                        <a:spcAft>
                          <a:spcPts val="0"/>
                        </a:spcAft>
                      </a:pPr>
                      <a:r>
                        <a:rPr lang="es-ES" sz="1600" dirty="0">
                          <a:effectLst/>
                          <a:latin typeface="Arial" panose="020B0604020202020204" pitchFamily="34" charset="0"/>
                          <a:cs typeface="Arial" panose="020B0604020202020204" pitchFamily="34" charset="0"/>
                        </a:rPr>
                        <a:t>TIPO</a:t>
                      </a:r>
                      <a:endParaRPr lang="es-BO" sz="14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7000"/>
                        </a:lnSpc>
                        <a:spcAft>
                          <a:spcPts val="0"/>
                        </a:spcAft>
                      </a:pPr>
                      <a:r>
                        <a:rPr lang="es-ES" sz="1600" dirty="0">
                          <a:effectLst/>
                          <a:latin typeface="Arial" panose="020B0604020202020204" pitchFamily="34" charset="0"/>
                          <a:cs typeface="Arial" panose="020B0604020202020204" pitchFamily="34" charset="0"/>
                        </a:rPr>
                        <a:t>Primario</a:t>
                      </a:r>
                      <a:endParaRPr lang="es-BO" sz="14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002"/>
                  </a:ext>
                </a:extLst>
              </a:tr>
              <a:tr h="506253">
                <a:tc>
                  <a:txBody>
                    <a:bodyPr/>
                    <a:lstStyle/>
                    <a:p>
                      <a:pPr algn="ctr">
                        <a:lnSpc>
                          <a:spcPct val="107000"/>
                        </a:lnSpc>
                        <a:spcAft>
                          <a:spcPts val="0"/>
                        </a:spcAft>
                      </a:pPr>
                      <a:r>
                        <a:rPr lang="es-ES" sz="1600">
                          <a:effectLst/>
                          <a:latin typeface="Arial" panose="020B0604020202020204" pitchFamily="34" charset="0"/>
                          <a:cs typeface="Arial" panose="020B0604020202020204" pitchFamily="34" charset="0"/>
                        </a:rPr>
                        <a:t>DESCRIPCIÓN</a:t>
                      </a:r>
                      <a:endParaRPr lang="es-BO" sz="140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07000"/>
                        </a:lnSpc>
                        <a:spcAft>
                          <a:spcPts val="0"/>
                        </a:spcAft>
                      </a:pPr>
                      <a:r>
                        <a:rPr lang="es-ES" sz="1600" dirty="0">
                          <a:effectLst/>
                          <a:latin typeface="Arial" panose="020B0604020202020204" pitchFamily="34" charset="0"/>
                          <a:cs typeface="Arial" panose="020B0604020202020204" pitchFamily="34" charset="0"/>
                        </a:rPr>
                        <a:t>Actor primario. Es la propietaria del parque</a:t>
                      </a:r>
                      <a:endParaRPr lang="es-BO" sz="1400" dirty="0">
                        <a:effectLst/>
                        <a:latin typeface="Arial" panose="020B0604020202020204" pitchFamily="34" charset="0"/>
                        <a:cs typeface="Arial" panose="020B0604020202020204" pitchFamily="34" charset="0"/>
                      </a:endParaRPr>
                    </a:p>
                    <a:p>
                      <a:pPr algn="l">
                        <a:lnSpc>
                          <a:spcPct val="107000"/>
                        </a:lnSpc>
                        <a:spcAft>
                          <a:spcPts val="0"/>
                        </a:spcAft>
                      </a:pPr>
                      <a:r>
                        <a:rPr lang="es-ES" sz="1600" dirty="0">
                          <a:effectLst/>
                          <a:latin typeface="Arial" panose="020B0604020202020204" pitchFamily="34" charset="0"/>
                          <a:cs typeface="Arial" panose="020B0604020202020204" pitchFamily="34" charset="0"/>
                        </a:rPr>
                        <a:t>que dirige y administra el sistema completo.</a:t>
                      </a:r>
                      <a:endParaRPr lang="es-BO" sz="14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0160476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53859"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DESCRIPCIÓN DE ACTORES</a:t>
            </a:r>
          </a:p>
        </p:txBody>
      </p:sp>
      <p:sp>
        <p:nvSpPr>
          <p:cNvPr id="5" name="CuadroTexto 4"/>
          <p:cNvSpPr txBox="1"/>
          <p:nvPr/>
        </p:nvSpPr>
        <p:spPr>
          <a:xfrm>
            <a:off x="548640" y="2103120"/>
            <a:ext cx="11064240" cy="1828800"/>
          </a:xfrm>
          <a:prstGeom prst="rect">
            <a:avLst/>
          </a:prstGeom>
          <a:noFill/>
        </p:spPr>
        <p:txBody>
          <a:bodyPr wrap="square" rtlCol="0">
            <a:spAutoFit/>
          </a:bodyPr>
          <a:lstStyle/>
          <a:p>
            <a:pPr algn="just"/>
            <a:r>
              <a:rPr lang="es-MX" dirty="0" sz="1300">
                <a:latin typeface="Arial" panose="020B0604020202020204" pitchFamily="34" charset="0"/>
                <a:cs typeface="Arial" panose="020B0604020202020204" pitchFamily="34" charset="0"/>
              </a:rPr>
              <a:t>Operador (Jardinero): Es el actor con acceso limitado al sistema. En SARQUE corresponde a los 6 jardineros que trabajan en el parque. Pueden consultar el cronograma de riego, visualizar qué sector está siendo regado en el momento y ver los reportes, pero no tienen permisos para modificar la programación. Su rol es principalmente operativo: verificar el estado de las electroválvulas, atender mantenimientos puntuales y reportar incidencias.</a:t>
            </a:r>
            <a:endParaRPr lang="es-BO" dirty="0"/>
          </a:p>
        </p:txBody>
      </p:sp>
      <p:pic>
        <p:nvPicPr>
          <p:cNvPr id="10" name="Imagen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12" name="Imagen 1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graphicFrame>
        <p:nvGraphicFramePr>
          <p:cNvPr id="6" name="Tabla 5"/>
          <p:cNvGraphicFramePr>
            <a:graphicFrameLocks noGrp="1"/>
          </p:cNvGraphicFramePr>
          <p:nvPr>
            <p:extLst>
              <p:ext uri="{D42A27DB-BD31-4B8C-83A1-F6EECF244321}">
                <p14:modId xmlns:p14="http://schemas.microsoft.com/office/powerpoint/2010/main" val="1027675505"/>
              </p:ext>
            </p:extLst>
          </p:nvPr>
        </p:nvGraphicFramePr>
        <p:xfrm>
          <a:off x="2286000" y="4114800"/>
          <a:ext cx="7589520" cy="2468880"/>
        </p:xfrm>
        <a:graphic>
          <a:graphicData uri="http://schemas.openxmlformats.org/drawingml/2006/table">
            <a:tbl>
              <a:tblPr firstRow="1" firstCol="1" bandRow="1">
                <a:tableStyleId>{93296810-A885-4BE3-A3E7-6D5BEEA58F35}</a:tableStyleId>
              </a:tblPr>
              <a:tblGrid>
                <a:gridCol w="1808043">
                  <a:extLst>
                    <a:ext uri="{9D8B030D-6E8A-4147-A177-3AD203B41FA5}">
                      <a16:colId xmlns:a16="http://schemas.microsoft.com/office/drawing/2014/main" val="20000"/>
                    </a:ext>
                  </a:extLst>
                </a:gridCol>
                <a:gridCol w="5759234">
                  <a:extLst>
                    <a:ext uri="{9D8B030D-6E8A-4147-A177-3AD203B41FA5}">
                      <a16:colId xmlns:a16="http://schemas.microsoft.com/office/drawing/2014/main" val="20001"/>
                    </a:ext>
                  </a:extLst>
                </a:gridCol>
              </a:tblGrid>
              <a:tr h="294471">
                <a:tc>
                  <a:txBody>
                    <a:bodyPr/>
                    <a:lstStyle/>
                    <a:p>
                      <a:pPr algn="ctr">
                        <a:lnSpc>
                          <a:spcPct val="107000"/>
                        </a:lnSpc>
                        <a:spcAft>
                          <a:spcPts val="0"/>
                        </a:spcAft>
                      </a:pPr>
                      <a:r>
                        <a:rPr lang="es-ES" sz="1800" dirty="0">
                          <a:effectLst/>
                          <a:latin typeface="Arial" panose="020B0604020202020204" pitchFamily="34" charset="0"/>
                          <a:cs typeface="Arial" panose="020B0604020202020204" pitchFamily="34" charset="0"/>
                        </a:rPr>
                        <a:t>ACTOR</a:t>
                      </a:r>
                      <a:endParaRPr lang="es-BO" sz="18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es-ES" sz="1800" dirty="0">
                          <a:effectLst/>
                          <a:latin typeface="Arial" panose="020B0604020202020204" pitchFamily="34" charset="0"/>
                          <a:cs typeface="Arial" panose="020B0604020202020204" pitchFamily="34" charset="0"/>
                        </a:rPr>
                        <a:t>Operador (Jardinero)</a:t>
                      </a:r>
                      <a:endParaRPr lang="es-BO" sz="18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000"/>
                  </a:ext>
                </a:extLst>
              </a:tr>
              <a:tr h="1564394">
                <a:tc>
                  <a:txBody>
                    <a:bodyPr/>
                    <a:lstStyle/>
                    <a:p>
                      <a:pPr algn="ctr">
                        <a:lnSpc>
                          <a:spcPct val="107000"/>
                        </a:lnSpc>
                        <a:spcAft>
                          <a:spcPts val="0"/>
                        </a:spcAft>
                      </a:pPr>
                      <a:r>
                        <a:rPr lang="es-ES" sz="1800">
                          <a:effectLst/>
                          <a:latin typeface="Arial" panose="020B0604020202020204" pitchFamily="34" charset="0"/>
                          <a:cs typeface="Arial" panose="020B0604020202020204" pitchFamily="34" charset="0"/>
                        </a:rPr>
                        <a:t>CASO DE USO</a:t>
                      </a:r>
                      <a:endParaRPr lang="es-BO" sz="180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07000"/>
                        </a:lnSpc>
                        <a:spcAft>
                          <a:spcPts val="0"/>
                        </a:spcAft>
                      </a:pPr>
                      <a:r>
                        <a:rPr lang="es-ES" sz="1800" dirty="0">
                          <a:effectLst/>
                          <a:latin typeface="Arial" panose="020B0604020202020204" pitchFamily="34" charset="0"/>
                          <a:cs typeface="Arial" panose="020B0604020202020204" pitchFamily="34" charset="0"/>
                        </a:rPr>
                        <a:t> </a:t>
                      </a:r>
                      <a:endParaRPr lang="es-BO" sz="1800" dirty="0">
                        <a:effectLst/>
                        <a:latin typeface="Arial" panose="020B0604020202020204" pitchFamily="34" charset="0"/>
                        <a:cs typeface="Arial" panose="020B0604020202020204" pitchFamily="34" charset="0"/>
                      </a:endParaRPr>
                    </a:p>
                    <a:p>
                      <a:pPr algn="just">
                        <a:lnSpc>
                          <a:spcPct val="107000"/>
                        </a:lnSpc>
                        <a:spcAft>
                          <a:spcPts val="0"/>
                        </a:spcAft>
                      </a:pPr>
                      <a:r>
                        <a:rPr lang="es-ES" sz="1800" dirty="0">
                          <a:effectLst/>
                          <a:latin typeface="Arial" panose="020B0604020202020204" pitchFamily="34" charset="0"/>
                          <a:cs typeface="Arial" panose="020B0604020202020204" pitchFamily="34" charset="0"/>
                        </a:rPr>
                        <a:t>Consultar cronograma semanal</a:t>
                      </a:r>
                      <a:endParaRPr lang="es-BO" sz="1800" dirty="0">
                        <a:effectLst/>
                        <a:latin typeface="Arial" panose="020B0604020202020204" pitchFamily="34" charset="0"/>
                        <a:cs typeface="Arial" panose="020B0604020202020204" pitchFamily="34" charset="0"/>
                      </a:endParaRPr>
                    </a:p>
                    <a:p>
                      <a:pPr algn="just">
                        <a:lnSpc>
                          <a:spcPct val="107000"/>
                        </a:lnSpc>
                        <a:spcAft>
                          <a:spcPts val="0"/>
                        </a:spcAft>
                        <a:tabLst>
                          <a:tab pos="1243965" algn="l"/>
                        </a:tabLst>
                      </a:pPr>
                      <a:r>
                        <a:rPr lang="es-ES" sz="1800" dirty="0">
                          <a:effectLst/>
                          <a:latin typeface="Arial" panose="020B0604020202020204" pitchFamily="34" charset="0"/>
                          <a:cs typeface="Arial" panose="020B0604020202020204" pitchFamily="34" charset="0"/>
                        </a:rPr>
                        <a:t>	</a:t>
                      </a:r>
                      <a:endParaRPr lang="es-BO" sz="1800" dirty="0">
                        <a:effectLst/>
                        <a:latin typeface="Arial" panose="020B0604020202020204" pitchFamily="34" charset="0"/>
                        <a:cs typeface="Arial" panose="020B0604020202020204" pitchFamily="34" charset="0"/>
                      </a:endParaRPr>
                    </a:p>
                    <a:p>
                      <a:pPr algn="just">
                        <a:lnSpc>
                          <a:spcPct val="107000"/>
                        </a:lnSpc>
                        <a:spcAft>
                          <a:spcPts val="0"/>
                        </a:spcAft>
                      </a:pPr>
                      <a:r>
                        <a:rPr lang="es-ES" sz="1800" dirty="0">
                          <a:effectLst/>
                          <a:latin typeface="Arial" panose="020B0604020202020204" pitchFamily="34" charset="0"/>
                          <a:cs typeface="Arial" panose="020B0604020202020204" pitchFamily="34" charset="0"/>
                        </a:rPr>
                        <a:t>Visualizar sector activo y reportes</a:t>
                      </a:r>
                      <a:endParaRPr lang="es-BO" sz="1800" dirty="0">
                        <a:effectLst/>
                        <a:latin typeface="Arial" panose="020B0604020202020204" pitchFamily="34" charset="0"/>
                        <a:cs typeface="Arial" panose="020B0604020202020204" pitchFamily="34" charset="0"/>
                      </a:endParaRPr>
                    </a:p>
                    <a:p>
                      <a:pPr algn="just">
                        <a:lnSpc>
                          <a:spcPct val="107000"/>
                        </a:lnSpc>
                        <a:spcAft>
                          <a:spcPts val="0"/>
                        </a:spcAft>
                      </a:pPr>
                      <a:r>
                        <a:rPr lang="es-ES" sz="1800" dirty="0">
                          <a:effectLst/>
                          <a:latin typeface="Arial" panose="020B0604020202020204" pitchFamily="34" charset="0"/>
                          <a:cs typeface="Arial" panose="020B0604020202020204" pitchFamily="34" charset="0"/>
                        </a:rPr>
                        <a:t> </a:t>
                      </a:r>
                      <a:endParaRPr lang="es-BO" sz="18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001"/>
                  </a:ext>
                </a:extLst>
              </a:tr>
              <a:tr h="294471">
                <a:tc>
                  <a:txBody>
                    <a:bodyPr/>
                    <a:lstStyle/>
                    <a:p>
                      <a:pPr algn="ctr">
                        <a:lnSpc>
                          <a:spcPct val="107000"/>
                        </a:lnSpc>
                        <a:spcAft>
                          <a:spcPts val="0"/>
                        </a:spcAft>
                      </a:pPr>
                      <a:r>
                        <a:rPr lang="es-ES" sz="1800" dirty="0">
                          <a:effectLst/>
                          <a:latin typeface="Arial" panose="020B0604020202020204" pitchFamily="34" charset="0"/>
                          <a:cs typeface="Arial" panose="020B0604020202020204" pitchFamily="34" charset="0"/>
                        </a:rPr>
                        <a:t>TIPO</a:t>
                      </a:r>
                      <a:endParaRPr lang="es-BO" sz="18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07000"/>
                        </a:lnSpc>
                        <a:spcAft>
                          <a:spcPts val="0"/>
                        </a:spcAft>
                      </a:pPr>
                      <a:r>
                        <a:rPr lang="es-ES" sz="1800">
                          <a:effectLst/>
                          <a:latin typeface="Arial" panose="020B0604020202020204" pitchFamily="34" charset="0"/>
                          <a:cs typeface="Arial" panose="020B0604020202020204" pitchFamily="34" charset="0"/>
                        </a:rPr>
                        <a:t>Primario</a:t>
                      </a:r>
                      <a:endParaRPr lang="es-BO" sz="180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002"/>
                  </a:ext>
                </a:extLst>
              </a:tr>
              <a:tr h="929432">
                <a:tc>
                  <a:txBody>
                    <a:bodyPr/>
                    <a:lstStyle/>
                    <a:p>
                      <a:pPr algn="ctr">
                        <a:lnSpc>
                          <a:spcPct val="107000"/>
                        </a:lnSpc>
                        <a:spcAft>
                          <a:spcPts val="0"/>
                        </a:spcAft>
                      </a:pPr>
                      <a:r>
                        <a:rPr lang="es-ES" sz="1800" dirty="0">
                          <a:effectLst/>
                          <a:latin typeface="Arial" panose="020B0604020202020204" pitchFamily="34" charset="0"/>
                          <a:cs typeface="Arial" panose="020B0604020202020204" pitchFamily="34" charset="0"/>
                        </a:rPr>
                        <a:t>DESCRIPCIÓN</a:t>
                      </a:r>
                      <a:endParaRPr lang="es-BO" sz="18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07000"/>
                        </a:lnSpc>
                        <a:spcAft>
                          <a:spcPts val="0"/>
                        </a:spcAft>
                      </a:pPr>
                      <a:endParaRPr lang="es-ES" sz="1800" dirty="0">
                        <a:effectLst/>
                        <a:latin typeface="Arial" panose="020B0604020202020204" pitchFamily="34" charset="0"/>
                        <a:cs typeface="Arial" panose="020B0604020202020204" pitchFamily="34" charset="0"/>
                      </a:endParaRPr>
                    </a:p>
                    <a:p>
                      <a:pPr algn="just">
                        <a:lnSpc>
                          <a:spcPct val="107000"/>
                        </a:lnSpc>
                        <a:spcAft>
                          <a:spcPts val="0"/>
                        </a:spcAft>
                      </a:pPr>
                      <a:r>
                        <a:rPr lang="es-ES" sz="1800" dirty="0">
                          <a:effectLst/>
                          <a:latin typeface="Arial" panose="020B0604020202020204" pitchFamily="34" charset="0"/>
                          <a:cs typeface="Arial" panose="020B0604020202020204" pitchFamily="34" charset="0"/>
                        </a:rPr>
                        <a:t>Actor con acceso de solo lectura. Tiene rol operativo en el parque.</a:t>
                      </a:r>
                      <a:endParaRPr lang="es-BO" sz="18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7738115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53859"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DESCRIPCIÓN DE ACTORES</a:t>
            </a:r>
          </a:p>
        </p:txBody>
      </p:sp>
      <p:sp>
        <p:nvSpPr>
          <p:cNvPr id="5" name="CuadroTexto 4"/>
          <p:cNvSpPr txBox="1"/>
          <p:nvPr/>
        </p:nvSpPr>
        <p:spPr>
          <a:xfrm>
            <a:off x="548640" y="2103120"/>
            <a:ext cx="11064240" cy="1828800"/>
          </a:xfrm>
          <a:prstGeom prst="rect">
            <a:avLst/>
          </a:prstGeom>
          <a:noFill/>
        </p:spPr>
        <p:txBody>
          <a:bodyPr wrap="square" rtlCol="0">
            <a:spAutoFit/>
          </a:bodyPr>
          <a:lstStyle/>
          <a:p>
            <a:pPr lvl="0" algn="just"/>
            <a:r>
              <a:rPr lang="es-ES" dirty="0" sz="1300">
                <a:latin typeface="Arial" panose="020B0604020202020204" pitchFamily="34" charset="0"/>
                <a:cs typeface="Arial" panose="020B0604020202020204" pitchFamily="34" charset="0"/>
              </a:rPr>
              <a:t>Controlador K-Rain BL-KR: </a:t>
            </a:r>
            <a:r>
              <a:rPr lang="es-ES" sz="1300" dirty="0">
                <a:effectLst/>
                <a:latin typeface="Arial" panose="020B0604020202020204" pitchFamily="34" charset="0"/>
                <a:cs typeface="Arial" panose="020B0604020202020204" pitchFamily="34" charset="0"/>
              </a:rPr>
              <a:t>Es el actor secundario (dispositivo) que ejecuta la apertura y cierre de las electroválvulas según el cronograma programado desde la app móvil K-RainBL. En SARQUE se utilizan 6 controladores (2 BL-KR2 + 3 BL-KR4 + 1 BL-KR6) con un total de 22 estaciones. Cada controlador opera con batería 9V y se comunica con el smartphone del administrador mediante Bluetooth Low Energy (BLE).</a:t>
            </a:r>
            <a:endParaRPr lang="es-BO" dirty="0">
              <a:latin typeface="Arial" panose="020B0604020202020204" pitchFamily="34" charset="0"/>
              <a:cs typeface="Arial" panose="020B0604020202020204" pitchFamily="34" charset="0"/>
            </a:endParaRPr>
          </a:p>
        </p:txBody>
      </p:sp>
      <p:graphicFrame>
        <p:nvGraphicFramePr>
          <p:cNvPr id="9" name="Tabla 8"/>
          <p:cNvGraphicFramePr>
            <a:graphicFrameLocks noGrp="1"/>
          </p:cNvGraphicFramePr>
          <p:nvPr>
            <p:extLst>
              <p:ext uri="{D42A27DB-BD31-4B8C-83A1-F6EECF244321}">
                <p14:modId xmlns:p14="http://schemas.microsoft.com/office/powerpoint/2010/main" val="428448011"/>
              </p:ext>
            </p:extLst>
          </p:nvPr>
        </p:nvGraphicFramePr>
        <p:xfrm>
          <a:off x="2286000" y="4114800"/>
          <a:ext cx="7589520" cy="2468880"/>
        </p:xfrm>
        <a:graphic>
          <a:graphicData uri="http://schemas.openxmlformats.org/drawingml/2006/table">
            <a:tbl>
              <a:tblPr firstRow="1" firstCol="1" bandRow="1">
                <a:tableStyleId>{93296810-A885-4BE3-A3E7-6D5BEEA58F35}</a:tableStyleId>
              </a:tblPr>
              <a:tblGrid>
                <a:gridCol w="1936334">
                  <a:extLst>
                    <a:ext uri="{9D8B030D-6E8A-4147-A177-3AD203B41FA5}">
                      <a16:colId xmlns:a16="http://schemas.microsoft.com/office/drawing/2014/main" val="20000"/>
                    </a:ext>
                  </a:extLst>
                </a:gridCol>
                <a:gridCol w="5992605">
                  <a:extLst>
                    <a:ext uri="{9D8B030D-6E8A-4147-A177-3AD203B41FA5}">
                      <a16:colId xmlns:a16="http://schemas.microsoft.com/office/drawing/2014/main" val="20001"/>
                    </a:ext>
                  </a:extLst>
                </a:gridCol>
              </a:tblGrid>
              <a:tr h="450965">
                <a:tc>
                  <a:txBody>
                    <a:bodyPr/>
                    <a:lstStyle/>
                    <a:p>
                      <a:pPr algn="ctr">
                        <a:lnSpc>
                          <a:spcPct val="150000"/>
                        </a:lnSpc>
                        <a:spcBef>
                          <a:spcPts val="1200"/>
                        </a:spcBef>
                        <a:spcAft>
                          <a:spcPts val="0"/>
                        </a:spcAft>
                      </a:pPr>
                      <a:r>
                        <a:rPr lang="es-ES" sz="1800" dirty="0">
                          <a:effectLst/>
                          <a:latin typeface="Arial" panose="020B0604020202020204" pitchFamily="34" charset="0"/>
                          <a:cs typeface="Arial" panose="020B0604020202020204" pitchFamily="34" charset="0"/>
                        </a:rPr>
                        <a:t>ACTOR</a:t>
                      </a:r>
                      <a:endParaRPr lang="es-BO" sz="18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ctr">
                        <a:lnSpc>
                          <a:spcPct val="150000"/>
                        </a:lnSpc>
                        <a:spcBef>
                          <a:spcPts val="1200"/>
                        </a:spcBef>
                        <a:spcAft>
                          <a:spcPts val="0"/>
                        </a:spcAft>
                      </a:pPr>
                      <a:r>
                        <a:rPr lang="es-ES" sz="1800" dirty="0">
                          <a:effectLst/>
                          <a:latin typeface="Arial" panose="020B0604020202020204" pitchFamily="34" charset="0"/>
                          <a:cs typeface="Arial" panose="020B0604020202020204" pitchFamily="34" charset="0"/>
                        </a:rPr>
                        <a:t>Controlador BL-KR</a:t>
                      </a:r>
                      <a:endParaRPr lang="es-BO" sz="18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10000"/>
                  </a:ext>
                </a:extLst>
              </a:tr>
              <a:tr h="965446">
                <a:tc>
                  <a:txBody>
                    <a:bodyPr/>
                    <a:lstStyle/>
                    <a:p>
                      <a:pPr algn="ctr">
                        <a:lnSpc>
                          <a:spcPct val="150000"/>
                        </a:lnSpc>
                        <a:spcBef>
                          <a:spcPts val="1200"/>
                        </a:spcBef>
                        <a:spcAft>
                          <a:spcPts val="0"/>
                        </a:spcAft>
                      </a:pPr>
                      <a:r>
                        <a:rPr lang="es-ES" sz="1800" dirty="0">
                          <a:effectLst/>
                          <a:latin typeface="Arial" panose="020B0604020202020204" pitchFamily="34" charset="0"/>
                          <a:cs typeface="Arial" panose="020B0604020202020204" pitchFamily="34" charset="0"/>
                        </a:rPr>
                        <a:t>CASO DE USO</a:t>
                      </a:r>
                      <a:endParaRPr lang="es-BO" sz="18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nchor="ctr"/>
                </a:tc>
                <a:tc>
                  <a:txBody>
                    <a:bodyPr/>
                    <a:lstStyle/>
                    <a:p>
                      <a:pPr algn="just">
                        <a:lnSpc>
                          <a:spcPct val="150000"/>
                        </a:lnSpc>
                        <a:spcBef>
                          <a:spcPts val="1200"/>
                        </a:spcBef>
                        <a:spcAft>
                          <a:spcPts val="0"/>
                        </a:spcAft>
                      </a:pPr>
                      <a:r>
                        <a:rPr lang="es-ES" sz="1800" dirty="0">
                          <a:effectLst/>
                          <a:latin typeface="Arial" panose="020B0604020202020204" pitchFamily="34" charset="0"/>
                          <a:cs typeface="Arial" panose="020B0604020202020204" pitchFamily="34" charset="0"/>
                        </a:rPr>
                        <a:t>Apertura/cierre de electroválvulas según cronograma</a:t>
                      </a:r>
                      <a:endParaRPr lang="es-BO" sz="18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10001"/>
                  </a:ext>
                </a:extLst>
              </a:tr>
              <a:tr h="450965">
                <a:tc>
                  <a:txBody>
                    <a:bodyPr/>
                    <a:lstStyle/>
                    <a:p>
                      <a:pPr algn="ctr">
                        <a:lnSpc>
                          <a:spcPct val="150000"/>
                        </a:lnSpc>
                        <a:spcBef>
                          <a:spcPts val="1200"/>
                        </a:spcBef>
                        <a:spcAft>
                          <a:spcPts val="0"/>
                        </a:spcAft>
                      </a:pPr>
                      <a:r>
                        <a:rPr lang="es-ES" sz="1800" dirty="0">
                          <a:effectLst/>
                          <a:latin typeface="Arial" panose="020B0604020202020204" pitchFamily="34" charset="0"/>
                          <a:cs typeface="Arial" panose="020B0604020202020204" pitchFamily="34" charset="0"/>
                        </a:rPr>
                        <a:t>TIPO</a:t>
                      </a:r>
                      <a:endParaRPr lang="es-BO" sz="18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nchor="ctr"/>
                </a:tc>
                <a:tc>
                  <a:txBody>
                    <a:bodyPr/>
                    <a:lstStyle/>
                    <a:p>
                      <a:pPr algn="just">
                        <a:lnSpc>
                          <a:spcPct val="150000"/>
                        </a:lnSpc>
                        <a:spcBef>
                          <a:spcPts val="1200"/>
                        </a:spcBef>
                        <a:spcAft>
                          <a:spcPts val="0"/>
                        </a:spcAft>
                      </a:pPr>
                      <a:r>
                        <a:rPr lang="es-ES" sz="1800" dirty="0">
                          <a:effectLst/>
                          <a:latin typeface="Arial" panose="020B0604020202020204" pitchFamily="34" charset="0"/>
                          <a:cs typeface="Arial" panose="020B0604020202020204" pitchFamily="34" charset="0"/>
                        </a:rPr>
                        <a:t>Secundario</a:t>
                      </a:r>
                      <a:endParaRPr lang="es-BO" sz="18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10002"/>
                  </a:ext>
                </a:extLst>
              </a:tr>
              <a:tr h="1994408">
                <a:tc>
                  <a:txBody>
                    <a:bodyPr/>
                    <a:lstStyle/>
                    <a:p>
                      <a:pPr algn="ctr">
                        <a:lnSpc>
                          <a:spcPct val="150000"/>
                        </a:lnSpc>
                        <a:spcBef>
                          <a:spcPts val="1200"/>
                        </a:spcBef>
                        <a:spcAft>
                          <a:spcPts val="0"/>
                        </a:spcAft>
                      </a:pPr>
                      <a:r>
                        <a:rPr lang="es-ES" sz="1800" dirty="0">
                          <a:effectLst/>
                          <a:latin typeface="Arial" panose="020B0604020202020204" pitchFamily="34" charset="0"/>
                          <a:cs typeface="Arial" panose="020B0604020202020204" pitchFamily="34" charset="0"/>
                        </a:rPr>
                        <a:t>DISCRIPCION</a:t>
                      </a:r>
                      <a:endParaRPr lang="es-BO" sz="18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nchor="ctr"/>
                </a:tc>
                <a:tc>
                  <a:txBody>
                    <a:bodyPr/>
                    <a:lstStyle/>
                    <a:p>
                      <a:pPr algn="just">
                        <a:lnSpc>
                          <a:spcPct val="150000"/>
                        </a:lnSpc>
                        <a:spcBef>
                          <a:spcPts val="1200"/>
                        </a:spcBef>
                        <a:spcAft>
                          <a:spcPts val="0"/>
                        </a:spcAft>
                      </a:pPr>
                      <a:r>
                        <a:rPr lang="es-ES" sz="1800" dirty="0">
                          <a:effectLst/>
                          <a:latin typeface="Arial" panose="020B0604020202020204" pitchFamily="34" charset="0"/>
                          <a:cs typeface="Arial" panose="020B0604020202020204" pitchFamily="34" charset="0"/>
                        </a:rPr>
                        <a:t>Ejecuta el programa de riego cargado desde la app K-RainBL</a:t>
                      </a:r>
                      <a:r>
                        <a:rPr lang="es-BO" sz="1800" baseline="0" dirty="0">
                          <a:effectLst/>
                          <a:latin typeface="Arial" panose="020B0604020202020204" pitchFamily="34" charset="0"/>
                          <a:cs typeface="Arial" panose="020B0604020202020204" pitchFamily="34" charset="0"/>
                        </a:rPr>
                        <a:t> </a:t>
                      </a:r>
                      <a:r>
                        <a:rPr lang="es-ES" sz="1800" dirty="0">
                          <a:effectLst/>
                          <a:latin typeface="Arial" panose="020B0604020202020204" pitchFamily="34" charset="0"/>
                          <a:cs typeface="Arial" panose="020B0604020202020204" pitchFamily="34" charset="0"/>
                        </a:rPr>
                        <a:t>mediante pulsos DC de polaridad invertida hacia los</a:t>
                      </a:r>
                      <a:r>
                        <a:rPr lang="es-BO" sz="1800" baseline="0" dirty="0">
                          <a:effectLst/>
                          <a:latin typeface="Arial" panose="020B0604020202020204" pitchFamily="34" charset="0"/>
                          <a:cs typeface="Arial" panose="020B0604020202020204" pitchFamily="34" charset="0"/>
                        </a:rPr>
                        <a:t> </a:t>
                      </a:r>
                      <a:r>
                        <a:rPr lang="es-ES" sz="1800" dirty="0">
                          <a:effectLst/>
                          <a:latin typeface="Arial" panose="020B0604020202020204" pitchFamily="34" charset="0"/>
                          <a:cs typeface="Arial" panose="020B0604020202020204" pitchFamily="34" charset="0"/>
                        </a:rPr>
                        <a:t>solenoides latching de las electroválvulas.</a:t>
                      </a:r>
                      <a:r>
                        <a:rPr lang="es-ES" sz="1800" baseline="0" dirty="0">
                          <a:effectLst/>
                          <a:latin typeface="Arial" panose="020B0604020202020204" pitchFamily="34" charset="0"/>
                          <a:cs typeface="Arial" panose="020B0604020202020204" pitchFamily="34" charset="0"/>
                        </a:rPr>
                        <a:t> </a:t>
                      </a:r>
                      <a:r>
                        <a:rPr lang="es-ES" sz="1800" dirty="0">
                          <a:effectLst/>
                          <a:latin typeface="Arial" panose="020B0604020202020204" pitchFamily="34" charset="0"/>
                          <a:cs typeface="Arial" panose="020B0604020202020204" pitchFamily="34" charset="0"/>
                        </a:rPr>
                        <a:t>Opera con batería 9V durante ~1 año.</a:t>
                      </a:r>
                      <a:r>
                        <a:rPr lang="es-BO" sz="1800" baseline="0" dirty="0">
                          <a:effectLst/>
                          <a:latin typeface="Arial" panose="020B0604020202020204" pitchFamily="34" charset="0"/>
                          <a:cs typeface="Arial" panose="020B0604020202020204" pitchFamily="34" charset="0"/>
                        </a:rPr>
                        <a:t> </a:t>
                      </a:r>
                      <a:r>
                        <a:rPr lang="es-ES" sz="1800" dirty="0">
                          <a:effectLst/>
                          <a:latin typeface="Arial" panose="020B0604020202020204" pitchFamily="34" charset="0"/>
                          <a:cs typeface="Arial" panose="020B0604020202020204" pitchFamily="34" charset="0"/>
                        </a:rPr>
                        <a:t>Comunicación BLE con smartphone del administrador.</a:t>
                      </a:r>
                      <a:endParaRPr lang="es-BO" sz="18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10003"/>
                  </a:ext>
                </a:extLst>
              </a:tr>
            </a:tbl>
          </a:graphicData>
        </a:graphic>
      </p:graphicFrame>
      <p:pic>
        <p:nvPicPr>
          <p:cNvPr id="10" name="Imagen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12" name="Imagen 1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Tree>
    <p:extLst>
      <p:ext uri="{BB962C8B-B14F-4D97-AF65-F5344CB8AC3E}">
        <p14:creationId xmlns:p14="http://schemas.microsoft.com/office/powerpoint/2010/main" val="19515739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40980"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LA VISTA DE CASOS DE USO</a:t>
            </a:r>
          </a:p>
        </p:txBody>
      </p:sp>
      <p:pic>
        <p:nvPicPr>
          <p:cNvPr id="7" name="Imagen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
        <p:nvSpPr>
          <p:cNvPr id="3" name="Rectángulo 2"/>
          <p:cNvSpPr/>
          <p:nvPr/>
        </p:nvSpPr>
        <p:spPr>
          <a:xfrm>
            <a:off x="548640" y="2377440"/>
            <a:ext cx="11064240" cy="32004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just">
              <a:lnSpc>
                <a:spcPct val="150000"/>
              </a:lnSpc>
            </a:pPr>
            <a:r>
              <a:rPr lang="es-BO" sz="2400" dirty="0">
                <a:latin typeface="Arial" panose="020B0604020202020204" pitchFamily="34" charset="0"/>
                <a:cs typeface="Arial" panose="020B0604020202020204" pitchFamily="34" charset="0"/>
              </a:rPr>
              <a:t>Modela la funcionalidad del sistema tal como la perciben los actores externos que interactúan con SARQUE: el Administrador (propietaria del parque), el Operador (jardinero), la App K-RainBL en el smartphone, y los Controladores BL-KR como dispositivos.</a:t>
            </a:r>
          </a:p>
        </p:txBody>
      </p:sp>
    </p:spTree>
    <p:extLst>
      <p:ext uri="{BB962C8B-B14F-4D97-AF65-F5344CB8AC3E}">
        <p14:creationId xmlns:p14="http://schemas.microsoft.com/office/powerpoint/2010/main" val="38479778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1" y="0"/>
            <a:ext cx="10802581"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CASOS DE USO</a:t>
            </a:r>
          </a:p>
        </p:txBody>
      </p:sp>
      <p:sp>
        <p:nvSpPr>
          <p:cNvPr id="5" name="CuadroTexto 4"/>
          <p:cNvSpPr txBox="1"/>
          <p:nvPr/>
        </p:nvSpPr>
        <p:spPr>
          <a:xfrm>
            <a:off x="548640" y="1874519"/>
            <a:ext cx="11064240" cy="457200"/>
          </a:xfrm>
          <a:prstGeom prst="rect">
            <a:avLst/>
          </a:prstGeom>
          <a:noFill/>
        </p:spPr>
        <p:txBody>
          <a:bodyPr wrap="square" rtlCol="0">
            <a:spAutoFit/>
          </a:bodyPr>
          <a:lstStyle/>
          <a:p>
            <a:pPr algn="ctr"/>
            <a:r>
              <a:rPr sz="1400" b="1"/>
              <a:t>Diagrama de Casos de Uso del Administrador (Propietaria)</a:t>
            </a:r>
          </a:p>
        </p:txBody>
      </p:sp>
      <p:pic>
        <p:nvPicPr>
          <p:cNvPr id="7" name="Imagen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pic>
        <p:nvPicPr>
          <p:cNvPr id="11" name="Picture 10" descr="CasosDeUso_SARQUE.png"/>
          <p:cNvPicPr>
            <a:picLocks noChangeAspect="1"/>
          </p:cNvPicPr>
          <p:nvPr/>
        </p:nvPicPr>
        <p:blipFill>
          <a:blip r:embed="rId6"/>
          <a:stretch>
            <a:fillRect/>
          </a:stretch>
        </p:blipFill>
        <p:spPr>
          <a:xfrm>
            <a:off x="2286000" y="2377440"/>
            <a:ext cx="7589520" cy="4114800"/>
          </a:xfrm>
          <a:prstGeom prst="rect">
            <a:avLst/>
          </a:prstGeom>
        </p:spPr>
      </p:pic>
    </p:spTree>
    <p:extLst>
      <p:ext uri="{BB962C8B-B14F-4D97-AF65-F5344CB8AC3E}">
        <p14:creationId xmlns:p14="http://schemas.microsoft.com/office/powerpoint/2010/main" val="38294434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1" y="0"/>
            <a:ext cx="10802581"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CASOS DE USO</a:t>
            </a:r>
          </a:p>
        </p:txBody>
      </p:sp>
      <p:sp>
        <p:nvSpPr>
          <p:cNvPr id="5" name="CuadroTexto 4"/>
          <p:cNvSpPr txBox="1"/>
          <p:nvPr/>
        </p:nvSpPr>
        <p:spPr>
          <a:xfrm>
            <a:off x="548640" y="1874519"/>
            <a:ext cx="11064240" cy="457200"/>
          </a:xfrm>
          <a:prstGeom prst="rect">
            <a:avLst/>
          </a:prstGeom>
          <a:noFill/>
        </p:spPr>
        <p:txBody>
          <a:bodyPr wrap="square" rtlCol="0">
            <a:spAutoFit/>
          </a:bodyPr>
          <a:lstStyle/>
          <a:p>
            <a:pPr algn="ctr"/>
            <a:r>
              <a:rPr sz="1400" b="1"/>
              <a:t>Diagrama de Casos de Uso del Operador (Jardinero)</a:t>
            </a:r>
          </a:p>
        </p:txBody>
      </p:sp>
      <p:pic>
        <p:nvPicPr>
          <p:cNvPr id="7" name="Imagen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pic>
        <p:nvPicPr>
          <p:cNvPr id="11" name="Picture 10" descr="CasosDeUso_SARQUE.png"/>
          <p:cNvPicPr>
            <a:picLocks noChangeAspect="1"/>
          </p:cNvPicPr>
          <p:nvPr/>
        </p:nvPicPr>
        <p:blipFill>
          <a:blip r:embed="rId6"/>
          <a:stretch>
            <a:fillRect/>
          </a:stretch>
        </p:blipFill>
        <p:spPr>
          <a:xfrm>
            <a:off x="2286000" y="2377440"/>
            <a:ext cx="7589520" cy="4114800"/>
          </a:xfrm>
          <a:prstGeom prst="rect">
            <a:avLst/>
          </a:prstGeom>
        </p:spPr>
      </p:pic>
    </p:spTree>
    <p:extLst>
      <p:ext uri="{BB962C8B-B14F-4D97-AF65-F5344CB8AC3E}">
        <p14:creationId xmlns:p14="http://schemas.microsoft.com/office/powerpoint/2010/main" val="1470269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1" y="0"/>
            <a:ext cx="10802581"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DIAGRAMA DE CLASES</a:t>
            </a:r>
          </a:p>
        </p:txBody>
      </p:sp>
      <p:sp>
        <p:nvSpPr>
          <p:cNvPr id="5" name="CuadroTexto 4"/>
          <p:cNvSpPr txBox="1"/>
          <p:nvPr/>
        </p:nvSpPr>
        <p:spPr>
          <a:xfrm>
            <a:off x="548640" y="1874519"/>
            <a:ext cx="11064240" cy="457200"/>
          </a:xfrm>
          <a:prstGeom prst="rect">
            <a:avLst/>
          </a:prstGeom>
          <a:noFill/>
        </p:spPr>
        <p:txBody>
          <a:bodyPr wrap="square" rtlCol="0">
            <a:spAutoFit/>
          </a:bodyPr>
          <a:lstStyle/>
          <a:p>
            <a:pPr algn="ctr"/>
            <a:r>
              <a:rPr sz="1300" b="1"/>
              <a:t>Modelo Entidad-Relación de la Base de Datos SARQUE en PostgreSQL/Supabase</a:t>
            </a:r>
          </a:p>
        </p:txBody>
      </p:sp>
      <p:pic>
        <p:nvPicPr>
          <p:cNvPr id="7" name="Imagen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pic>
        <p:nvPicPr>
          <p:cNvPr id="11" name="Picture 10" descr="ClasesBD_SARQUE.png"/>
          <p:cNvPicPr>
            <a:picLocks noChangeAspect="1"/>
          </p:cNvPicPr>
          <p:nvPr/>
        </p:nvPicPr>
        <p:blipFill>
          <a:blip r:embed="rId6"/>
          <a:stretch>
            <a:fillRect/>
          </a:stretch>
        </p:blipFill>
        <p:spPr>
          <a:xfrm>
            <a:off x="1828800" y="2377440"/>
            <a:ext cx="8503920" cy="4114800"/>
          </a:xfrm>
          <a:prstGeom prst="rect">
            <a:avLst/>
          </a:prstGeom>
        </p:spPr>
      </p:pic>
    </p:spTree>
    <p:extLst>
      <p:ext uri="{BB962C8B-B14F-4D97-AF65-F5344CB8AC3E}">
        <p14:creationId xmlns:p14="http://schemas.microsoft.com/office/powerpoint/2010/main" val="3700640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40979"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ESQUEMAS DE CONEXIÓN</a:t>
            </a:r>
          </a:p>
        </p:txBody>
      </p:sp>
      <p:pic>
        <p:nvPicPr>
          <p:cNvPr id="6" name="Imagen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8" name="Imagen 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pic>
        <p:nvPicPr>
          <p:cNvPr id="10" name="Picture 9" descr="Arquitectura_SARQUE.png"/>
          <p:cNvPicPr>
            <a:picLocks noChangeAspect="1"/>
          </p:cNvPicPr>
          <p:nvPr/>
        </p:nvPicPr>
        <p:blipFill>
          <a:blip r:embed="rId6"/>
          <a:stretch>
            <a:fillRect/>
          </a:stretch>
        </p:blipFill>
        <p:spPr>
          <a:xfrm>
            <a:off x="1371600" y="2194560"/>
            <a:ext cx="9418320" cy="4389120"/>
          </a:xfrm>
          <a:prstGeom prst="rect">
            <a:avLst/>
          </a:prstGeom>
        </p:spPr>
      </p:pic>
    </p:spTree>
    <p:extLst>
      <p:ext uri="{BB962C8B-B14F-4D97-AF65-F5344CB8AC3E}">
        <p14:creationId xmlns:p14="http://schemas.microsoft.com/office/powerpoint/2010/main" val="42922808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40979"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pic>
        <p:nvPicPr>
          <p:cNvPr id="3" name="Imagen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pic>
        <p:nvPicPr>
          <p:cNvPr id="4" name="Imagen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sp>
        <p:nvSpPr>
          <p:cNvPr id="7"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ESQUEMAS DE CONEXIÓN HIDRÁULICA-ELÉCTRICA</a:t>
            </a:r>
          </a:p>
        </p:txBody>
      </p:sp>
      <p:pic>
        <p:nvPicPr>
          <p:cNvPr id="8" name="Picture 7" descr="Componentes_SARQUE.png"/>
          <p:cNvPicPr>
            <a:picLocks noChangeAspect="1"/>
          </p:cNvPicPr>
          <p:nvPr/>
        </p:nvPicPr>
        <p:blipFill>
          <a:blip r:embed="rId5"/>
          <a:stretch>
            <a:fillRect/>
          </a:stretch>
        </p:blipFill>
        <p:spPr>
          <a:xfrm>
            <a:off x="1371600" y="2103120"/>
            <a:ext cx="9418320" cy="4480560"/>
          </a:xfrm>
          <a:prstGeom prst="rect">
            <a:avLst/>
          </a:prstGeom>
        </p:spPr>
      </p:pic>
    </p:spTree>
    <p:extLst>
      <p:ext uri="{BB962C8B-B14F-4D97-AF65-F5344CB8AC3E}">
        <p14:creationId xmlns:p14="http://schemas.microsoft.com/office/powerpoint/2010/main" val="15872365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40979"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pic>
        <p:nvPicPr>
          <p:cNvPr id="3" name="Imagen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pic>
        <p:nvPicPr>
          <p:cNvPr id="4" name="Imagen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sp>
        <p:nvSpPr>
          <p:cNvPr id="7"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CARACTERÍSTICAS DE LA BOMBA SUMERGIBLE</a:t>
            </a:r>
          </a:p>
        </p:txBody>
      </p:sp>
      <p:pic>
        <p:nvPicPr>
          <p:cNvPr id="8" name="Picture 7" descr="Bomba_specs.png"/>
          <p:cNvPicPr>
            <a:picLocks noChangeAspect="1"/>
          </p:cNvPicPr>
          <p:nvPr/>
        </p:nvPicPr>
        <p:blipFill>
          <a:blip r:embed="rId6"/>
          <a:stretch>
            <a:fillRect/>
          </a:stretch>
        </p:blipFill>
        <p:spPr>
          <a:xfrm>
            <a:off x="2209800" y="2011680"/>
            <a:ext cx="7772400" cy="4572000"/>
          </a:xfrm>
          <a:prstGeom prst="rect">
            <a:avLst/>
          </a:prstGeom>
        </p:spPr>
      </p:pic>
    </p:spTree>
    <p:extLst>
      <p:ext uri="{BB962C8B-B14F-4D97-AF65-F5344CB8AC3E}">
        <p14:creationId xmlns:p14="http://schemas.microsoft.com/office/powerpoint/2010/main" val="25873766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40979"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pic>
        <p:nvPicPr>
          <p:cNvPr id="3" name="Imagen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pic>
        <p:nvPicPr>
          <p:cNvPr id="4" name="Imagen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sp>
        <p:nvSpPr>
          <p:cNvPr id="7"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CARACTERÍSTICAS DEL CONTROLADOR K-RAIN BL-KR</a:t>
            </a:r>
          </a:p>
        </p:txBody>
      </p:sp>
      <p:pic>
        <p:nvPicPr>
          <p:cNvPr id="8" name="Picture 7" descr="BLKR_specs.png"/>
          <p:cNvPicPr>
            <a:picLocks noChangeAspect="1"/>
          </p:cNvPicPr>
          <p:nvPr/>
        </p:nvPicPr>
        <p:blipFill>
          <a:blip r:embed="rId6"/>
          <a:stretch>
            <a:fillRect/>
          </a:stretch>
        </p:blipFill>
        <p:spPr>
          <a:xfrm>
            <a:off x="2209800" y="2011680"/>
            <a:ext cx="7772400" cy="4572000"/>
          </a:xfrm>
          <a:prstGeom prst="rect">
            <a:avLst/>
          </a:prstGeom>
        </p:spPr>
      </p:pic>
    </p:spTree>
    <p:extLst>
      <p:ext uri="{BB962C8B-B14F-4D97-AF65-F5344CB8AC3E}">
        <p14:creationId xmlns:p14="http://schemas.microsoft.com/office/powerpoint/2010/main" val="40105421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40979"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pic>
        <p:nvPicPr>
          <p:cNvPr id="3" name="Imagen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pic>
        <p:nvPicPr>
          <p:cNvPr id="4" name="Imagen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sp>
        <p:nvSpPr>
          <p:cNvPr id="7"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dirty="0">
                <a:solidFill>
                  <a:srgbClr val="002060"/>
                </a:solidFill>
                <a:effectLst/>
              </a:rPr>
              <a:t>VIABILIDAD ECONOMICA </a:t>
            </a:r>
          </a:p>
        </p:txBody>
      </p:sp>
      <p:graphicFrame>
        <p:nvGraphicFramePr>
          <p:cNvPr id="8" name="Table 7"/>
          <p:cNvGraphicFramePr>
            <a:graphicFrameLocks noGrp="1"/>
          </p:cNvGraphicFramePr>
          <p:nvPr/>
        </p:nvGraphicFramePr>
        <p:xfrm>
          <a:off x="457200" y="2011680"/>
          <a:ext cx="11247120" cy="4480560"/>
        </p:xfrm>
        <a:graphic>
          <a:graphicData uri="http://schemas.openxmlformats.org/drawingml/2006/table">
            <a:tbl>
              <a:tblPr firstRow="1" bandRow="1">
                <a:tableStyleId>{5C22544A-7EE6-4342-B048-85BDC9FD1C3A}</a:tableStyleId>
              </a:tblPr>
              <a:tblGrid>
                <a:gridCol w="548640"/>
                <a:gridCol w="1097280"/>
                <a:gridCol w="6858000"/>
                <a:gridCol w="1371600"/>
                <a:gridCol w="1371600"/>
              </a:tblGrid>
              <a:tr h="344658">
                <a:tc>
                  <a:txBody>
                    <a:bodyPr/>
                    <a:lstStyle/>
                    <a:p>
                      <a:pPr algn="ctr"/>
                      <a:r>
                        <a:rPr sz="1300" b="1">
                          <a:solidFill>
                            <a:srgbClr val="FFFFFF"/>
                          </a:solidFill>
                          <a:latin typeface="Calibri"/>
                        </a:rPr>
                        <a:t>N°</a:t>
                      </a:r>
                    </a:p>
                  </a:txBody>
                  <a:tcPr>
                    <a:solidFill>
                      <a:srgbClr val="1565C0"/>
                    </a:solidFill>
                  </a:tcPr>
                </a:tc>
                <a:tc>
                  <a:txBody>
                    <a:bodyPr/>
                    <a:lstStyle/>
                    <a:p>
                      <a:pPr algn="ctr"/>
                      <a:r>
                        <a:rPr sz="1300" b="1">
                          <a:solidFill>
                            <a:srgbClr val="FFFFFF"/>
                          </a:solidFill>
                          <a:latin typeface="Calibri"/>
                        </a:rPr>
                        <a:t>Cantidad</a:t>
                      </a:r>
                    </a:p>
                  </a:txBody>
                  <a:tcPr>
                    <a:solidFill>
                      <a:srgbClr val="1565C0"/>
                    </a:solidFill>
                  </a:tcPr>
                </a:tc>
                <a:tc>
                  <a:txBody>
                    <a:bodyPr/>
                    <a:lstStyle/>
                    <a:p>
                      <a:pPr algn="ctr"/>
                      <a:r>
                        <a:rPr sz="1300" b="1">
                          <a:solidFill>
                            <a:srgbClr val="FFFFFF"/>
                          </a:solidFill>
                          <a:latin typeface="Calibri"/>
                        </a:rPr>
                        <a:t>Descripción</a:t>
                      </a:r>
                    </a:p>
                  </a:txBody>
                  <a:tcPr>
                    <a:solidFill>
                      <a:srgbClr val="1565C0"/>
                    </a:solidFill>
                  </a:tcPr>
                </a:tc>
                <a:tc>
                  <a:txBody>
                    <a:bodyPr/>
                    <a:lstStyle/>
                    <a:p>
                      <a:pPr algn="ctr"/>
                      <a:r>
                        <a:rPr sz="1300" b="1">
                          <a:solidFill>
                            <a:srgbClr val="FFFFFF"/>
                          </a:solidFill>
                          <a:latin typeface="Calibri"/>
                        </a:rPr>
                        <a:t>P. Unit. (Bs)</a:t>
                      </a:r>
                    </a:p>
                  </a:txBody>
                  <a:tcPr>
                    <a:solidFill>
                      <a:srgbClr val="1565C0"/>
                    </a:solidFill>
                  </a:tcPr>
                </a:tc>
                <a:tc>
                  <a:txBody>
                    <a:bodyPr/>
                    <a:lstStyle/>
                    <a:p>
                      <a:pPr algn="ctr"/>
                      <a:r>
                        <a:rPr sz="1300" b="1">
                          <a:solidFill>
                            <a:srgbClr val="FFFFFF"/>
                          </a:solidFill>
                          <a:latin typeface="Calibri"/>
                        </a:rPr>
                        <a:t>Total (Bs)</a:t>
                      </a:r>
                    </a:p>
                  </a:txBody>
                  <a:tcPr>
                    <a:solidFill>
                      <a:srgbClr val="1565C0"/>
                    </a:solidFill>
                  </a:tcPr>
                </a:tc>
              </a:tr>
              <a:tr h="344658">
                <a:tc>
                  <a:txBody>
                    <a:bodyPr/>
                    <a:lstStyle/>
                    <a:p>
                      <a:pPr algn="ctr"/>
                      <a:r>
                        <a:rPr sz="1100">
                          <a:solidFill>
                            <a:srgbClr val="212121"/>
                          </a:solidFill>
                          <a:latin typeface="Calibri"/>
                        </a:rPr>
                        <a:t>1</a:t>
                      </a:r>
                    </a:p>
                  </a:txBody>
                  <a:tcPr>
                    <a:solidFill>
                      <a:srgbClr val="F5F5F5"/>
                    </a:solidFill>
                  </a:tcPr>
                </a:tc>
                <a:tc>
                  <a:txBody>
                    <a:bodyPr/>
                    <a:lstStyle/>
                    <a:p>
                      <a:pPr algn="ctr"/>
                      <a:r>
                        <a:rPr sz="1100">
                          <a:solidFill>
                            <a:srgbClr val="212121"/>
                          </a:solidFill>
                          <a:latin typeface="Calibri"/>
                        </a:rPr>
                        <a:t>6 unid.</a:t>
                      </a:r>
                    </a:p>
                  </a:txBody>
                  <a:tcPr>
                    <a:solidFill>
                      <a:srgbClr val="F5F5F5"/>
                    </a:solidFill>
                  </a:tcPr>
                </a:tc>
                <a:tc>
                  <a:txBody>
                    <a:bodyPr/>
                    <a:lstStyle/>
                    <a:p>
                      <a:pPr algn="l"/>
                      <a:r>
                        <a:rPr sz="1100">
                          <a:solidFill>
                            <a:srgbClr val="212121"/>
                          </a:solidFill>
                          <a:latin typeface="Calibri"/>
                        </a:rPr>
                        <a:t>Controladores K-Rain BL-KR (2 BL-KR2 + 3 BL-KR4 + 1 BL-KR6)</a:t>
                      </a:r>
                    </a:p>
                  </a:txBody>
                  <a:tcPr>
                    <a:solidFill>
                      <a:srgbClr val="F5F5F5"/>
                    </a:solidFill>
                  </a:tcPr>
                </a:tc>
                <a:tc>
                  <a:txBody>
                    <a:bodyPr/>
                    <a:lstStyle/>
                    <a:p>
                      <a:pPr algn="r"/>
                      <a:r>
                        <a:rPr sz="1100">
                          <a:solidFill>
                            <a:srgbClr val="212121"/>
                          </a:solidFill>
                          <a:latin typeface="Calibri"/>
                        </a:rPr>
                        <a:t>—</a:t>
                      </a:r>
                    </a:p>
                  </a:txBody>
                  <a:tcPr>
                    <a:solidFill>
                      <a:srgbClr val="F5F5F5"/>
                    </a:solidFill>
                  </a:tcPr>
                </a:tc>
                <a:tc>
                  <a:txBody>
                    <a:bodyPr/>
                    <a:lstStyle/>
                    <a:p>
                      <a:pPr algn="r"/>
                      <a:r>
                        <a:rPr sz="1100">
                          <a:solidFill>
                            <a:srgbClr val="212121"/>
                          </a:solidFill>
                          <a:latin typeface="Calibri"/>
                        </a:rPr>
                        <a:t>12.400</a:t>
                      </a:r>
                    </a:p>
                  </a:txBody>
                  <a:tcPr>
                    <a:solidFill>
                      <a:srgbClr val="F5F5F5"/>
                    </a:solidFill>
                  </a:tcPr>
                </a:tc>
              </a:tr>
              <a:tr h="344658">
                <a:tc>
                  <a:txBody>
                    <a:bodyPr/>
                    <a:lstStyle/>
                    <a:p>
                      <a:pPr algn="ctr"/>
                      <a:r>
                        <a:rPr sz="1100">
                          <a:solidFill>
                            <a:srgbClr val="212121"/>
                          </a:solidFill>
                          <a:latin typeface="Calibri"/>
                        </a:rPr>
                        <a:t>2</a:t>
                      </a:r>
                    </a:p>
                  </a:txBody>
                  <a:tcPr>
                    <a:solidFill>
                      <a:srgbClr val="FFFFFF"/>
                    </a:solidFill>
                  </a:tcPr>
                </a:tc>
                <a:tc>
                  <a:txBody>
                    <a:bodyPr/>
                    <a:lstStyle/>
                    <a:p>
                      <a:pPr algn="ctr"/>
                      <a:r>
                        <a:rPr sz="1100">
                          <a:solidFill>
                            <a:srgbClr val="212121"/>
                          </a:solidFill>
                          <a:latin typeface="Calibri"/>
                        </a:rPr>
                        <a:t>22 unid.</a:t>
                      </a:r>
                    </a:p>
                  </a:txBody>
                  <a:tcPr>
                    <a:solidFill>
                      <a:srgbClr val="FFFFFF"/>
                    </a:solidFill>
                  </a:tcPr>
                </a:tc>
                <a:tc>
                  <a:txBody>
                    <a:bodyPr/>
                    <a:lstStyle/>
                    <a:p>
                      <a:pPr algn="l"/>
                      <a:r>
                        <a:rPr sz="1100">
                          <a:solidFill>
                            <a:srgbClr val="212121"/>
                          </a:solidFill>
                          <a:latin typeface="Calibri"/>
                        </a:rPr>
                        <a:t>Electroválvulas K-Rain BSPT 9V DC latching</a:t>
                      </a:r>
                    </a:p>
                  </a:txBody>
                  <a:tcPr>
                    <a:solidFill>
                      <a:srgbClr val="FFFFFF"/>
                    </a:solidFill>
                  </a:tcPr>
                </a:tc>
                <a:tc>
                  <a:txBody>
                    <a:bodyPr/>
                    <a:lstStyle/>
                    <a:p>
                      <a:pPr algn="r"/>
                      <a:r>
                        <a:rPr sz="1100">
                          <a:solidFill>
                            <a:srgbClr val="212121"/>
                          </a:solidFill>
                          <a:latin typeface="Calibri"/>
                        </a:rPr>
                        <a:t>380</a:t>
                      </a:r>
                    </a:p>
                  </a:txBody>
                  <a:tcPr>
                    <a:solidFill>
                      <a:srgbClr val="FFFFFF"/>
                    </a:solidFill>
                  </a:tcPr>
                </a:tc>
                <a:tc>
                  <a:txBody>
                    <a:bodyPr/>
                    <a:lstStyle/>
                    <a:p>
                      <a:pPr algn="r"/>
                      <a:r>
                        <a:rPr sz="1100">
                          <a:solidFill>
                            <a:srgbClr val="212121"/>
                          </a:solidFill>
                          <a:latin typeface="Calibri"/>
                        </a:rPr>
                        <a:t>8.360</a:t>
                      </a:r>
                    </a:p>
                  </a:txBody>
                  <a:tcPr>
                    <a:solidFill>
                      <a:srgbClr val="FFFFFF"/>
                    </a:solidFill>
                  </a:tcPr>
                </a:tc>
              </a:tr>
              <a:tr h="344658">
                <a:tc>
                  <a:txBody>
                    <a:bodyPr/>
                    <a:lstStyle/>
                    <a:p>
                      <a:pPr algn="ctr"/>
                      <a:r>
                        <a:rPr sz="1100">
                          <a:solidFill>
                            <a:srgbClr val="212121"/>
                          </a:solidFill>
                          <a:latin typeface="Calibri"/>
                        </a:rPr>
                        <a:t>3</a:t>
                      </a:r>
                    </a:p>
                  </a:txBody>
                  <a:tcPr>
                    <a:solidFill>
                      <a:srgbClr val="F5F5F5"/>
                    </a:solidFill>
                  </a:tcPr>
                </a:tc>
                <a:tc>
                  <a:txBody>
                    <a:bodyPr/>
                    <a:lstStyle/>
                    <a:p>
                      <a:pPr algn="ctr"/>
                      <a:r>
                        <a:rPr sz="1100">
                          <a:solidFill>
                            <a:srgbClr val="212121"/>
                          </a:solidFill>
                          <a:latin typeface="Calibri"/>
                        </a:rPr>
                        <a:t>13 rollos</a:t>
                      </a:r>
                    </a:p>
                  </a:txBody>
                  <a:tcPr>
                    <a:solidFill>
                      <a:srgbClr val="F5F5F5"/>
                    </a:solidFill>
                  </a:tcPr>
                </a:tc>
                <a:tc>
                  <a:txBody>
                    <a:bodyPr/>
                    <a:lstStyle/>
                    <a:p>
                      <a:pPr algn="l"/>
                      <a:r>
                        <a:rPr sz="1100">
                          <a:solidFill>
                            <a:srgbClr val="212121"/>
                          </a:solidFill>
                          <a:latin typeface="Calibri"/>
                        </a:rPr>
                        <a:t>Cable 20 AWG monofilar + politubo 3/4"</a:t>
                      </a:r>
                    </a:p>
                  </a:txBody>
                  <a:tcPr>
                    <a:solidFill>
                      <a:srgbClr val="F5F5F5"/>
                    </a:solidFill>
                  </a:tcPr>
                </a:tc>
                <a:tc>
                  <a:txBody>
                    <a:bodyPr/>
                    <a:lstStyle/>
                    <a:p>
                      <a:pPr algn="r"/>
                      <a:r>
                        <a:rPr sz="1100">
                          <a:solidFill>
                            <a:srgbClr val="212121"/>
                          </a:solidFill>
                          <a:latin typeface="Calibri"/>
                        </a:rPr>
                        <a:t>—</a:t>
                      </a:r>
                    </a:p>
                  </a:txBody>
                  <a:tcPr>
                    <a:solidFill>
                      <a:srgbClr val="F5F5F5"/>
                    </a:solidFill>
                  </a:tcPr>
                </a:tc>
                <a:tc>
                  <a:txBody>
                    <a:bodyPr/>
                    <a:lstStyle/>
                    <a:p>
                      <a:pPr algn="r"/>
                      <a:r>
                        <a:rPr sz="1100">
                          <a:solidFill>
                            <a:srgbClr val="212121"/>
                          </a:solidFill>
                          <a:latin typeface="Calibri"/>
                        </a:rPr>
                        <a:t>1.860</a:t>
                      </a:r>
                    </a:p>
                  </a:txBody>
                  <a:tcPr>
                    <a:solidFill>
                      <a:srgbClr val="F5F5F5"/>
                    </a:solidFill>
                  </a:tcPr>
                </a:tc>
              </a:tr>
              <a:tr h="344658">
                <a:tc>
                  <a:txBody>
                    <a:bodyPr/>
                    <a:lstStyle/>
                    <a:p>
                      <a:pPr algn="ctr"/>
                      <a:r>
                        <a:rPr sz="1100">
                          <a:solidFill>
                            <a:srgbClr val="212121"/>
                          </a:solidFill>
                          <a:latin typeface="Calibri"/>
                        </a:rPr>
                        <a:t>4</a:t>
                      </a:r>
                    </a:p>
                  </a:txBody>
                  <a:tcPr>
                    <a:solidFill>
                      <a:srgbClr val="FFFFFF"/>
                    </a:solidFill>
                  </a:tcPr>
                </a:tc>
                <a:tc>
                  <a:txBody>
                    <a:bodyPr/>
                    <a:lstStyle/>
                    <a:p>
                      <a:pPr algn="ctr"/>
                      <a:r>
                        <a:rPr sz="1100">
                          <a:solidFill>
                            <a:srgbClr val="212121"/>
                          </a:solidFill>
                          <a:latin typeface="Calibri"/>
                        </a:rPr>
                        <a:t>120 m</a:t>
                      </a:r>
                    </a:p>
                  </a:txBody>
                  <a:tcPr>
                    <a:solidFill>
                      <a:srgbClr val="FFFFFF"/>
                    </a:solidFill>
                  </a:tcPr>
                </a:tc>
                <a:tc>
                  <a:txBody>
                    <a:bodyPr/>
                    <a:lstStyle/>
                    <a:p>
                      <a:pPr algn="l"/>
                      <a:r>
                        <a:rPr sz="1100">
                          <a:solidFill>
                            <a:srgbClr val="212121"/>
                          </a:solidFill>
                          <a:latin typeface="Calibri"/>
                        </a:rPr>
                        <a:t>Tubería PVC matriz 2" (incluye accesorios)</a:t>
                      </a:r>
                    </a:p>
                  </a:txBody>
                  <a:tcPr>
                    <a:solidFill>
                      <a:srgbClr val="FFFFFF"/>
                    </a:solidFill>
                  </a:tcPr>
                </a:tc>
                <a:tc>
                  <a:txBody>
                    <a:bodyPr/>
                    <a:lstStyle/>
                    <a:p>
                      <a:pPr algn="r"/>
                      <a:r>
                        <a:rPr sz="1100">
                          <a:solidFill>
                            <a:srgbClr val="212121"/>
                          </a:solidFill>
                          <a:latin typeface="Calibri"/>
                        </a:rPr>
                        <a:t>35</a:t>
                      </a:r>
                    </a:p>
                  </a:txBody>
                  <a:tcPr>
                    <a:solidFill>
                      <a:srgbClr val="FFFFFF"/>
                    </a:solidFill>
                  </a:tcPr>
                </a:tc>
                <a:tc>
                  <a:txBody>
                    <a:bodyPr/>
                    <a:lstStyle/>
                    <a:p>
                      <a:pPr algn="r"/>
                      <a:r>
                        <a:rPr sz="1100">
                          <a:solidFill>
                            <a:srgbClr val="212121"/>
                          </a:solidFill>
                          <a:latin typeface="Calibri"/>
                        </a:rPr>
                        <a:t>4.200</a:t>
                      </a:r>
                    </a:p>
                  </a:txBody>
                  <a:tcPr>
                    <a:solidFill>
                      <a:srgbClr val="FFFFFF"/>
                    </a:solidFill>
                  </a:tcPr>
                </a:tc>
              </a:tr>
              <a:tr h="344658">
                <a:tc>
                  <a:txBody>
                    <a:bodyPr/>
                    <a:lstStyle/>
                    <a:p>
                      <a:pPr algn="ctr"/>
                      <a:r>
                        <a:rPr sz="1100">
                          <a:solidFill>
                            <a:srgbClr val="212121"/>
                          </a:solidFill>
                          <a:latin typeface="Calibri"/>
                        </a:rPr>
                        <a:t>5</a:t>
                      </a:r>
                    </a:p>
                  </a:txBody>
                  <a:tcPr>
                    <a:solidFill>
                      <a:srgbClr val="F5F5F5"/>
                    </a:solidFill>
                  </a:tcPr>
                </a:tc>
                <a:tc>
                  <a:txBody>
                    <a:bodyPr/>
                    <a:lstStyle/>
                    <a:p>
                      <a:pPr algn="ctr"/>
                      <a:r>
                        <a:rPr sz="1100">
                          <a:solidFill>
                            <a:srgbClr val="212121"/>
                          </a:solidFill>
                          <a:latin typeface="Calibri"/>
                        </a:rPr>
                        <a:t>450 m</a:t>
                      </a:r>
                    </a:p>
                  </a:txBody>
                  <a:tcPr>
                    <a:solidFill>
                      <a:srgbClr val="F5F5F5"/>
                    </a:solidFill>
                  </a:tcPr>
                </a:tc>
                <a:tc>
                  <a:txBody>
                    <a:bodyPr/>
                    <a:lstStyle/>
                    <a:p>
                      <a:pPr algn="l"/>
                      <a:r>
                        <a:rPr sz="1100">
                          <a:solidFill>
                            <a:srgbClr val="212121"/>
                          </a:solidFill>
                          <a:latin typeface="Calibri"/>
                        </a:rPr>
                        <a:t>Tubería PVC cuelleras 1 ½" (incluye accesorios)</a:t>
                      </a:r>
                    </a:p>
                  </a:txBody>
                  <a:tcPr>
                    <a:solidFill>
                      <a:srgbClr val="F5F5F5"/>
                    </a:solidFill>
                  </a:tcPr>
                </a:tc>
                <a:tc>
                  <a:txBody>
                    <a:bodyPr/>
                    <a:lstStyle/>
                    <a:p>
                      <a:pPr algn="r"/>
                      <a:r>
                        <a:rPr sz="1100">
                          <a:solidFill>
                            <a:srgbClr val="212121"/>
                          </a:solidFill>
                          <a:latin typeface="Calibri"/>
                        </a:rPr>
                        <a:t>22</a:t>
                      </a:r>
                    </a:p>
                  </a:txBody>
                  <a:tcPr>
                    <a:solidFill>
                      <a:srgbClr val="F5F5F5"/>
                    </a:solidFill>
                  </a:tcPr>
                </a:tc>
                <a:tc>
                  <a:txBody>
                    <a:bodyPr/>
                    <a:lstStyle/>
                    <a:p>
                      <a:pPr algn="r"/>
                      <a:r>
                        <a:rPr sz="1100">
                          <a:solidFill>
                            <a:srgbClr val="212121"/>
                          </a:solidFill>
                          <a:latin typeface="Calibri"/>
                        </a:rPr>
                        <a:t>9.900</a:t>
                      </a:r>
                    </a:p>
                  </a:txBody>
                  <a:tcPr>
                    <a:solidFill>
                      <a:srgbClr val="F5F5F5"/>
                    </a:solidFill>
                  </a:tcPr>
                </a:tc>
              </a:tr>
              <a:tr h="344658">
                <a:tc>
                  <a:txBody>
                    <a:bodyPr/>
                    <a:lstStyle/>
                    <a:p>
                      <a:pPr algn="ctr"/>
                      <a:r>
                        <a:rPr sz="1100">
                          <a:solidFill>
                            <a:srgbClr val="212121"/>
                          </a:solidFill>
                          <a:latin typeface="Calibri"/>
                        </a:rPr>
                        <a:t>6</a:t>
                      </a:r>
                    </a:p>
                  </a:txBody>
                  <a:tcPr>
                    <a:solidFill>
                      <a:srgbClr val="FFFFFF"/>
                    </a:solidFill>
                  </a:tcPr>
                </a:tc>
                <a:tc>
                  <a:txBody>
                    <a:bodyPr/>
                    <a:lstStyle/>
                    <a:p>
                      <a:pPr algn="ctr"/>
                      <a:r>
                        <a:rPr sz="1100">
                          <a:solidFill>
                            <a:srgbClr val="212121"/>
                          </a:solidFill>
                          <a:latin typeface="Calibri"/>
                        </a:rPr>
                        <a:t>22 unid.</a:t>
                      </a:r>
                    </a:p>
                  </a:txBody>
                  <a:tcPr>
                    <a:solidFill>
                      <a:srgbClr val="FFFFFF"/>
                    </a:solidFill>
                  </a:tcPr>
                </a:tc>
                <a:tc>
                  <a:txBody>
                    <a:bodyPr/>
                    <a:lstStyle/>
                    <a:p>
                      <a:pPr algn="l"/>
                      <a:r>
                        <a:rPr sz="1100">
                          <a:solidFill>
                            <a:srgbClr val="212121"/>
                          </a:solidFill>
                          <a:latin typeface="Calibri"/>
                        </a:rPr>
                        <a:t>Cajas de hormigón 40×40×30 cm + llaves de respaldo</a:t>
                      </a:r>
                    </a:p>
                  </a:txBody>
                  <a:tcPr>
                    <a:solidFill>
                      <a:srgbClr val="FFFFFF"/>
                    </a:solidFill>
                  </a:tcPr>
                </a:tc>
                <a:tc>
                  <a:txBody>
                    <a:bodyPr/>
                    <a:lstStyle/>
                    <a:p>
                      <a:pPr algn="r"/>
                      <a:r>
                        <a:rPr sz="1100">
                          <a:solidFill>
                            <a:srgbClr val="212121"/>
                          </a:solidFill>
                          <a:latin typeface="Calibri"/>
                        </a:rPr>
                        <a:t>—</a:t>
                      </a:r>
                    </a:p>
                  </a:txBody>
                  <a:tcPr>
                    <a:solidFill>
                      <a:srgbClr val="FFFFFF"/>
                    </a:solidFill>
                  </a:tcPr>
                </a:tc>
                <a:tc>
                  <a:txBody>
                    <a:bodyPr/>
                    <a:lstStyle/>
                    <a:p>
                      <a:pPr algn="r"/>
                      <a:r>
                        <a:rPr sz="1100">
                          <a:solidFill>
                            <a:srgbClr val="212121"/>
                          </a:solidFill>
                          <a:latin typeface="Calibri"/>
                        </a:rPr>
                        <a:t>4.510</a:t>
                      </a:r>
                    </a:p>
                  </a:txBody>
                  <a:tcPr>
                    <a:solidFill>
                      <a:srgbClr val="FFFFFF"/>
                    </a:solidFill>
                  </a:tcPr>
                </a:tc>
              </a:tr>
              <a:tr h="344658">
                <a:tc>
                  <a:txBody>
                    <a:bodyPr/>
                    <a:lstStyle/>
                    <a:p>
                      <a:pPr algn="ctr"/>
                      <a:r>
                        <a:rPr sz="1100">
                          <a:solidFill>
                            <a:srgbClr val="212121"/>
                          </a:solidFill>
                          <a:latin typeface="Calibri"/>
                        </a:rPr>
                        <a:t>7</a:t>
                      </a:r>
                    </a:p>
                  </a:txBody>
                  <a:tcPr>
                    <a:solidFill>
                      <a:srgbClr val="F5F5F5"/>
                    </a:solidFill>
                  </a:tcPr>
                </a:tc>
                <a:tc>
                  <a:txBody>
                    <a:bodyPr/>
                    <a:lstStyle/>
                    <a:p>
                      <a:pPr algn="ctr"/>
                      <a:r>
                        <a:rPr sz="1100">
                          <a:solidFill>
                            <a:srgbClr val="212121"/>
                          </a:solidFill>
                          <a:latin typeface="Calibri"/>
                        </a:rPr>
                        <a:t>22 unid.</a:t>
                      </a:r>
                    </a:p>
                  </a:txBody>
                  <a:tcPr>
                    <a:solidFill>
                      <a:srgbClr val="F5F5F5"/>
                    </a:solidFill>
                  </a:tcPr>
                </a:tc>
                <a:tc>
                  <a:txBody>
                    <a:bodyPr/>
                    <a:lstStyle/>
                    <a:p>
                      <a:pPr algn="l"/>
                      <a:r>
                        <a:rPr sz="1100">
                          <a:solidFill>
                            <a:srgbClr val="212121"/>
                          </a:solidFill>
                          <a:latin typeface="Calibri"/>
                        </a:rPr>
                        <a:t>Baterías 9V (repuestos anuales)</a:t>
                      </a:r>
                    </a:p>
                  </a:txBody>
                  <a:tcPr>
                    <a:solidFill>
                      <a:srgbClr val="F5F5F5"/>
                    </a:solidFill>
                  </a:tcPr>
                </a:tc>
                <a:tc>
                  <a:txBody>
                    <a:bodyPr/>
                    <a:lstStyle/>
                    <a:p>
                      <a:pPr algn="r"/>
                      <a:r>
                        <a:rPr sz="1100">
                          <a:solidFill>
                            <a:srgbClr val="212121"/>
                          </a:solidFill>
                          <a:latin typeface="Calibri"/>
                        </a:rPr>
                        <a:t>25</a:t>
                      </a:r>
                    </a:p>
                  </a:txBody>
                  <a:tcPr>
                    <a:solidFill>
                      <a:srgbClr val="F5F5F5"/>
                    </a:solidFill>
                  </a:tcPr>
                </a:tc>
                <a:tc>
                  <a:txBody>
                    <a:bodyPr/>
                    <a:lstStyle/>
                    <a:p>
                      <a:pPr algn="r"/>
                      <a:r>
                        <a:rPr sz="1100">
                          <a:solidFill>
                            <a:srgbClr val="212121"/>
                          </a:solidFill>
                          <a:latin typeface="Calibri"/>
                        </a:rPr>
                        <a:t>550</a:t>
                      </a:r>
                    </a:p>
                  </a:txBody>
                  <a:tcPr>
                    <a:solidFill>
                      <a:srgbClr val="F5F5F5"/>
                    </a:solidFill>
                  </a:tcPr>
                </a:tc>
              </a:tr>
              <a:tr h="344658">
                <a:tc>
                  <a:txBody>
                    <a:bodyPr/>
                    <a:lstStyle/>
                    <a:p>
                      <a:pPr algn="ctr"/>
                      <a:r>
                        <a:rPr sz="1100">
                          <a:solidFill>
                            <a:srgbClr val="212121"/>
                          </a:solidFill>
                          <a:latin typeface="Calibri"/>
                        </a:rPr>
                        <a:t>8</a:t>
                      </a:r>
                    </a:p>
                  </a:txBody>
                  <a:tcPr>
                    <a:solidFill>
                      <a:srgbClr val="FFFFFF"/>
                    </a:solidFill>
                  </a:tcPr>
                </a:tc>
                <a:tc>
                  <a:txBody>
                    <a:bodyPr/>
                    <a:lstStyle/>
                    <a:p>
                      <a:pPr algn="ctr"/>
                      <a:r>
                        <a:rPr sz="1100">
                          <a:solidFill>
                            <a:srgbClr val="212121"/>
                          </a:solidFill>
                          <a:latin typeface="Calibri"/>
                        </a:rPr>
                        <a:t>Free</a:t>
                      </a:r>
                    </a:p>
                  </a:txBody>
                  <a:tcPr>
                    <a:solidFill>
                      <a:srgbClr val="FFFFFF"/>
                    </a:solidFill>
                  </a:tcPr>
                </a:tc>
                <a:tc>
                  <a:txBody>
                    <a:bodyPr/>
                    <a:lstStyle/>
                    <a:p>
                      <a:pPr algn="l"/>
                      <a:r>
                        <a:rPr sz="1100">
                          <a:solidFill>
                            <a:srgbClr val="212121"/>
                          </a:solidFill>
                          <a:latin typeface="Calibri"/>
                        </a:rPr>
                        <a:t>Supabase + Lovable (plan gratuito)</a:t>
                      </a:r>
                    </a:p>
                  </a:txBody>
                  <a:tcPr>
                    <a:solidFill>
                      <a:srgbClr val="FFFFFF"/>
                    </a:solidFill>
                  </a:tcPr>
                </a:tc>
                <a:tc>
                  <a:txBody>
                    <a:bodyPr/>
                    <a:lstStyle/>
                    <a:p>
                      <a:pPr algn="r"/>
                      <a:r>
                        <a:rPr sz="1100">
                          <a:solidFill>
                            <a:srgbClr val="212121"/>
                          </a:solidFill>
                          <a:latin typeface="Calibri"/>
                        </a:rPr>
                        <a:t>0</a:t>
                      </a:r>
                    </a:p>
                  </a:txBody>
                  <a:tcPr>
                    <a:solidFill>
                      <a:srgbClr val="FFFFFF"/>
                    </a:solidFill>
                  </a:tcPr>
                </a:tc>
                <a:tc>
                  <a:txBody>
                    <a:bodyPr/>
                    <a:lstStyle/>
                    <a:p>
                      <a:pPr algn="r"/>
                      <a:r>
                        <a:rPr sz="1100">
                          <a:solidFill>
                            <a:srgbClr val="212121"/>
                          </a:solidFill>
                          <a:latin typeface="Calibri"/>
                        </a:rPr>
                        <a:t>0</a:t>
                      </a:r>
                    </a:p>
                  </a:txBody>
                  <a:tcPr>
                    <a:solidFill>
                      <a:srgbClr val="FFFFFF"/>
                    </a:solidFill>
                  </a:tcPr>
                </a:tc>
              </a:tr>
              <a:tr h="344658">
                <a:tc>
                  <a:txBody>
                    <a:bodyPr/>
                    <a:lstStyle/>
                    <a:p>
                      <a:pPr algn="ctr"/>
                      <a:r>
                        <a:rPr sz="1100">
                          <a:solidFill>
                            <a:srgbClr val="212121"/>
                          </a:solidFill>
                          <a:latin typeface="Calibri"/>
                        </a:rPr>
                        <a:t>9</a:t>
                      </a:r>
                    </a:p>
                  </a:txBody>
                  <a:tcPr>
                    <a:solidFill>
                      <a:srgbClr val="F5F5F5"/>
                    </a:solidFill>
                  </a:tcPr>
                </a:tc>
                <a:tc>
                  <a:txBody>
                    <a:bodyPr/>
                    <a:lstStyle/>
                    <a:p>
                      <a:pPr algn="ctr"/>
                      <a:r>
                        <a:rPr sz="1100">
                          <a:solidFill>
                            <a:srgbClr val="212121"/>
                          </a:solidFill>
                          <a:latin typeface="Calibri"/>
                        </a:rPr>
                        <a:t>60 hrs</a:t>
                      </a:r>
                    </a:p>
                  </a:txBody>
                  <a:tcPr>
                    <a:solidFill>
                      <a:srgbClr val="F5F5F5"/>
                    </a:solidFill>
                  </a:tcPr>
                </a:tc>
                <a:tc>
                  <a:txBody>
                    <a:bodyPr/>
                    <a:lstStyle/>
                    <a:p>
                      <a:pPr algn="l"/>
                      <a:r>
                        <a:rPr sz="1100">
                          <a:solidFill>
                            <a:srgbClr val="212121"/>
                          </a:solidFill>
                          <a:latin typeface="Calibri"/>
                        </a:rPr>
                        <a:t>Desarrollo de plataforma web SARQUE</a:t>
                      </a:r>
                    </a:p>
                  </a:txBody>
                  <a:tcPr>
                    <a:solidFill>
                      <a:srgbClr val="F5F5F5"/>
                    </a:solidFill>
                  </a:tcPr>
                </a:tc>
                <a:tc>
                  <a:txBody>
                    <a:bodyPr/>
                    <a:lstStyle/>
                    <a:p>
                      <a:pPr algn="r"/>
                      <a:r>
                        <a:rPr sz="1100">
                          <a:solidFill>
                            <a:srgbClr val="212121"/>
                          </a:solidFill>
                          <a:latin typeface="Calibri"/>
                        </a:rPr>
                        <a:t>35</a:t>
                      </a:r>
                    </a:p>
                  </a:txBody>
                  <a:tcPr>
                    <a:solidFill>
                      <a:srgbClr val="F5F5F5"/>
                    </a:solidFill>
                  </a:tcPr>
                </a:tc>
                <a:tc>
                  <a:txBody>
                    <a:bodyPr/>
                    <a:lstStyle/>
                    <a:p>
                      <a:pPr algn="r"/>
                      <a:r>
                        <a:rPr sz="1100">
                          <a:solidFill>
                            <a:srgbClr val="212121"/>
                          </a:solidFill>
                          <a:latin typeface="Calibri"/>
                        </a:rPr>
                        <a:t>2.100</a:t>
                      </a:r>
                    </a:p>
                  </a:txBody>
                  <a:tcPr>
                    <a:solidFill>
                      <a:srgbClr val="F5F5F5"/>
                    </a:solidFill>
                  </a:tcPr>
                </a:tc>
              </a:tr>
              <a:tr h="344658">
                <a:tc>
                  <a:txBody>
                    <a:bodyPr/>
                    <a:lstStyle/>
                    <a:p>
                      <a:pPr algn="ctr"/>
                      <a:r>
                        <a:rPr sz="1100">
                          <a:solidFill>
                            <a:srgbClr val="212121"/>
                          </a:solidFill>
                          <a:latin typeface="Calibri"/>
                        </a:rPr>
                        <a:t>10</a:t>
                      </a:r>
                    </a:p>
                  </a:txBody>
                  <a:tcPr>
                    <a:solidFill>
                      <a:srgbClr val="FFFFFF"/>
                    </a:solidFill>
                  </a:tcPr>
                </a:tc>
                <a:tc>
                  <a:txBody>
                    <a:bodyPr/>
                    <a:lstStyle/>
                    <a:p>
                      <a:pPr algn="ctr"/>
                      <a:r>
                        <a:rPr sz="1100">
                          <a:solidFill>
                            <a:srgbClr val="212121"/>
                          </a:solidFill>
                          <a:latin typeface="Calibri"/>
                        </a:rPr>
                        <a:t>120 hrs</a:t>
                      </a:r>
                    </a:p>
                  </a:txBody>
                  <a:tcPr>
                    <a:solidFill>
                      <a:srgbClr val="FFFFFF"/>
                    </a:solidFill>
                  </a:tcPr>
                </a:tc>
                <a:tc>
                  <a:txBody>
                    <a:bodyPr/>
                    <a:lstStyle/>
                    <a:p>
                      <a:pPr algn="l"/>
                      <a:r>
                        <a:rPr sz="1100">
                          <a:solidFill>
                            <a:srgbClr val="212121"/>
                          </a:solidFill>
                          <a:latin typeface="Calibri"/>
                        </a:rPr>
                        <a:t>Mano de obra: excavación e instalación</a:t>
                      </a:r>
                    </a:p>
                  </a:txBody>
                  <a:tcPr>
                    <a:solidFill>
                      <a:srgbClr val="FFFFFF"/>
                    </a:solidFill>
                  </a:tcPr>
                </a:tc>
                <a:tc>
                  <a:txBody>
                    <a:bodyPr/>
                    <a:lstStyle/>
                    <a:p>
                      <a:pPr algn="r"/>
                      <a:r>
                        <a:rPr sz="1100">
                          <a:solidFill>
                            <a:srgbClr val="212121"/>
                          </a:solidFill>
                          <a:latin typeface="Calibri"/>
                        </a:rPr>
                        <a:t>50</a:t>
                      </a:r>
                    </a:p>
                  </a:txBody>
                  <a:tcPr>
                    <a:solidFill>
                      <a:srgbClr val="FFFFFF"/>
                    </a:solidFill>
                  </a:tcPr>
                </a:tc>
                <a:tc>
                  <a:txBody>
                    <a:bodyPr/>
                    <a:lstStyle/>
                    <a:p>
                      <a:pPr algn="r"/>
                      <a:r>
                        <a:rPr sz="1100">
                          <a:solidFill>
                            <a:srgbClr val="212121"/>
                          </a:solidFill>
                          <a:latin typeface="Calibri"/>
                        </a:rPr>
                        <a:t>6.000</a:t>
                      </a:r>
                    </a:p>
                  </a:txBody>
                  <a:tcPr>
                    <a:solidFill>
                      <a:srgbClr val="FFFFFF"/>
                    </a:solidFill>
                  </a:tcPr>
                </a:tc>
              </a:tr>
              <a:tr h="344658">
                <a:tc>
                  <a:txBody>
                    <a:bodyPr/>
                    <a:lstStyle/>
                    <a:p>
                      <a:pPr algn="ctr"/>
                      <a:r>
                        <a:rPr sz="1100">
                          <a:solidFill>
                            <a:srgbClr val="212121"/>
                          </a:solidFill>
                          <a:latin typeface="Calibri"/>
                        </a:rPr>
                        <a:t>11</a:t>
                      </a:r>
                    </a:p>
                  </a:txBody>
                  <a:tcPr>
                    <a:solidFill>
                      <a:srgbClr val="F5F5F5"/>
                    </a:solidFill>
                  </a:tcPr>
                </a:tc>
                <a:tc>
                  <a:txBody>
                    <a:bodyPr/>
                    <a:lstStyle/>
                    <a:p>
                      <a:pPr algn="ctr"/>
                      <a:r>
                        <a:rPr sz="1100">
                          <a:solidFill>
                            <a:srgbClr val="212121"/>
                          </a:solidFill>
                          <a:latin typeface="Calibri"/>
                        </a:rPr>
                        <a:t>—</a:t>
                      </a:r>
                    </a:p>
                  </a:txBody>
                  <a:tcPr>
                    <a:solidFill>
                      <a:srgbClr val="F5F5F5"/>
                    </a:solidFill>
                  </a:tcPr>
                </a:tc>
                <a:tc>
                  <a:txBody>
                    <a:bodyPr/>
                    <a:lstStyle/>
                    <a:p>
                      <a:pPr algn="l"/>
                      <a:r>
                        <a:rPr sz="1100">
                          <a:solidFill>
                            <a:srgbClr val="212121"/>
                          </a:solidFill>
                          <a:latin typeface="Calibri"/>
                        </a:rPr>
                        <a:t>Documentación, impresiones y gastos varios</a:t>
                      </a:r>
                    </a:p>
                  </a:txBody>
                  <a:tcPr>
                    <a:solidFill>
                      <a:srgbClr val="F5F5F5"/>
                    </a:solidFill>
                  </a:tcPr>
                </a:tc>
                <a:tc>
                  <a:txBody>
                    <a:bodyPr/>
                    <a:lstStyle/>
                    <a:p>
                      <a:pPr algn="r"/>
                      <a:r>
                        <a:rPr sz="1100">
                          <a:solidFill>
                            <a:srgbClr val="212121"/>
                          </a:solidFill>
                          <a:latin typeface="Calibri"/>
                        </a:rPr>
                        <a:t>—</a:t>
                      </a:r>
                    </a:p>
                  </a:txBody>
                  <a:tcPr>
                    <a:solidFill>
                      <a:srgbClr val="F5F5F5"/>
                    </a:solidFill>
                  </a:tcPr>
                </a:tc>
                <a:tc>
                  <a:txBody>
                    <a:bodyPr/>
                    <a:lstStyle/>
                    <a:p>
                      <a:pPr algn="r"/>
                      <a:r>
                        <a:rPr sz="1100">
                          <a:solidFill>
                            <a:srgbClr val="212121"/>
                          </a:solidFill>
                          <a:latin typeface="Calibri"/>
                        </a:rPr>
                        <a:t>1.340</a:t>
                      </a:r>
                    </a:p>
                  </a:txBody>
                  <a:tcPr>
                    <a:solidFill>
                      <a:srgbClr val="F5F5F5"/>
                    </a:solidFill>
                  </a:tcPr>
                </a:tc>
              </a:tr>
              <a:tr h="344664">
                <a:tc>
                  <a:txBody>
                    <a:bodyPr/>
                    <a:lstStyle/>
                    <a:p>
                      <a:pPr algn="ctr"/>
                      <a:r>
                        <a:rPr sz="1300" b="1">
                          <a:solidFill>
                            <a:srgbClr val="FFFFFF"/>
                          </a:solidFill>
                          <a:latin typeface="Calibri"/>
                        </a:rPr>
                        <a:t/>
                      </a:r>
                    </a:p>
                  </a:txBody>
                  <a:tcPr>
                    <a:solidFill>
                      <a:srgbClr val="2E7D32"/>
                    </a:solidFill>
                  </a:tcPr>
                </a:tc>
                <a:tc>
                  <a:txBody>
                    <a:bodyPr/>
                    <a:lstStyle/>
                    <a:p>
                      <a:pPr algn="ctr"/>
                      <a:r>
                        <a:rPr sz="1300" b="1">
                          <a:solidFill>
                            <a:srgbClr val="FFFFFF"/>
                          </a:solidFill>
                          <a:latin typeface="Calibri"/>
                        </a:rPr>
                        <a:t/>
                      </a:r>
                    </a:p>
                  </a:txBody>
                  <a:tcPr>
                    <a:solidFill>
                      <a:srgbClr val="2E7D32"/>
                    </a:solidFill>
                  </a:tcPr>
                </a:tc>
                <a:tc>
                  <a:txBody>
                    <a:bodyPr/>
                    <a:lstStyle/>
                    <a:p>
                      <a:pPr algn="r"/>
                      <a:r>
                        <a:rPr sz="1300" b="1">
                          <a:solidFill>
                            <a:srgbClr val="FFFFFF"/>
                          </a:solidFill>
                          <a:latin typeface="Calibri"/>
                        </a:rPr>
                        <a:t>TOTAL GENERAL</a:t>
                      </a:r>
                    </a:p>
                  </a:txBody>
                  <a:tcPr>
                    <a:solidFill>
                      <a:srgbClr val="2E7D32"/>
                    </a:solidFill>
                  </a:tcPr>
                </a:tc>
                <a:tc>
                  <a:txBody>
                    <a:bodyPr/>
                    <a:lstStyle/>
                    <a:p>
                      <a:pPr algn="ctr"/>
                      <a:r>
                        <a:rPr sz="1300" b="1">
                          <a:solidFill>
                            <a:srgbClr val="FFFFFF"/>
                          </a:solidFill>
                          <a:latin typeface="Calibri"/>
                        </a:rPr>
                        <a:t>Bs.</a:t>
                      </a:r>
                    </a:p>
                  </a:txBody>
                  <a:tcPr>
                    <a:solidFill>
                      <a:srgbClr val="2E7D32"/>
                    </a:solidFill>
                  </a:tcPr>
                </a:tc>
                <a:tc>
                  <a:txBody>
                    <a:bodyPr/>
                    <a:lstStyle/>
                    <a:p>
                      <a:pPr algn="r"/>
                      <a:r>
                        <a:rPr sz="1300" b="1">
                          <a:solidFill>
                            <a:srgbClr val="FFFFFF"/>
                          </a:solidFill>
                          <a:latin typeface="Calibri"/>
                        </a:rPr>
                        <a:t>51.220</a:t>
                      </a:r>
                    </a:p>
                  </a:txBody>
                  <a:tcPr>
                    <a:solidFill>
                      <a:srgbClr val="2E7D32"/>
                    </a:solidFill>
                  </a:tcPr>
                </a:tc>
              </a:tr>
            </a:tbl>
          </a:graphicData>
        </a:graphic>
      </p:graphicFrame>
    </p:spTree>
    <p:extLst>
      <p:ext uri="{BB962C8B-B14F-4D97-AF65-F5344CB8AC3E}">
        <p14:creationId xmlns:p14="http://schemas.microsoft.com/office/powerpoint/2010/main" val="36408330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79617"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4"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CONCLUSIONES</a:t>
            </a:r>
          </a:p>
        </p:txBody>
      </p:sp>
      <p:sp>
        <p:nvSpPr>
          <p:cNvPr id="7" name="CuadroTexto 6"/>
          <p:cNvSpPr txBox="1"/>
          <p:nvPr/>
        </p:nvSpPr>
        <p:spPr>
          <a:xfrm>
            <a:off x="548640" y="1920240"/>
            <a:ext cx="11064240" cy="1097280"/>
          </a:xfrm>
          <a:prstGeom prst="rect">
            <a:avLst/>
          </a:prstGeom>
          <a:noFill/>
        </p:spPr>
        <p:txBody>
          <a:bodyPr wrap="square" rtlCol="0">
            <a:spAutoFit/>
          </a:bodyPr>
          <a:lstStyle/>
          <a:p>
            <a:pPr algn="just">
              <a:lnSpc>
                <a:spcPct val="150000"/>
              </a:lnSpc>
            </a:pPr>
            <a:r>
              <a:rPr lang="es-ES" sz="1300" dirty="0">
                <a:latin typeface="Arial" panose="020B0604020202020204" pitchFamily="34" charset="0"/>
                <a:cs typeface="Arial" panose="020B0604020202020204" pitchFamily="34" charset="0"/>
              </a:rPr>
              <a:t>Con el proyecto SARQUE se logró diseñar e implementar un sistema automatizado de riego para el Parque Ecoturístico Quinta Estación, eliminando el control manual de 41 llaves de paso y reemplazándolo por 22 electroválvulas controladas por 6 controladores K-Rain BL-KR.</a:t>
            </a:r>
            <a:endParaRPr lang="es-BO" sz="2000" dirty="0">
              <a:latin typeface="Arial" panose="020B0604020202020204" pitchFamily="34" charset="0"/>
              <a:cs typeface="Arial" panose="020B0604020202020204" pitchFamily="34" charset="0"/>
            </a:endParaRPr>
          </a:p>
        </p:txBody>
      </p:sp>
      <p:sp>
        <p:nvSpPr>
          <p:cNvPr id="8" name="CuadroTexto 7"/>
          <p:cNvSpPr txBox="1"/>
          <p:nvPr/>
        </p:nvSpPr>
        <p:spPr>
          <a:xfrm>
            <a:off x="548640" y="3108960"/>
            <a:ext cx="11064240" cy="3474720"/>
          </a:xfrm>
          <a:prstGeom prst="rect">
            <a:avLst/>
          </a:prstGeom>
          <a:noFill/>
        </p:spPr>
        <p:txBody>
          <a:bodyPr wrap="square" rtlCol="0">
            <a:spAutoFit/>
          </a:bodyPr>
          <a:lstStyle/>
          <a:p>
            <a:pPr algn="just"/>
            <a:r>
              <a:rPr lang="es-ES" sz="1200" b="1" dirty="0">
                <a:latin typeface="Arial" panose="020B0604020202020204" pitchFamily="34" charset="0"/>
                <a:cs typeface="Arial" panose="020B0604020202020204" pitchFamily="34" charset="0"/>
              </a:rPr>
              <a:t>Se obtienen las siguientes conclusiones:</a:t>
            </a:r>
            <a:endParaRPr lang="es-BO" sz="2000" b="1" dirty="0">
              <a:latin typeface="Arial" panose="020B0604020202020204" pitchFamily="34" charset="0"/>
              <a:cs typeface="Arial" panose="020B0604020202020204" pitchFamily="34" charset="0"/>
            </a:endParaRPr>
          </a:p>
          <a:p>
            <a:pPr marL="285750" lvl="0" indent="-285750" algn="just">
              <a:lnSpc>
                <a:spcPct val="150000"/>
              </a:lnSpc>
              <a:buFont typeface="Arial" panose="020B0604020202020204" pitchFamily="34" charset="0"/>
              <a:buChar char="•"/>
            </a:pPr>
            <a:r>
              <a:rPr lang="es-ES" sz="1200" dirty="0">
                <a:latin typeface="Arial" panose="020B0604020202020204" pitchFamily="34" charset="0"/>
                <a:cs typeface="Arial" panose="020B0604020202020204" pitchFamily="34" charset="0"/>
              </a:rPr>
              <a:t>Una plataforma web intuitiva (React + TypeScript + Supabase) para gestión digital del cronograma semanal y visualización en tiempo real del sector activo.</a:t>
            </a:r>
            <a:endParaRPr lang="es-BO" sz="2000" dirty="0">
              <a:latin typeface="Arial" panose="020B0604020202020204" pitchFamily="34" charset="0"/>
              <a:cs typeface="Arial" panose="020B0604020202020204" pitchFamily="34" charset="0"/>
            </a:endParaRPr>
          </a:p>
          <a:p>
            <a:pPr marL="285750" lvl="0" indent="-285750" algn="just">
              <a:lnSpc>
                <a:spcPct val="150000"/>
              </a:lnSpc>
              <a:buFont typeface="Arial" panose="020B0604020202020204" pitchFamily="34" charset="0"/>
              <a:buChar char="•"/>
            </a:pPr>
            <a:r>
              <a:rPr lang="es-ES" sz="1200" dirty="0">
                <a:latin typeface="Arial" panose="020B0604020202020204" pitchFamily="34" charset="0"/>
                <a:cs typeface="Arial" panose="020B0604020202020204" pitchFamily="34" charset="0"/>
              </a:rPr>
              <a:t>Base de datos PostgreSQL en la nube (Supabase) con catálogo de 20 sectores precargados del Parque Quinta Estación y cronograma editable.</a:t>
            </a:r>
            <a:endParaRPr lang="es-BO" sz="2000" dirty="0">
              <a:latin typeface="Arial" panose="020B0604020202020204" pitchFamily="34" charset="0"/>
              <a:cs typeface="Arial" panose="020B0604020202020204" pitchFamily="34" charset="0"/>
            </a:endParaRPr>
          </a:p>
          <a:p>
            <a:pPr marL="285750" lvl="0" indent="-285750" algn="just">
              <a:lnSpc>
                <a:spcPct val="150000"/>
              </a:lnSpc>
              <a:buFont typeface="Arial" panose="020B0604020202020204" pitchFamily="34" charset="0"/>
              <a:buChar char="•"/>
            </a:pPr>
            <a:r>
              <a:rPr lang="es-ES" sz="1200" dirty="0">
                <a:latin typeface="Arial" panose="020B0604020202020204" pitchFamily="34" charset="0"/>
                <a:cs typeface="Arial" panose="020B0604020202020204" pitchFamily="34" charset="0"/>
              </a:rPr>
              <a:t>Se logró completar la instalación física: red de PVC (2" matriz, 1½" cuelleras), 22 electroválvulas K-Rain BSPT en cajas de hormigón 40×40×30 cm y cableado 20 AWG en politubo 3/4".</a:t>
            </a:r>
            <a:endParaRPr lang="es-BO" sz="2000" dirty="0">
              <a:latin typeface="Arial" panose="020B0604020202020204" pitchFamily="34" charset="0"/>
              <a:cs typeface="Arial" panose="020B0604020202020204" pitchFamily="34" charset="0"/>
            </a:endParaRPr>
          </a:p>
          <a:p>
            <a:pPr marL="285750" lvl="0" indent="-285750" algn="just">
              <a:lnSpc>
                <a:spcPct val="150000"/>
              </a:lnSpc>
              <a:buFont typeface="Arial" panose="020B0604020202020204" pitchFamily="34" charset="0"/>
              <a:buChar char="•"/>
            </a:pPr>
            <a:r>
              <a:rPr lang="es-ES" sz="1200" dirty="0">
                <a:latin typeface="Arial" panose="020B0604020202020204" pitchFamily="34" charset="0"/>
                <a:cs typeface="Arial" panose="020B0604020202020204" pitchFamily="34" charset="0"/>
              </a:rPr>
              <a:t>Programación de los 6 controladores BL-KR mediante la app oficial K-RainBL, </a:t>
            </a:r>
            <a:r>
              <a:rPr lang="es-ES" sz="1200" dirty="0" err="1">
                <a:latin typeface="Arial" panose="020B0604020202020204" pitchFamily="34" charset="0"/>
                <a:cs typeface="Arial" panose="020B0604020202020204" pitchFamily="34" charset="0"/>
              </a:rPr>
              <a:t>eliminando</a:t>
            </a:r>
            <a:r>
              <a:rPr lang="es-ES" sz="1200" dirty="0">
                <a:latin typeface="Arial" panose="020B0604020202020204" pitchFamily="34" charset="0"/>
                <a:cs typeface="Arial" panose="020B0604020202020204" pitchFamily="34" charset="0"/>
              </a:rPr>
              <a:t> los 30 minutos diarios de desplazamientos del personal y los riesgos por olvido de apertura/cierre de llaves manuales.</a:t>
            </a:r>
            <a:endParaRPr lang="es-BO" sz="2000" dirty="0">
              <a:latin typeface="Arial" panose="020B0604020202020204" pitchFamily="34" charset="0"/>
              <a:cs typeface="Arial" panose="020B0604020202020204" pitchFamily="34" charset="0"/>
            </a:endParaRPr>
          </a:p>
          <a:p>
            <a:pPr algn="just"/>
            <a:endParaRPr lang="es-BO" dirty="0">
              <a:latin typeface="Arial" panose="020B0604020202020204" pitchFamily="34" charset="0"/>
              <a:cs typeface="Arial" panose="020B0604020202020204" pitchFamily="34" charset="0"/>
            </a:endParaRPr>
          </a:p>
        </p:txBody>
      </p:sp>
      <p:pic>
        <p:nvPicPr>
          <p:cNvPr id="6" name="Imagen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10" name="Imagen 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Tree>
    <p:extLst>
      <p:ext uri="{BB962C8B-B14F-4D97-AF65-F5344CB8AC3E}">
        <p14:creationId xmlns:p14="http://schemas.microsoft.com/office/powerpoint/2010/main" val="11991841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1"/>
          <p:cNvSpPr/>
          <p:nvPr/>
        </p:nvSpPr>
        <p:spPr>
          <a:xfrm>
            <a:off x="0" y="0"/>
            <a:ext cx="10766738"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3" name="Título 1">
            <a:extLst>
              <a:ext uri="{FF2B5EF4-FFF2-40B4-BE49-F238E27FC236}">
                <a16:creationId xmlns:a16="http://schemas.microsoft.com/office/drawing/2014/main" id="{6D3B085D-D1AD-4597-80AF-57AD660C8506}"/>
              </a:ext>
            </a:extLst>
          </p:cNvPr>
          <p:cNvSpPr txBox="1">
            <a:spLocks/>
          </p:cNvSpPr>
          <p:nvPr/>
        </p:nvSpPr>
        <p:spPr>
          <a:xfrm>
            <a:off x="457200" y="1280160"/>
            <a:ext cx="11277600" cy="640080"/>
          </a:xfrm>
          <a:prstGeom prst="rect">
            <a:avLst/>
          </a:prstGeom>
        </p:spPr>
        <p:txBody>
          <a:bodyPr anchor="b"/>
          <a:lstStyle>
            <a:lvl1pPr algn="ctr" defTabSz="914400" rtl="0" eaLnBrk="1" latinLnBrk="0" hangingPunct="1">
              <a:lnSpc>
                <a:spcPct val="90000"/>
              </a:lnSpc>
              <a:spcBef>
                <a:spcPct val="0"/>
              </a:spcBef>
              <a:buNone/>
              <a:defRPr sz="6000" b="1" kern="1200">
                <a:solidFill>
                  <a:schemeClr val="bg1"/>
                </a:solidFill>
                <a:effectLst>
                  <a:outerShdw blurRad="38100" dist="38100" dir="2700000" algn="tl">
                    <a:srgbClr val="000000">
                      <a:alpha val="43137"/>
                    </a:srgbClr>
                  </a:outerShdw>
                </a:effectLst>
                <a:latin typeface="+mn-lt"/>
                <a:ea typeface="+mj-ea"/>
                <a:cs typeface="+mj-cs"/>
              </a:defRPr>
            </a:lvl1pPr>
          </a:lstStyle>
          <a:p>
            <a:pPr algn="ctr"/>
            <a:r>
              <a:rPr lang="es-BO" sz="3600" u="sng" dirty="0">
                <a:solidFill>
                  <a:srgbClr val="002060"/>
                </a:solidFill>
                <a:effectLst/>
              </a:rPr>
              <a:t>RECOMENDACIONES</a:t>
            </a:r>
          </a:p>
        </p:txBody>
      </p:sp>
      <p:sp>
        <p:nvSpPr>
          <p:cNvPr id="4" name="CuadroTexto 3"/>
          <p:cNvSpPr txBox="1"/>
          <p:nvPr/>
        </p:nvSpPr>
        <p:spPr>
          <a:xfrm>
            <a:off x="548640" y="3383280"/>
            <a:ext cx="11064240" cy="3200400"/>
          </a:xfrm>
          <a:prstGeom prst="rect">
            <a:avLst/>
          </a:prstGeom>
          <a:noFill/>
        </p:spPr>
        <p:txBody>
          <a:bodyPr wrap="square" rtlCol="0">
            <a:spAutoFit/>
          </a:bodyPr>
          <a:lstStyle/>
          <a:p>
            <a:pPr marL="285750" lvl="0" indent="-285750" algn="just">
              <a:lnSpc>
                <a:spcPct val="150000"/>
              </a:lnSpc>
              <a:buFont typeface="Arial" panose="020B0604020202020204" pitchFamily="34" charset="0"/>
              <a:buChar char="•"/>
            </a:pPr>
            <a:r>
              <a:rPr lang="es-ES" sz="2000" dirty="0">
                <a:latin typeface="Arial" panose="020B0604020202020204" pitchFamily="34" charset="0"/>
                <a:cs typeface="Arial" panose="020B0604020202020204" pitchFamily="34" charset="0"/>
              </a:rPr>
              <a:t>Instalar un sensor de lluvia normalmente cerrado en cada controlador BL-KR (terminal amarillo) para suspender automáticamente el riego ante precipitación detectada, sin necesidad de intervención manual del administrador.</a:t>
            </a:r>
          </a:p>
          <a:p>
            <a:pPr lvl="0" algn="just">
              <a:lnSpc>
                <a:spcPct val="150000"/>
              </a:lnSpc>
            </a:pPr>
            <a:endParaRPr lang="es-ES" sz="2000" dirty="0">
              <a:latin typeface="Arial" panose="020B0604020202020204" pitchFamily="34" charset="0"/>
              <a:cs typeface="Arial" panose="020B0604020202020204" pitchFamily="34" charset="0"/>
            </a:endParaRPr>
          </a:p>
          <a:p>
            <a:pPr marL="285750" lvl="0" indent="-285750" algn="just">
              <a:lnSpc>
                <a:spcPct val="150000"/>
              </a:lnSpc>
              <a:buFont typeface="Arial" panose="020B0604020202020204" pitchFamily="34" charset="0"/>
              <a:buChar char="•"/>
            </a:pPr>
            <a:r>
              <a:rPr lang="es-ES" sz="2000" dirty="0">
                <a:latin typeface="Arial" panose="020B0604020202020204" pitchFamily="34" charset="0"/>
                <a:cs typeface="Arial" panose="020B0604020202020204" pitchFamily="34" charset="0"/>
              </a:rPr>
              <a:t>Establecer un calendario anual de reemplazo de baterías 9V de los 6 controladores y capacitar al menos a 2 jardineros en el uso básico de la app K-RainBL para tener respaldo operativo.</a:t>
            </a:r>
            <a:endParaRPr lang="es-BO" sz="2000" dirty="0">
              <a:latin typeface="Arial" panose="020B0604020202020204" pitchFamily="34" charset="0"/>
              <a:cs typeface="Arial" panose="020B0604020202020204" pitchFamily="34" charset="0"/>
            </a:endParaRPr>
          </a:p>
        </p:txBody>
      </p:sp>
      <p:sp>
        <p:nvSpPr>
          <p:cNvPr id="5" name="CuadroTexto 4"/>
          <p:cNvSpPr txBox="1"/>
          <p:nvPr/>
        </p:nvSpPr>
        <p:spPr>
          <a:xfrm>
            <a:off x="548640" y="2011680"/>
            <a:ext cx="11064240" cy="1280160"/>
          </a:xfrm>
          <a:prstGeom prst="rect">
            <a:avLst/>
          </a:prstGeom>
          <a:noFill/>
        </p:spPr>
        <p:txBody>
          <a:bodyPr wrap="square" rtlCol="0">
            <a:spAutoFit/>
          </a:bodyPr>
          <a:lstStyle/>
          <a:p>
            <a:pPr algn="just">
              <a:lnSpc>
                <a:spcPct val="150000"/>
              </a:lnSpc>
            </a:pPr>
            <a:r>
              <a:rPr lang="es-ES" sz="2000" dirty="0">
                <a:latin typeface="Arial" panose="020B0604020202020204" pitchFamily="34" charset="0"/>
                <a:cs typeface="Arial" panose="020B0604020202020204" pitchFamily="34" charset="0"/>
              </a:rPr>
              <a:t>Documentar fotográficamente la ubicación de cada caja de válvula en la plataforma SARQUE para facilitar la localización durante mantenimientos, especialmente cuando la vegetación oculte los puntos de control en época seca.</a:t>
            </a:r>
          </a:p>
          <a:p>
            <a:pPr algn="just"/>
            <a:endParaRPr lang="es-BO" sz="2400" dirty="0">
              <a:latin typeface="Arial" panose="020B0604020202020204" pitchFamily="34" charset="0"/>
              <a:cs typeface="Arial" panose="020B0604020202020204" pitchFamily="34" charset="0"/>
            </a:endParaRPr>
          </a:p>
        </p:txBody>
      </p:sp>
      <p:pic>
        <p:nvPicPr>
          <p:cNvPr id="6" name="Imagen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7" name="Imagen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979" y="0"/>
            <a:ext cx="1323384" cy="979064"/>
          </a:xfrm>
          <a:prstGeom prst="rect">
            <a:avLst/>
          </a:prstGeom>
        </p:spPr>
      </p:pic>
      <p:pic>
        <p:nvPicPr>
          <p:cNvPr id="8" name="Imagen 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Tree>
    <p:extLst>
      <p:ext uri="{BB962C8B-B14F-4D97-AF65-F5344CB8AC3E}">
        <p14:creationId xmlns:p14="http://schemas.microsoft.com/office/powerpoint/2010/main" val="1487072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3626272" y="1888268"/>
            <a:ext cx="3786310" cy="4006096"/>
          </a:xfrm>
          <a:prstGeom prst="rect">
            <a:avLst/>
          </a:prstGeom>
        </p:spPr>
      </p:pic>
      <p:sp>
        <p:nvSpPr>
          <p:cNvPr id="2" name="Rectángulo 1"/>
          <p:cNvSpPr/>
          <p:nvPr/>
        </p:nvSpPr>
        <p:spPr>
          <a:xfrm>
            <a:off x="0" y="0"/>
            <a:ext cx="10753859" cy="1200329"/>
          </a:xfrm>
          <a:prstGeom prst="rect">
            <a:avLst/>
          </a:prstGeom>
          <a:solidFill>
            <a:schemeClr val="accent6"/>
          </a:solidFill>
        </p:spPr>
        <p:txBody>
          <a:bodyPr wrap="square" lIns="91440" tIns="45720" rIns="91440" bIns="45720">
            <a:spAutoFit/>
          </a:bodyPr>
          <a:lstStyle/>
          <a:p>
            <a:pPr algn="ctr"/>
            <a:r>
              <a:rPr lang="es-ES" sz="4400" b="1" cap="none" spc="0" dirty="0">
                <a:ln w="0"/>
                <a:solidFill>
                  <a:schemeClr val="bg1"/>
                </a:solidFill>
                <a:effectLst>
                  <a:outerShdw blurRad="50800" dist="38100" dir="2700000" algn="tl" rotWithShape="0">
                    <a:prstClr val="black">
                      <a:alpha val="40000"/>
                    </a:prstClr>
                  </a:outerShdw>
                </a:effectLst>
              </a:rPr>
              <a:t>INSTITUTO TECNOLOGICO SACABA (ITSa)</a:t>
            </a:r>
          </a:p>
          <a:p>
            <a:pPr algn="ctr"/>
            <a:r>
              <a:rPr lang="es-ES" sz="2800" b="1" dirty="0">
                <a:ln w="0"/>
                <a:solidFill>
                  <a:schemeClr val="bg1"/>
                </a:solidFill>
                <a:effectLst>
                  <a:outerShdw blurRad="50800" dist="38100" dir="2700000" algn="tl" rotWithShape="0">
                    <a:prstClr val="black">
                      <a:alpha val="40000"/>
                    </a:prstClr>
                  </a:outerShdw>
                </a:effectLst>
              </a:rPr>
              <a:t>CARRERA: INFORMATICA INDUSTRIAL I/2026</a:t>
            </a:r>
            <a:endParaRPr lang="es-ES" sz="2400" b="1" cap="none" spc="0" dirty="0">
              <a:ln w="0"/>
              <a:solidFill>
                <a:schemeClr val="bg1"/>
              </a:solidFill>
              <a:effectLst>
                <a:outerShdw blurRad="50800" dist="38100" dir="2700000" algn="tl" rotWithShape="0">
                  <a:prstClr val="black">
                    <a:alpha val="40000"/>
                  </a:prstClr>
                </a:outerShdw>
              </a:effectLst>
            </a:endParaRPr>
          </a:p>
        </p:txBody>
      </p:sp>
      <p:sp>
        <p:nvSpPr>
          <p:cNvPr id="3" name="Rectángulo 2"/>
          <p:cNvSpPr/>
          <p:nvPr/>
        </p:nvSpPr>
        <p:spPr>
          <a:xfrm>
            <a:off x="457200" y="2967335"/>
            <a:ext cx="11277600" cy="2646878"/>
          </a:xfrm>
          <a:prstGeom prst="rect">
            <a:avLst/>
          </a:prstGeom>
          <a:noFill/>
          <a:scene3d>
            <a:camera prst="isometricOffAxis1Right"/>
            <a:lightRig rig="threePt" dir="t"/>
          </a:scene3d>
        </p:spPr>
        <p:txBody>
          <a:bodyPr wrap="none" lIns="91440" tIns="45720" rIns="91440" bIns="45720">
            <a:prstTxWarp prst="textCascadeUp">
              <a:avLst/>
            </a:prstTxWarp>
            <a:spAutoFit/>
          </a:bodyPr>
          <a:lstStyle/>
          <a:p>
            <a:pPr algn="ctr"/>
            <a:r>
              <a:rPr lang="es-ES" sz="16600" b="1" cap="none" spc="0" dirty="0">
                <a:ln w="0">
                  <a:solidFill>
                    <a:schemeClr val="tx2">
                      <a:lumMod val="50000"/>
                    </a:schemeClr>
                  </a:solidFill>
                </a:ln>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Engravers MT" panose="02090707080505020304" pitchFamily="18" charset="0"/>
              </a:rPr>
              <a:t>GRACIAS</a:t>
            </a:r>
          </a:p>
        </p:txBody>
      </p:sp>
      <p:pic>
        <p:nvPicPr>
          <p:cNvPr id="4" name="Imagen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0979" y="5553635"/>
            <a:ext cx="1334479" cy="1210235"/>
          </a:xfrm>
          <a:prstGeom prst="rect">
            <a:avLst/>
          </a:prstGeom>
        </p:spPr>
      </p:pic>
      <p:pic>
        <p:nvPicPr>
          <p:cNvPr id="6" name="Imagen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2583" y="-5379"/>
            <a:ext cx="1321802" cy="1200329"/>
          </a:xfrm>
          <a:prstGeom prst="rect">
            <a:avLst/>
          </a:prstGeom>
        </p:spPr>
      </p:pic>
    </p:spTree>
    <p:extLst>
      <p:ext uri="{BB962C8B-B14F-4D97-AF65-F5344CB8AC3E}">
        <p14:creationId xmlns:p14="http://schemas.microsoft.com/office/powerpoint/2010/main" val="150675360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817</TotalTime>
  <Words>1282</Words>
  <Application>Microsoft Office PowerPoint</Application>
  <PresentationFormat>Panorámica</PresentationFormat>
  <Paragraphs>188</Paragraphs>
  <Slides>22</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22</vt:i4>
      </vt:variant>
    </vt:vector>
  </HeadingPairs>
  <TitlesOfParts>
    <vt:vector size="28" baseType="lpstr">
      <vt:lpstr>Arial</vt:lpstr>
      <vt:lpstr>Calibri</vt:lpstr>
      <vt:lpstr>Calibri Light</vt:lpstr>
      <vt:lpstr>Engravers MT</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I3</dc:creator>
  <cp:lastModifiedBy>win</cp:lastModifiedBy>
  <cp:revision>55</cp:revision>
  <dcterms:created xsi:type="dcterms:W3CDTF">2021-06-17T17:05:04Z</dcterms:created>
  <dcterms:modified xsi:type="dcterms:W3CDTF">2026-05-27T12:40:01Z</dcterms:modified>
</cp:coreProperties>
</file>